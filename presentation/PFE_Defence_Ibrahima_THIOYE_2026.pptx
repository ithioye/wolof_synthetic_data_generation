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4"/>
  </p:sldMasterIdLst>
  <p:notesMasterIdLst>
    <p:notesMasterId r:id="rId41"/>
  </p:notesMasterIdLst>
  <p:sldIdLst>
    <p:sldId id="256" r:id="rId5"/>
    <p:sldId id="257" r:id="rId6"/>
    <p:sldId id="259" r:id="rId7"/>
    <p:sldId id="258" r:id="rId8"/>
    <p:sldId id="260" r:id="rId9"/>
    <p:sldId id="262" r:id="rId10"/>
    <p:sldId id="263" r:id="rId11"/>
    <p:sldId id="264" r:id="rId12"/>
    <p:sldId id="265" r:id="rId13"/>
    <p:sldId id="266" r:id="rId14"/>
    <p:sldId id="267" r:id="rId15"/>
    <p:sldId id="268" r:id="rId16"/>
    <p:sldId id="270" r:id="rId17"/>
    <p:sldId id="271" r:id="rId18"/>
    <p:sldId id="272" r:id="rId19"/>
    <p:sldId id="278" r:id="rId20"/>
    <p:sldId id="273" r:id="rId21"/>
    <p:sldId id="274" r:id="rId22"/>
    <p:sldId id="275" r:id="rId23"/>
    <p:sldId id="276" r:id="rId24"/>
    <p:sldId id="277"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976F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A3174F-C30A-DA82-4315-F2AEA1D7EC77}" v="6" dt="2025-02-04T14:46:16.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284" autoAdjust="0"/>
  </p:normalViewPr>
  <p:slideViewPr>
    <p:cSldViewPr snapToGrid="0">
      <p:cViewPr varScale="1">
        <p:scale>
          <a:sx n="105" d="100"/>
          <a:sy n="105" d="100"/>
        </p:scale>
        <p:origin x="802" y="72"/>
      </p:cViewPr>
      <p:guideLst>
        <p:guide orient="horz" pos="1620"/>
        <p:guide pos="2880"/>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00">
                <a:latin typeface="Arial" panose="020B0604020202020204" pitchFamily="34" charset="0"/>
              </a:rPr>
              <a:t>Timing: 0:30</a:t>
            </a:r>
          </a:p>
          <a:p>
            <a:pPr marL="0" lvl="0" indent="0" algn="l" rtl="0">
              <a:spcBef>
                <a:spcPts val="0"/>
              </a:spcBef>
              <a:spcAft>
                <a:spcPts val="0"/>
              </a:spcAft>
              <a:buNone/>
            </a:pPr>
            <a:endParaRPr lang="en-US" sz="1000">
              <a:latin typeface="Arial" panose="020B0604020202020204" pitchFamily="34" charset="0"/>
            </a:endParaRPr>
          </a:p>
          <a:p>
            <a:pPr marL="0" lvl="0" indent="0" algn="l" rtl="0">
              <a:spcBef>
                <a:spcPts val="0"/>
              </a:spcBef>
              <a:spcAft>
                <a:spcPts val="0"/>
              </a:spcAft>
              <a:buNone/>
            </a:pPr>
            <a:r>
              <a:rPr lang="en-US" sz="1000">
                <a:latin typeface="Arial" panose="020B0604020202020204" pitchFamily="34" charset="0"/>
              </a:rPr>
              <a:t>What was shortened:</a:t>
            </a:r>
          </a:p>
          <a:p>
            <a:pPr marL="0" lvl="0" indent="0" algn="l" rtl="0">
              <a:spcBef>
                <a:spcPts val="0"/>
              </a:spcBef>
              <a:spcAft>
                <a:spcPts val="0"/>
              </a:spcAft>
              <a:buNone/>
            </a:pPr>
            <a:r>
              <a:rPr lang="en-US" sz="1000">
                <a:latin typeface="Arial" panose="020B0604020202020204" pitchFamily="34" charset="0"/>
              </a:rPr>
              <a:t>The former opening and agenda were merged into this single title slide. Open with the problem in one sentence: most available Wolof resources are standardized, but users often write non-standard Wolof online. The project compares synthetic-data strategies rather than presenting the trained normalizer as the final product.</a:t>
            </a:r>
          </a:p>
          <a:p>
            <a:pPr marL="0" lvl="0" indent="0" algn="l" rtl="0">
              <a:spcBef>
                <a:spcPts val="0"/>
              </a:spcBef>
              <a:spcAft>
                <a:spcPts val="0"/>
              </a:spcAft>
              <a:buNone/>
            </a:pPr>
            <a:endParaRPr lang="en-US" sz="1000">
              <a:latin typeface="Arial" panose="020B0604020202020204" pitchFamily="34" charset="0"/>
            </a:endParaRPr>
          </a:p>
          <a:p>
            <a:pPr marL="0" lvl="0" indent="0" algn="l" rtl="0">
              <a:spcBef>
                <a:spcPts val="0"/>
              </a:spcBef>
              <a:spcAft>
                <a:spcPts val="0"/>
              </a:spcAft>
              <a:buNone/>
            </a:pPr>
            <a:r>
              <a:rPr lang="en-US" sz="1000">
                <a:latin typeface="Arial" panose="020B0604020202020204" pitchFamily="34" charset="0"/>
              </a:rPr>
              <a:t>Likely jury questions and suggested answers:</a:t>
            </a:r>
          </a:p>
          <a:p>
            <a:pPr marL="0" lvl="0" indent="0" algn="l" rtl="0">
              <a:spcBef>
                <a:spcPts val="0"/>
              </a:spcBef>
              <a:spcAft>
                <a:spcPts val="0"/>
              </a:spcAft>
              <a:buNone/>
            </a:pPr>
            <a:r>
              <a:rPr lang="en-US" sz="1000">
                <a:latin typeface="Arial" panose="020B0604020202020204" pitchFamily="34" charset="0"/>
              </a:rPr>
              <a:t>- Q: What is the final deliverable? A: A controlled benchmark and an auditable data-generation pipeline, with a pilot normalizer used to measure synthetic-data utility.</a:t>
            </a:r>
          </a:p>
          <a:p>
            <a:pPr marL="0" lvl="0" indent="0" algn="l" rtl="0">
              <a:spcBef>
                <a:spcPts val="0"/>
              </a:spcBef>
              <a:spcAft>
                <a:spcPts val="0"/>
              </a:spcAft>
              <a:buNone/>
            </a:pPr>
            <a:r>
              <a:rPr lang="en-US" sz="1000">
                <a:latin typeface="Arial" panose="020B0604020202020204" pitchFamily="34" charset="0"/>
              </a:rPr>
              <a:t>- Q: Is the goal a production spell-checker? A: No. The model is an evaluator; the main object of comparison is the generated training data.</a:t>
            </a:r>
            <a:endParaRPr sz="10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1:00
What to say:
Use the four placeholders for screenshots produced from the exact displayed inputs. The left example is an authentic informal Gold-train pair. The right example is an authentic frozen-test code-switched pair containing the French span "forcer trop vraiment". Compare each system's response to the corresponding gold normalization, but present this as motivation rather than a controlled translation benchmark.
Likely jury questions:
- Why use screenshots? They demonstrate the practical domain-gap observation, while the reproducible experiment evaluates normalization.
- Are these invented examples? No. Both inputs and normalizations come from the saved gold data.</a:t>
            </a:r>
            <a:endParaRPr lang="fr-FR" sz="1000">
              <a:latin typeface="Arial" panose="020B0604020202020204" pitchFamily="34" charset="0"/>
            </a:endParaRPr>
          </a:p>
        </p:txBody>
      </p:sp>
    </p:spTree>
    <p:extLst>
      <p:ext uri="{BB962C8B-B14F-4D97-AF65-F5344CB8AC3E}">
        <p14:creationId xmlns:p14="http://schemas.microsoft.com/office/powerpoint/2010/main" val="2319555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0:55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literature survey was reduced to Beqi and Oolel because they are the two works directly instantiated in the final benchmark. Eflomal and CMDR are implementation tools for the project's M2/M3 extensions, not presented here as competing Wolof state-of-the-art systems. Beqi informs rule construction; Oolel contributes ready-made generated pairs.</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exclude other style-transfer papers from this slide? A: They informed early exploration but were not used in the final experiment.</a:t>
            </a:r>
          </a:p>
          <a:p>
            <a:r>
              <a:rPr lang="en-US" sz="1000">
                <a:latin typeface="Arial" panose="020B0604020202020204" pitchFamily="34" charset="0"/>
              </a:rPr>
              <a:t>- Q: Is Oolel directly comparable to M1? A: Its data utility is comparable under the shared evaluator, but its generation process is less reproducible because the original prompt and decoding settings are unavailable.</a:t>
            </a:r>
            <a:endParaRPr lang="fr-FR" sz="1000">
              <a:latin typeface="Arial" panose="020B0604020202020204" pitchFamily="34" charset="0"/>
            </a:endParaRPr>
          </a:p>
        </p:txBody>
      </p:sp>
    </p:spTree>
    <p:extLst>
      <p:ext uri="{BB962C8B-B14F-4D97-AF65-F5344CB8AC3E}">
        <p14:creationId xmlns:p14="http://schemas.microsoft.com/office/powerpoint/2010/main" val="1987450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separate positioning and research-question slides were merged. Emphasize the distinction between plausibility and utility: a generated sentence can look informal without teaching the evaluator the transformations found in authentic comments. The controlled variable is the generation method; architecture, synthetic sample size and evaluation split stay fixed.</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evaluate with normalization instead of retrieval? A: Normalization provides paired reference outputs and isolates whether synthetic pairs teach recoverable mappings; retrieval remains the downstream perspective.</a:t>
            </a:r>
          </a:p>
          <a:p>
            <a:r>
              <a:rPr lang="en-US" sz="1000">
                <a:latin typeface="Arial" panose="020B0604020202020204" pitchFamily="34" charset="0"/>
              </a:rPr>
              <a:t>- Q: What is novel? A: The controlled Wolof benchmark, authentic linguistic analysis, matched comparison and gold-informed M6 engine - not a new Transformer architecture.</a:t>
            </a:r>
            <a:endParaRPr lang="fr-FR" sz="1000">
              <a:latin typeface="Arial" panose="020B0604020202020204" pitchFamily="34" charset="0"/>
            </a:endParaRPr>
          </a:p>
        </p:txBody>
      </p:sp>
    </p:spTree>
    <p:extLst>
      <p:ext uri="{BB962C8B-B14F-4D97-AF65-F5344CB8AC3E}">
        <p14:creationId xmlns:p14="http://schemas.microsoft.com/office/powerpoint/2010/main" val="3032026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1:20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This replaces the earlier pipeline and several protocol slides. Read it left to right. First, each generator corrupts a formal target to create an informal input. Second, the shared normalizer learns the inverse task: informal input to formal target. Every synthetic condition uses the same 3,330 formal targets. After 20 synthetic epochs, the model is fine-tuned for 20 epochs on the same 142 authentic gold-train pairs. Development selects the checkpoint; frozen test is used once. The dashed arrow marks M6's special status: it learns generation statistics only from gold train.</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Are the generation and normalization directions contradictory? A: No. Generation produces supervised pairs; training consumes the pair in the reverse direction.</a:t>
            </a:r>
          </a:p>
          <a:p>
            <a:r>
              <a:rPr lang="en-US" sz="1000">
                <a:latin typeface="Arial" panose="020B0604020202020204" pitchFamily="34" charset="0"/>
              </a:rPr>
              <a:t>- Q: Is M6 leakage? A: It uses only gold train, never dev/test. It is a supervised data-augmentation condition and is interpreted separately; gold-only controls what the same 142 pairs achieve without synthetic pretraining.</a:t>
            </a:r>
          </a:p>
          <a:p>
            <a:r>
              <a:rPr lang="en-US" sz="1000">
                <a:latin typeface="Arial" panose="020B0604020202020204" pitchFamily="34" charset="0"/>
              </a:rPr>
              <a:t>- Q: Why 3,330 pairs? A: It is the common matched target set available to all retained generators, including Oolel.</a:t>
            </a:r>
            <a:endParaRPr lang="fr-FR" sz="1000">
              <a:latin typeface="Arial" panose="020B0604020202020204" pitchFamily="34" charset="0"/>
            </a:endParaRPr>
          </a:p>
        </p:txBody>
      </p:sp>
    </p:spTree>
    <p:extLst>
      <p:ext uri="{BB962C8B-B14F-4D97-AF65-F5344CB8AC3E}">
        <p14:creationId xmlns:p14="http://schemas.microsoft.com/office/powerpoint/2010/main" val="1884509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1:05
What to say:
The upper example is a complete row from gold_train.csv: the authentic comment "doff bu reww" is reconstructed as "dof bu reew". The lower example is the corresponding occurrence-level annotation for its first token from token_linguistic_annotations.csv. It records the mapping, lemma, POS, source and target language, entity status, protection policy, error label and review status. Only Gold train receives this enrichment; dev and test remain evaluation data.
Likely jury questions:
- Why occurrence-level enrichment? It lets M6 learn selective transformations and lets the analysis distinguish language, POS, entities and error types.
- Can one occurrence have several errors? Yes; the schema is multi-label even though this particular token is labelled repetition.</a:t>
            </a:r>
            <a:endParaRPr lang="fr-FR" sz="1000">
              <a:latin typeface="Arial" panose="020B0604020202020204" pitchFamily="34" charset="0"/>
            </a:endParaRPr>
          </a:p>
        </p:txBody>
      </p:sp>
    </p:spTree>
    <p:extLst>
      <p:ext uri="{BB962C8B-B14F-4D97-AF65-F5344CB8AC3E}">
        <p14:creationId xmlns:p14="http://schemas.microsoft.com/office/powerpoint/2010/main" val="592096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count-based transformation chart was replaced with operation percentages. Identity, equivalent to KEEP, represents 81.1% of non-padding gold-train source positions; substitutions account for 9.3%, deletions 6.4% and expansions 3.3%. Code-switching is frequent across sentences but sparse within them: 88 of 142 gold-training sentences contain at least one manually identified French occurrence, the mean French-occurrence share is 13.5%, and 197 of 215 French occurrences are preserved. Error labels remain multi-label, and most context must remain unchanged.</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What is POS? A: Part of speech - the grammatical category of a token, such as verb, noun, pronoun or proper noun.</a:t>
            </a:r>
          </a:p>
          <a:p>
            <a:r>
              <a:rPr lang="en-US" sz="1000">
                <a:latin typeface="Arial" panose="020B0604020202020204" pitchFamily="34" charset="0"/>
              </a:rPr>
              <a:t>- Q: Can one token have several error types? A: Yes. The annotation is multi-label because one informal form can combine deletion, phonetic spelling and spacing, for example.</a:t>
            </a:r>
          </a:p>
          <a:p>
            <a:r>
              <a:rPr lang="en-US" sz="1000">
                <a:latin typeface="Arial" panose="020B0604020202020204" pitchFamily="34" charset="0"/>
              </a:rPr>
              <a:t>- Q: Why protect French if it can also be misspelled? A: Protection avoids indiscriminate Wolof rules. Only 18 of 215 French occurrences were changed; French-specific errors require separate evidence.</a:t>
            </a:r>
          </a:p>
          <a:p>
            <a:r>
              <a:rPr lang="en-US" sz="1000">
                <a:latin typeface="Arial" panose="020B0604020202020204" pitchFamily="34" charset="0"/>
              </a:rPr>
              <a:t>- Q: How was the 13.5% calculated? A: For each gold sentence, divide manually labelled French occurrences by all annotated occurrences, then average the 142 sentence ratios.</a:t>
            </a:r>
            <a:endParaRPr lang="fr-FR" sz="1000">
              <a:latin typeface="Arial" panose="020B0604020202020204" pitchFamily="34" charset="0"/>
            </a:endParaRPr>
          </a:p>
        </p:txBody>
      </p:sp>
    </p:spTree>
    <p:extLst>
      <p:ext uri="{BB962C8B-B14F-4D97-AF65-F5344CB8AC3E}">
        <p14:creationId xmlns:p14="http://schemas.microsoft.com/office/powerpoint/2010/main" val="2084240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0:55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earlier model-list slide was redesigned as a dependency map. M1 is the orthographic base. M2 first injects aligned French, protects it, then applies M1. M3 first injects distributionally selected French spans, protects them, then applies M1. M4 is imported Oolel data. M6 is independently learned from gold train and never imports M1 rules. Identity and gold-only are controls, not generators.</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call M2 and M3 extensions of M1? A: Their final outputs include the same M1 orthographic pass after their own code-switching substitutions.</a:t>
            </a:r>
          </a:p>
          <a:p>
            <a:r>
              <a:rPr lang="en-US" sz="1000">
                <a:latin typeface="Arial" panose="020B0604020202020204" pitchFamily="34" charset="0"/>
              </a:rPr>
              <a:t>- Q: Why keep gold-only? A: It measures what the small authentic training set achieves without synthetic pretraining.</a:t>
            </a:r>
          </a:p>
          <a:p>
            <a:r>
              <a:rPr lang="en-US" sz="1000">
                <a:latin typeface="Arial" panose="020B0604020202020204" pitchFamily="34" charset="0"/>
              </a:rPr>
              <a:t>- Q: Why keep identity? A: It reveals whether a trained model improves over simply returning the input.</a:t>
            </a:r>
            <a:endParaRPr lang="fr-FR" sz="1000">
              <a:latin typeface="Arial" panose="020B0604020202020204" pitchFamily="34" charset="0"/>
            </a:endParaRPr>
          </a:p>
        </p:txBody>
      </p:sp>
    </p:spTree>
    <p:extLst>
      <p:ext uri="{BB962C8B-B14F-4D97-AF65-F5344CB8AC3E}">
        <p14:creationId xmlns:p14="http://schemas.microsoft.com/office/powerpoint/2010/main" val="4249731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1:15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Two mechanism slides and one example slide were combined. M1 lowercases and applies ordered character rules such as ñ→gn, ë→eu, u→ou, vowel shortening and context-dependent replacements. Temporary sentinels stop a newly produced sequence from being transformed twice. M2 learns word alignments from the 17,777 parallel French-Wolof pairs. At generation time it ranks candidate French replacements, inserts selected words, protects them, and then runs M1 on the remaining Wolof. The displayed sentences are recorded generator outputs.</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use deterministic rules? A: They are transparent, fast and encode known Wolof spelling variation, making M1 a strong auditable baseline.</a:t>
            </a:r>
          </a:p>
          <a:p>
            <a:r>
              <a:rPr lang="en-US" sz="1000">
                <a:latin typeface="Arial" panose="020B0604020202020204" pitchFamily="34" charset="0"/>
              </a:rPr>
              <a:t>- Q: Why can M2 fail despite correct alignment? A: Word alignment indicates translation correspondence across a sentence, not that a word can replace another grammatically in that exact local context.</a:t>
            </a:r>
          </a:p>
          <a:p>
            <a:r>
              <a:rPr lang="en-US" sz="1000">
                <a:latin typeface="Arial" panose="020B0604020202020204" pitchFamily="34" charset="0"/>
              </a:rPr>
              <a:t>- Q: How are entities handled? A: M1 masks detected entities before rules; M2 also protects inserted French from Wolof-specific transformations.</a:t>
            </a:r>
            <a:endParaRPr lang="fr-FR" sz="1000">
              <a:latin typeface="Arial" panose="020B0604020202020204" pitchFamily="34" charset="0"/>
            </a:endParaRPr>
          </a:p>
        </p:txBody>
      </p:sp>
    </p:spTree>
    <p:extLst>
      <p:ext uri="{BB962C8B-B14F-4D97-AF65-F5344CB8AC3E}">
        <p14:creationId xmlns:p14="http://schemas.microsoft.com/office/powerpoint/2010/main" val="3461888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1:20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previous CMDR mechanism, Oolel mechanism and example slide were merged. CMDR in this project works as follows: train one 150-dimensional Word2Vec space on French and Wolof n-grams from parallel pairs; enumerate Wolof unigrams/bigrams and same-length French n-grams from the paired French sentence; require cosine similarity ≥0.70 and alignment evidence ≥0.01; multiply similarity by alignment, relative-position and n-gram penalties; retain at most two non-overlapping substitutions; protect inserted French; finally apply M1. The name swap shows why distributional closeness is not enough. M4 uses published Oolel pairs directly, so its input is inspectable but the original prompt, seed and decoding configuration are unavailable.</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Is CMDR translating the sentence? A: No. It ranks local phrase substitutions drawn from that row's paired French sentence.</a:t>
            </a:r>
          </a:p>
          <a:p>
            <a:r>
              <a:rPr lang="en-US" sz="1000">
                <a:latin typeface="Arial" panose="020B0604020202020204" pitchFamily="34" charset="0"/>
              </a:rPr>
              <a:t>- Q: Why does M3 exchange names? A: Names share distributional contexts and positions; embedding proximity does not guarantee semantic identity or substitutability.</a:t>
            </a:r>
          </a:p>
          <a:p>
            <a:r>
              <a:rPr lang="en-US" sz="1000">
                <a:latin typeface="Arial" panose="020B0604020202020204" pitchFamily="34" charset="0"/>
              </a:rPr>
              <a:t>- Q: Does Oolel add new formal examples? A: No. Every unique Oolel formal target already occurs in the formal pool; it adds alternative informal realizations.</a:t>
            </a:r>
            <a:endParaRPr lang="fr-FR" sz="1000">
              <a:latin typeface="Arial" panose="020B0604020202020204" pitchFamily="34" charset="0"/>
            </a:endParaRPr>
          </a:p>
        </p:txBody>
      </p:sp>
    </p:spTree>
    <p:extLst>
      <p:ext uri="{BB962C8B-B14F-4D97-AF65-F5344CB8AC3E}">
        <p14:creationId xmlns:p14="http://schemas.microsoft.com/office/powerpoint/2010/main" val="1666443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1:25
What to say:
This is one complete exported M6 row, not a hand-written illustration. After filtering eligible Wolof spans, M6 selects the direct mapping "na nga" to "nanga", learned once with spacing-merge and phonetic labels. It then applies a reusable POS/context template to the verb "def": insert a final f, observed three times in Gold train, producing "deff". The seeded edit budget accepts both non-overlapping candidates, yielding "nanga deff". This shows the difference between memorized mappings and generalized contextual templates.
Likely jury questions:
- Is M6 trained on held-out annotations? No. Every mapping and template comes only from Gold train.
- Why allow a mapping observed once? It must be dominant for that formal span; the trace remains explicit, but low support is a limitation.
- Why is M6 still weak? Its accepted rules are precise but sparse, so the generated corpus contains too much KEEP supervision.</a:t>
            </a:r>
            <a:endParaRPr lang="fr-FR" sz="1000">
              <a:latin typeface="Arial" panose="020B0604020202020204" pitchFamily="34" charset="0"/>
            </a:endParaRPr>
          </a:p>
        </p:txBody>
      </p:sp>
    </p:spTree>
    <p:extLst>
      <p:ext uri="{BB962C8B-B14F-4D97-AF65-F5344CB8AC3E}">
        <p14:creationId xmlns:p14="http://schemas.microsoft.com/office/powerpoint/2010/main" val="1606961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detailed architecture slide was shortened to the decision that matters for the benchmark. The evaluator is inspired by TNT's edit-based normalization representation, adapted to Wolof characters and four operations. It is small enough to train across every condition and operates at character level, which fits spelling variation better than word-level vocabulary. The original TNT content-moderation stage is not used.</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not mT5 or mBART? A: Pilot runs were too slow for a fair multi-method benchmark on the available hardware, while the compact edit model could be trained identically across conditions.</a:t>
            </a:r>
          </a:p>
          <a:p>
            <a:r>
              <a:rPr lang="en-US" sz="1000">
                <a:latin typeface="Arial" panose="020B0604020202020204" pitchFamily="34" charset="0"/>
              </a:rPr>
              <a:t>- Q: Is character tokenization too limited for semantics? A: Yes; that is a limitation. It is appropriate for measuring orthographic transfer, not for claiming semantic understanding.</a:t>
            </a:r>
          </a:p>
          <a:p>
            <a:r>
              <a:rPr lang="en-US" sz="1000">
                <a:latin typeface="Arial" panose="020B0604020202020204" pitchFamily="34" charset="0"/>
              </a:rPr>
              <a:t>- Q: Why call synthetic training pretraining? A: It is a first supervised stage on synthetic pairs before authentic fine-tuning, not unsupervised language-model pretraining.</a:t>
            </a:r>
            <a:endParaRPr lang="fr-FR" sz="1000">
              <a:latin typeface="Arial" panose="020B0604020202020204" pitchFamily="34" charset="0"/>
            </a:endParaRPr>
          </a:p>
        </p:txBody>
      </p:sp>
    </p:spTree>
    <p:extLst>
      <p:ext uri="{BB962C8B-B14F-4D97-AF65-F5344CB8AC3E}">
        <p14:creationId xmlns:p14="http://schemas.microsoft.com/office/powerpoint/2010/main" val="2043913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0:55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Metric definitions and overcorrection motivation were merged. CER is the primary selection metric because the task is character normalization. WER prevents a small character improvement from being mistaken for a recovered word. chrF gives graded surface overlap. Exact correction F1 and overcorrection inspect edit decisions, but they are stricter and brittle when spacing shifts spans.</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not BLEU? A: BLEU is less informative for short, character-heavy normalization changes; CER, WER and chrF align better with the task granularity.</a:t>
            </a:r>
          </a:p>
          <a:p>
            <a:r>
              <a:rPr lang="en-US" sz="1000">
                <a:latin typeface="Arial" panose="020B0604020202020204" pitchFamily="34" charset="0"/>
              </a:rPr>
              <a:t>- Q: Why is overcorrection important? A: A useful normalizer must know when not to alter names, French spans and already-correct context.</a:t>
            </a:r>
          </a:p>
          <a:p>
            <a:r>
              <a:rPr lang="en-US" sz="1000">
                <a:latin typeface="Arial" panose="020B0604020202020204" pitchFamily="34" charset="0"/>
              </a:rPr>
              <a:t>- Q: Is a false exact edit always linguistically wrong? A: No. It can be partially helpful or an alternative spelling; the metric deliberately requires the annotated span and replacement.</a:t>
            </a:r>
            <a:endParaRPr lang="fr-FR" sz="1000">
              <a:latin typeface="Arial" panose="020B0604020202020204" pitchFamily="34" charset="0"/>
            </a:endParaRPr>
          </a:p>
        </p:txBody>
      </p:sp>
    </p:spTree>
    <p:extLst>
      <p:ext uri="{BB962C8B-B14F-4D97-AF65-F5344CB8AC3E}">
        <p14:creationId xmlns:p14="http://schemas.microsoft.com/office/powerpoint/2010/main" val="3944132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1:05</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Three separate result slides were reduced to a result sequence beginning with the primary metric. Identity and gold-only both score 0.220 because the selected gold-only checkpoint copies every test input. All synthetic conditions improve CER, but M3's paired gain is unstable. M4 has the best point estimate, closely followed by M1. The wide overlapping sentence-bootstrap intervals prevent strong claims of superiority.</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did gold-only equal identity? A: With only 142 training pairs, the selected model converged to copying on this test; this is model behavior, not proof that authentic data are useless.</a:t>
            </a:r>
          </a:p>
          <a:p>
            <a:r>
              <a:rPr lang="en-US" sz="1000">
                <a:latin typeface="Arial" panose="020B0604020202020204" pitchFamily="34" charset="0"/>
              </a:rPr>
              <a:t>- Q: Are M4 and M1 significantly different? A: No such claim is made; their uncertainty intervals overlap substantially.</a:t>
            </a:r>
          </a:p>
          <a:p>
            <a:r>
              <a:rPr lang="en-US" sz="1000">
                <a:latin typeface="Arial" panose="020B0604020202020204" pitchFamily="34" charset="0"/>
              </a:rPr>
              <a:t>- Q: What does a CER gain prove? A: Transfer of useful character correspondences, not correct words, meaning or exact human edits.</a:t>
            </a:r>
            <a:endParaRPr lang="fr-FR" sz="1000">
              <a:latin typeface="Arial" panose="020B0604020202020204" pitchFamily="34" charset="0"/>
            </a:endParaRPr>
          </a:p>
        </p:txBody>
      </p:sp>
    </p:spTree>
    <p:extLst>
      <p:ext uri="{BB962C8B-B14F-4D97-AF65-F5344CB8AC3E}">
        <p14:creationId xmlns:p14="http://schemas.microsoft.com/office/powerpoint/2010/main" val="1848287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WER and chrF were combined, with dashed vertical lines marking the identity baselines at WER 0.570 and chrF 58.50. Every trained synthetic condition is worse than identity on WER; M6 is least worse at 0.592. M4 is the only trained condition slightly above identity on chrF, 58.79 versus 58.50. These results explain why a CER-only conclusion would be misleading: a model can move characters toward the reference while damaging token boundaries or leaving the word incorrect.</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Why can lower CER coexist with higher WER? A: WER treats the entire token as wrong until it exactly matches; one helpful character edit can lower CER without recovering the token.</a:t>
            </a:r>
          </a:p>
          <a:p>
            <a:r>
              <a:rPr lang="en-US" sz="1000">
                <a:latin typeface="Arial" panose="020B0604020202020204" pitchFamily="34" charset="0"/>
              </a:rPr>
              <a:t>- Q: Is M4's +0.29 chrF gain meaningful? A: It is small and should be described as a point-estimate gain, not decisive evidence.</a:t>
            </a:r>
          </a:p>
          <a:p>
            <a:r>
              <a:rPr lang="en-US" sz="1000">
                <a:latin typeface="Arial" panose="020B0604020202020204" pitchFamily="34" charset="0"/>
              </a:rPr>
              <a:t>- Q: Which method is best overall? A: None dominates: M4/M1 lead CER, M6 is best among synthetic conditions on WER and exact correction F1.</a:t>
            </a:r>
            <a:endParaRPr lang="fr-FR" sz="1000">
              <a:latin typeface="Arial" panose="020B0604020202020204" pitchFamily="34" charset="0"/>
            </a:endParaRPr>
          </a:p>
        </p:txBody>
      </p:sp>
    </p:spTree>
    <p:extLst>
      <p:ext uri="{BB962C8B-B14F-4D97-AF65-F5344CB8AC3E}">
        <p14:creationId xmlns:p14="http://schemas.microsoft.com/office/powerpoint/2010/main" val="652830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1:05
What to say:
M1 and M4 are close to Gold train in aggregate KEEP rate, whereas M6 assigns KEEP to 95.6% of source positions. Its substitution and expansion supervision is far below Gold, and spacing merges appear in only about 0.4% of matched rows. The evaluator therefore learns restraint: M6 obtains the best WER among synthetic conditions because it damages fewer complete words, but it fails to make enough required character edits and ranks fourth of five on CER. This is a calibration and coverage failure, not evidence that its individual rules are linguistically wrong.
Likely jury questions:
- Why can M6 have better WER but worse CER? Copying protects whole words, while missing several required characters keeps CER high.
- Would more rules solve it? Only if added rules reproduce authentic contexts and edit density; indiscriminate rules would increase overcorrection.</a:t>
            </a:r>
            <a:endParaRPr lang="fr-FR" sz="1000">
              <a:latin typeface="Arial" panose="020B0604020202020204" pitchFamily="34" charset="0"/>
            </a:endParaRPr>
          </a:p>
        </p:txBody>
      </p:sp>
    </p:spTree>
    <p:extLst>
      <p:ext uri="{BB962C8B-B14F-4D97-AF65-F5344CB8AC3E}">
        <p14:creationId xmlns:p14="http://schemas.microsoft.com/office/powerpoint/2010/main" val="2459686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1:25
What to say:
Strict scoring requires both the source span and replacement to match a human edit. The displayed frozen-test sentence contains a valid French span, "forcer trop vraiment", that should be preserved, plus Wolof corrections including "mom" to "moom" and the spacing repair "amoufi" to "amu fi". M2 instead produces "amëfi" and M3 produces "amuufi": both alter characters without recovering the required boundary. This concrete failure explains how CER can improve while exact word recovery and correction precision remain weak. M1 and M6 recover two exact edits overall; M3 and M4 recover one; M2 recovers none.
Likely jury questions:
- Is the French span itself the error? No. It is valid context and remains unchanged in the reference.
- Does this prove code-switching caused the failure? No. It shows that the added switching supervision did not teach the contextual Wolof spacing repair.
- Why is overcorrection so high? Most proposed source-span/replacement pairs do not exactly equal the human annotation, even when a partial character change reduces CER.</a:t>
            </a:r>
            <a:endParaRPr lang="fr-FR" sz="1000">
              <a:latin typeface="Arial" panose="020B0604020202020204" pitchFamily="34" charset="0"/>
            </a:endParaRPr>
          </a:p>
        </p:txBody>
      </p:sp>
    </p:spTree>
    <p:extLst>
      <p:ext uri="{BB962C8B-B14F-4D97-AF65-F5344CB8AC3E}">
        <p14:creationId xmlns:p14="http://schemas.microsoft.com/office/powerpoint/2010/main" val="2917106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1:00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Limitations and future work remain together but were reduced to those that affect interpretation. The benchmark is a pilot: its main uncertainty comes from the small, video-specific gold split and one training initialization. The compact evaluator is practical but lacks pretrained semantic knowledge. The next experiment should expand authentic coverage first, then test whether conclusions hold across stronger evaluators and downstream retrieval or translation.</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What would you improve first? A: Expand and double-annotate the authentic gold corpus across more channels and topics; better evaluation evidence is more urgent than a larger model.</a:t>
            </a:r>
          </a:p>
          <a:p>
            <a:r>
              <a:rPr lang="en-US" sz="1000">
                <a:latin typeface="Arial" panose="020B0604020202020204" pitchFamily="34" charset="0"/>
              </a:rPr>
              <a:t>- Q: Why not immediately use mT5? A: A larger model cannot repair evaluation scarcity and may confound generator quality with pretrained multilingual knowledge.</a:t>
            </a:r>
          </a:p>
          <a:p>
            <a:r>
              <a:rPr lang="en-US" sz="1000">
                <a:latin typeface="Arial" panose="020B0604020202020204" pitchFamily="34" charset="0"/>
              </a:rPr>
              <a:t>- Q: Is the benchmark useful despite its size? A: Yes as a controlled pilot and diagnostic framework, but not as a definitive population estimate.</a:t>
            </a:r>
            <a:endParaRPr lang="fr-FR" sz="1000">
              <a:latin typeface="Arial" panose="020B0604020202020204" pitchFamily="34" charset="0"/>
            </a:endParaRPr>
          </a:p>
        </p:txBody>
      </p:sp>
    </p:spTree>
    <p:extLst>
      <p:ext uri="{BB962C8B-B14F-4D97-AF65-F5344CB8AC3E}">
        <p14:creationId xmlns:p14="http://schemas.microsoft.com/office/powerpoint/2010/main" val="570517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Timing: 0:50</a:t>
            </a:r>
          </a:p>
          <a:p>
            <a:endParaRPr lang="en-US" sz="1000">
              <a:latin typeface="Arial" panose="020B0604020202020204" pitchFamily="34" charset="0"/>
            </a:endParaRPr>
          </a:p>
          <a:p>
            <a:r>
              <a:rPr lang="en-US" sz="1000">
                <a:latin typeface="Arial" panose="020B0604020202020204" pitchFamily="34" charset="0"/>
              </a:rPr>
              <a:t>What was shortened:</a:t>
            </a:r>
          </a:p>
          <a:p>
            <a:r>
              <a:rPr lang="en-US" sz="1000">
                <a:latin typeface="Arial" panose="020B0604020202020204" pitchFamily="34" charset="0"/>
              </a:rPr>
              <a:t>The conclusion is now a direct answer to the research question. Synthetic pretraining clearly changes the learned character mappings and all synthetic conditions beat identity on CER. However, the WER and strict-edit results show that this is not yet reliable normalization. Oolel and M1 are strongest on character error; M6 demonstrates the value - and cost - of selective, protected generation. The lasting contribution is the controlled method-comparison framework and its data artifacts.</a:t>
            </a:r>
          </a:p>
          <a:p>
            <a:endParaRPr lang="en-US" sz="1000">
              <a:latin typeface="Arial" panose="020B0604020202020204" pitchFamily="34" charset="0"/>
            </a:endParaRPr>
          </a:p>
          <a:p>
            <a:r>
              <a:rPr lang="en-US" sz="1000">
                <a:latin typeface="Arial" panose="020B0604020202020204" pitchFamily="34" charset="0"/>
              </a:rPr>
              <a:t>Likely jury questions and suggested answers:</a:t>
            </a:r>
          </a:p>
          <a:p>
            <a:r>
              <a:rPr lang="en-US" sz="1000">
                <a:latin typeface="Arial" panose="020B0604020202020204" pitchFamily="34" charset="0"/>
              </a:rPr>
              <a:t>- Q: Which method would you recommend today? A: M4 for the best CER point estimate, M1 for transparency and reproducibility, and M6 as the most promising direction for controlled selective noise - none for unsupervised deployment.</a:t>
            </a:r>
          </a:p>
          <a:p>
            <a:r>
              <a:rPr lang="en-US" sz="1000">
                <a:latin typeface="Arial" panose="020B0604020202020204" pitchFamily="34" charset="0"/>
              </a:rPr>
              <a:t>- Q: What is the main scientific takeaway? A: Synthetic utility depends on matching authentic transformation frequency and context, not simply maximizing the amount of noise.</a:t>
            </a:r>
          </a:p>
          <a:p>
            <a:r>
              <a:rPr lang="en-US" sz="1000">
                <a:latin typeface="Arial" panose="020B0604020202020204" pitchFamily="34" charset="0"/>
              </a:rPr>
              <a:t>- Q: Did the project answer the original retrieval goal? A: It built and evaluated the normalization bridge; downstream retrieval evaluation is the next validation stage.</a:t>
            </a:r>
            <a:endParaRPr lang="fr-FR" sz="1000">
              <a:latin typeface="Arial" panose="020B0604020202020204" pitchFamily="34" charset="0"/>
            </a:endParaRPr>
          </a:p>
        </p:txBody>
      </p:sp>
    </p:spTree>
    <p:extLst>
      <p:ext uri="{BB962C8B-B14F-4D97-AF65-F5344CB8AC3E}">
        <p14:creationId xmlns:p14="http://schemas.microsoft.com/office/powerpoint/2010/main" val="3568539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Use only during questions. This divider is not part of the 20-slide talk.</a:t>
            </a:r>
            <a:endParaRPr lang="fr-FR" sz="1000">
              <a:latin typeface="Arial" panose="020B0604020202020204" pitchFamily="34" charset="0"/>
            </a:endParaRPr>
          </a:p>
        </p:txBody>
      </p:sp>
    </p:spTree>
    <p:extLst>
      <p:ext uri="{BB962C8B-B14F-4D97-AF65-F5344CB8AC3E}">
        <p14:creationId xmlns:p14="http://schemas.microsoft.com/office/powerpoint/2010/main" val="10346101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Use if asked how POS informed M6. Verbs change most often; proper nouns remain unchanged in the annotated training occurrences. POS is conditioning evidence, not a rule that every verb must change.</a:t>
            </a:r>
            <a:endParaRPr lang="fr-FR" sz="1000">
              <a:latin typeface="Arial" panose="020B0604020202020204" pitchFamily="34" charset="0"/>
            </a:endParaRPr>
          </a:p>
        </p:txBody>
      </p:sp>
    </p:spTree>
    <p:extLst>
      <p:ext uri="{BB962C8B-B14F-4D97-AF65-F5344CB8AC3E}">
        <p14:creationId xmlns:p14="http://schemas.microsoft.com/office/powerpoint/2010/main" val="989359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Use to explain why CER improvement does not equal sentence quality. Longer sequences expose independent edit errors and the evaluator's limited contextual capacity.</a:t>
            </a:r>
            <a:endParaRPr lang="fr-FR" sz="1000">
              <a:latin typeface="Arial" panose="020B0604020202020204" pitchFamily="34" charset="0"/>
            </a:endParaRPr>
          </a:p>
        </p:txBody>
      </p:sp>
    </p:spTree>
    <p:extLst>
      <p:ext uri="{BB962C8B-B14F-4D97-AF65-F5344CB8AC3E}">
        <p14:creationId xmlns:p14="http://schemas.microsoft.com/office/powerpoint/2010/main" val="3361578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txBody>
          <a:bodyPr/>
          <a:lstStyle/>
          <a:p>
            <a:endParaRPr lang="fr-FR"/>
          </a:p>
        </p:txBody>
      </p:sp>
      <p:sp>
        <p:nvSpPr>
          <p:cNvPr id="3" name="Espace réservé des notes 2"/>
          <p:cNvSpPr>
            <a:spLocks noGrp="1"/>
          </p:cNvSpPr>
          <p:nvPr>
            <p:ph type="body" idx="1"/>
          </p:nvPr>
        </p:nvSpPr>
        <p:spPr/>
        <p:txBody>
          <a:bodyPr/>
          <a:lstStyle/>
          <a:p>
            <a:r>
              <a:rPr lang="en-US" sz="1000">
                <a:latin typeface="Arial" panose="020B0604020202020204" pitchFamily="34" charset="0"/>
              </a:rPr>
              <a:t>Use for questions about fairness. Training utility is controlled on saved matched pairs. Generator reproducibility is a separate axis and is explicitly weaker for the external Oolel baseline.</a:t>
            </a:r>
            <a:endParaRPr lang="fr-FR" sz="1000">
              <a:latin typeface="Arial" panose="020B0604020202020204" pitchFamily="34" charset="0"/>
            </a:endParaRPr>
          </a:p>
        </p:txBody>
      </p:sp>
    </p:spTree>
    <p:extLst>
      <p:ext uri="{BB962C8B-B14F-4D97-AF65-F5344CB8AC3E}">
        <p14:creationId xmlns:p14="http://schemas.microsoft.com/office/powerpoint/2010/main" val="2199364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Answer in one sentence: the formal pool is the 17,777-row GalsenAI French-Wolof aggregation, while Gold comes from manually normalized public YouTube comments.
The four source labels and counts are shown on the slide. Explain that "formal" is an operational role based on curated translation resources, not a claim that every row was independently certified. The robust experimental target is the manually reconstructed Gold development/test set.
Filtering: mechanical cleanup and heuristic language filtering reduce 396,559 comments to 242,174; local Gemma prioritizes candidates; only manual KEEP decisions create Gold pairs.</a:t>
            </a:r>
            <a:endParaRPr lang="fr-FR" sz="1000">
              <a:latin typeface="Arial" panose="020B0604020202020204" pitchFamily="34" charset="0"/>
            </a:endParaRPr>
          </a:p>
        </p:txBody>
      </p:sp>
    </p:spTree>
    <p:extLst>
      <p:ext uri="{BB962C8B-B14F-4D97-AF65-F5344CB8AC3E}">
        <p14:creationId xmlns:p14="http://schemas.microsoft.com/office/powerpoint/2010/main" val="405832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The critical distinction is that the full normalization and linguistic labels are manual, while the four model operations are generated deterministically from each paired string. A separate word-level sequence matcher constructs strict correction signatures for evaluation.
If asked whether errors were labelled automatically: code proposed conservative suggestions, but the annotator remained authoritative for phonetic, lexical, language and entity categories.</a:t>
            </a:r>
            <a:endParaRPr lang="fr-FR" sz="1000">
              <a:latin typeface="Arial" panose="020B0604020202020204" pitchFamily="34" charset="0"/>
            </a:endParaRPr>
          </a:p>
        </p:txBody>
      </p:sp>
    </p:spTree>
    <p:extLst>
      <p:ext uri="{BB962C8B-B14F-4D97-AF65-F5344CB8AC3E}">
        <p14:creationId xmlns:p14="http://schemas.microsoft.com/office/powerpoint/2010/main" val="3806820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M2 trusts Eflomal lexical alignment probabilities and deliberately replaces roughly one fifth of eligible positions. M3 is more selective: distributional similarity must agree with bilingual evidence and relative position, with no more than two replacements.
Both use French words from the same row's paired French sentence, not arbitrary global substitutions. Both protect inserted French before applying the exact M1 spelling component.
Do not equate Gold sentence-level French presence with synthetic insertion rate. They are exposure indicators with different denominators.</a:t>
            </a:r>
            <a:endParaRPr lang="fr-FR" sz="1000">
              <a:latin typeface="Arial" panose="020B0604020202020204" pitchFamily="34" charset="0"/>
            </a:endParaRPr>
          </a:p>
        </p:txBody>
      </p:sp>
    </p:spTree>
    <p:extLst>
      <p:ext uri="{BB962C8B-B14F-4D97-AF65-F5344CB8AC3E}">
        <p14:creationId xmlns:p14="http://schemas.microsoft.com/office/powerpoint/2010/main" val="3950997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M5 exists as a complete exploratory artifact. Conservative thresholds protected precision but produced only 1,821 changed rows, so it was too close to identity for the balanced active-generator benchmark.
M6 filters Gold-train occurrences by review, language and protection. It keeps dominant exact mappings and reusable context/POS templates, then uses a deterministic empirical edit budget. It is not leakage, but it is a Gold-train-informed method and must be described as a different supervision category.</a:t>
            </a:r>
            <a:endParaRPr lang="fr-FR" sz="1000">
              <a:latin typeface="Arial" panose="020B0604020202020204" pitchFamily="34" charset="0"/>
            </a:endParaRPr>
          </a:p>
        </p:txBody>
      </p:sp>
    </p:spTree>
    <p:extLst>
      <p:ext uri="{BB962C8B-B14F-4D97-AF65-F5344CB8AC3E}">
        <p14:creationId xmlns:p14="http://schemas.microsoft.com/office/powerpoint/2010/main" val="1507713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This is inspired by TNT, not an exact reproduction. The original work uses text normalization as pretraining for content moderation. Here the model is trained directly on paired Wolof sentences and the normalized reconstruction is the evaluated output.
The architecture was chosen because the earlier autoregressive character model accumulated errors and repetition, while the copy-aware variant often collapsed to identity. Parallel edit prediction gives an explicit sparse-edit bias and fast deterministic decoding.</a:t>
            </a:r>
            <a:endParaRPr lang="fr-FR" sz="1000">
              <a:latin typeface="Arial" panose="020B0604020202020204" pitchFamily="34" charset="0"/>
            </a:endParaRPr>
          </a:p>
        </p:txBody>
      </p:sp>
    </p:spTree>
    <p:extLst>
      <p:ext uri="{BB962C8B-B14F-4D97-AF65-F5344CB8AC3E}">
        <p14:creationId xmlns:p14="http://schemas.microsoft.com/office/powerpoint/2010/main" val="386649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CER rewards partial character progress; WER requires the whole token or boundary to be right; chrF captures character overlap. Ordinary accuracy is not the primary metric because normalization is variable-length and KEEP dominates.
Gold-only was trained. Its selected checkpoint generated exactly the input for all test rows, so it necessarily equals the untrained identity baseline on every metric. This is a negative control showing that synthetic pretraining, rather than Gold fine-tuning alone, changed behaviour.
Overcorrection is strict: a partially useful edit can still count false if it does not match the complete human span and replacement.</a:t>
            </a:r>
            <a:endParaRPr lang="fr-FR" sz="1000">
              <a:latin typeface="Arial" panose="020B0604020202020204" pitchFamily="34" charset="0"/>
            </a:endParaRPr>
          </a:p>
        </p:txBody>
      </p:sp>
    </p:spTree>
    <p:extLst>
      <p:ext uri="{BB962C8B-B14F-4D97-AF65-F5344CB8AC3E}">
        <p14:creationId xmlns:p14="http://schemas.microsoft.com/office/powerpoint/2010/main" val="101021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The final TNT evaluator is a feasible controlled probe, not a claim that it is the best possible Wolof normalizer. Stronger pretrained systems require more compute and should be added as a second evaluator while keeping identical treatment across synthetic methods.
The highest priority is more authentic evaluation data. The saved hybrid idea combines TNT character edits with explicit boundary and word-level correction heads, but it remains future work and must be developed without consulting the frozen test.</a:t>
            </a:r>
            <a:endParaRPr lang="fr-FR" sz="1000">
              <a:latin typeface="Arial" panose="020B0604020202020204" pitchFamily="34" charset="0"/>
            </a:endParaRPr>
          </a:p>
        </p:txBody>
      </p:sp>
    </p:spTree>
    <p:extLst>
      <p:ext uri="{BB962C8B-B14F-4D97-AF65-F5344CB8AC3E}">
        <p14:creationId xmlns:p14="http://schemas.microsoft.com/office/powerpoint/2010/main" val="36423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Walk through the word "def". The character encoder produces one contextual vector per input position. The operation head predicts KEEP for d and e and EXPAND for f. The segment head predicts "ff" for the expanded position. Reconstruction copies d, copies e, emits ff, and obtains "deff".
All positions are predicted in one encoder pass. There is no autoregressive feedback or beam search. This is possible because the model performs source-anchored editing rather than unrestricted text generation.</a:t>
            </a:r>
            <a:endParaRPr lang="fr-FR" sz="1000">
              <a:latin typeface="Arial" panose="020B0604020202020204" pitchFamily="34" charset="0"/>
            </a:endParaRPr>
          </a:p>
        </p:txBody>
      </p:sp>
    </p:spTree>
    <p:extLst>
      <p:ext uri="{BB962C8B-B14F-4D97-AF65-F5344CB8AC3E}">
        <p14:creationId xmlns:p14="http://schemas.microsoft.com/office/powerpoint/2010/main" val="30450982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The same dynamic-programming principle underlies several calculations, but the units differ. TNT labels and operation distributions use characters. CER applies character Levenshtein distance. WER applies it to word-and-punctuation tokens. chrF is not edit distance: it compares overlapping character n-grams from orders one to six after removing whitespace.
The Gold linguistic labels are manually reviewed and must not be confused with automatically derived KEEP/DELETE/SUBSTITUTE/EXPAND operations.</a:t>
            </a:r>
            <a:endParaRPr lang="fr-FR" sz="1000">
              <a:latin typeface="Arial" panose="020B0604020202020204" pitchFamily="34" charset="0"/>
            </a:endParaRPr>
          </a:p>
        </p:txBody>
      </p:sp>
    </p:spTree>
    <p:extLst>
      <p:ext uri="{BB962C8B-B14F-4D97-AF65-F5344CB8AC3E}">
        <p14:creationId xmlns:p14="http://schemas.microsoft.com/office/powerpoint/2010/main" val="14278452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dirty="0">
                <a:latin typeface="Arial" panose="020B0604020202020204" pitchFamily="34" charset="0"/>
              </a:rPr>
              <a:t>There are three separate counts. The 171 mappings and 105 templates are knowledge extracted from Gold train. Generator edit counts describe how those rules modified the formal synthetic corpus. Proposed edits in the overcorrection analysis are calculated later from each model's predictions on the 29 frozen-test inputs.
The evaluation uses token-level </a:t>
            </a:r>
            <a:r>
              <a:rPr lang="en-US" sz="1000" dirty="0" err="1">
                <a:latin typeface="Arial" panose="020B0604020202020204" pitchFamily="34" charset="0"/>
              </a:rPr>
              <a:t>SequenceMatcher</a:t>
            </a:r>
            <a:r>
              <a:rPr lang="en-US" sz="1000" dirty="0">
                <a:latin typeface="Arial" panose="020B0604020202020204" pitchFamily="34" charset="0"/>
              </a:rPr>
              <a:t> blocks. It compares source-to-reference blocks with source-to-prediction blocks. A block is a true positive only when both its source span and replacement exactly match Gold. Consecutive changed tokens may form one proposal, so the total is not simply the number of modified tokens.
M6 changed 14,215 of 17,777 rows in the full export and 3,106 of 3,330 rows in the matched training sample.</a:t>
            </a:r>
            <a:endParaRPr lang="fr-FR" sz="1000" dirty="0">
              <a:latin typeface="Arial" panose="020B0604020202020204" pitchFamily="34" charset="0"/>
            </a:endParaRPr>
          </a:p>
        </p:txBody>
      </p:sp>
    </p:spTree>
    <p:extLst>
      <p:ext uri="{BB962C8B-B14F-4D97-AF65-F5344CB8AC3E}">
        <p14:creationId xmlns:p14="http://schemas.microsoft.com/office/powerpoint/2010/main" val="949123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This table contains real rows from artifacts/m6_gold_linguistic_mappings.csv.
A lexical mapping groups reviewed Gold-train observations by formal unit. The numerator is the number of times one informal realization was observed; the denominator is all eligible reviewed outcomes for that same formal unit. For example, soof na became sofna in three of four observations, so its dominance is 0.75.
The threshold is intentionally permissive because Gold train is small: support must be at least one and dominance at least 0.50. That makes the inventory broad, but also exposes M6 to low-support mappings. French spans, entities, and protected tokens are excluded before learning. No Gold-development or Gold-test annotation is used.</a:t>
            </a:r>
            <a:endParaRPr lang="fr-FR" sz="1000">
              <a:latin typeface="Arial" panose="020B0604020202020204" pitchFamily="34" charset="0"/>
            </a:endParaRPr>
          </a:p>
        </p:txBody>
      </p:sp>
    </p:spTree>
    <p:extLst>
      <p:ext uri="{BB962C8B-B14F-4D97-AF65-F5344CB8AC3E}">
        <p14:creationId xmlns:p14="http://schemas.microsoft.com/office/powerpoint/2010/main" val="30810125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These templates come from artifacts/m6_gold_linguistic_transformations.csv. The rule key contains the annotated POS, edit operation, formal and informal character segments, immediate left and right character context, and boundary position when available.
Example: the VERB rule x to kh is learned when x is preceded by a and occurs at the end of the word. It has seven supporting observations among nine eligible triggers, hence confidence 7/9 = 0.78. This can transform a previously unseen verb ending in -ax without storing the entire word.
The examples illustrate the rule mechanics. Some rules have very little support because Gold train is small. The method therefore samples candidates with empirical weights instead of applying every compatible rule, and rejects overlaps, French material, named entities, and protected content.</a:t>
            </a:r>
            <a:endParaRPr lang="fr-FR" sz="1000">
              <a:latin typeface="Arial" panose="020B0604020202020204" pitchFamily="34" charset="0"/>
            </a:endParaRPr>
          </a:p>
        </p:txBody>
      </p:sp>
    </p:spTree>
    <p:extLst>
      <p:ext uri="{BB962C8B-B14F-4D97-AF65-F5344CB8AC3E}">
        <p14:creationId xmlns:p14="http://schemas.microsoft.com/office/powerpoint/2010/main" val="1177306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sz="1000">
                <a:latin typeface="Arial" panose="020B0604020202020204" pitchFamily="34" charset="0"/>
              </a:rPr>
              <a:t>Both examples are taken from data/synthetic/m6_gold_linguistic_pairs.csv and retain the exported provenance.
Example A shows the two knowledge sources cleanly: amul to amoul is a full lexical mapping, while sonal to sonale is produced by a VERB template that appends e after final l.
Example B shows the sampler composing one complete mapping with several compatible character templates. The x-to-kh rule has confidence 7/9; the other displayed transformations have recorded support in Gold train. M6 applies only non-overlapping edits and preserves protected spans.
This trace also explains the method's limitation: rules extracted from a small corpus can be plausible without matching a given authentic test comment. M6 is therefore auditable and contextual, but not automatically well calibrated.</a:t>
            </a:r>
            <a:endParaRPr lang="fr-FR" sz="1000">
              <a:latin typeface="Arial" panose="020B0604020202020204" pitchFamily="34" charset="0"/>
            </a:endParaRPr>
          </a:p>
        </p:txBody>
      </p:sp>
    </p:spTree>
    <p:extLst>
      <p:ext uri="{BB962C8B-B14F-4D97-AF65-F5344CB8AC3E}">
        <p14:creationId xmlns:p14="http://schemas.microsoft.com/office/powerpoint/2010/main" val="541728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1255"/>
            <a:ext cx="9144001" cy="5140990"/>
          </a:xfrm>
          <a:prstGeom prst="rect">
            <a:avLst/>
          </a:prstGeom>
          <a:noFill/>
          <a:ln>
            <a:noFill/>
          </a:ln>
        </p:spPr>
      </p:pic>
      <p:sp>
        <p:nvSpPr>
          <p:cNvPr id="55" name="Google Shape;55;p13"/>
          <p:cNvSpPr txBox="1">
            <a:spLocks noGrp="1"/>
          </p:cNvSpPr>
          <p:nvPr>
            <p:ph type="ctrTitle"/>
          </p:nvPr>
        </p:nvSpPr>
        <p:spPr>
          <a:xfrm>
            <a:off x="1173750" y="2634950"/>
            <a:ext cx="8520600" cy="62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b="1" dirty="0">
                <a:solidFill>
                  <a:schemeClr val="lt1"/>
                </a:solidFill>
                <a:latin typeface="Verdana"/>
                <a:ea typeface="Verdana"/>
                <a:cs typeface="Verdana"/>
                <a:sym typeface="Verdana"/>
              </a:rPr>
              <a:t>Synthetic Data Generation for Robust
Informal Wolof Normalization</a:t>
            </a:r>
            <a:endParaRPr sz="2000" b="1" dirty="0">
              <a:solidFill>
                <a:schemeClr val="lt1"/>
              </a:solidFill>
              <a:latin typeface="Verdana"/>
              <a:ea typeface="Verdana"/>
              <a:cs typeface="Verdana"/>
              <a:sym typeface="Verdana"/>
            </a:endParaRPr>
          </a:p>
        </p:txBody>
      </p:sp>
      <p:sp>
        <p:nvSpPr>
          <p:cNvPr id="56" name="Google Shape;56;p13"/>
          <p:cNvSpPr txBox="1">
            <a:spLocks noGrp="1"/>
          </p:cNvSpPr>
          <p:nvPr>
            <p:ph type="subTitle" idx="1"/>
          </p:nvPr>
        </p:nvSpPr>
        <p:spPr>
          <a:xfrm>
            <a:off x="1173750" y="3220900"/>
            <a:ext cx="85206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i="1" dirty="0">
                <a:solidFill>
                  <a:schemeClr val="lt1"/>
                </a:solidFill>
                <a:latin typeface="Verdana" panose="020B0604030504040204" pitchFamily="34" charset="0"/>
                <a:ea typeface="Verdana" panose="020B0604030504040204" pitchFamily="34" charset="0"/>
                <a:cs typeface="Georgia"/>
                <a:sym typeface="Georgia"/>
              </a:rPr>
              <a:t>A controlled comparison of formal-to-informal generation strategies</a:t>
            </a:r>
            <a:endParaRPr sz="1200" i="1" dirty="0">
              <a:solidFill>
                <a:schemeClr val="lt1"/>
              </a:solidFill>
              <a:latin typeface="Verdana" panose="020B0604030504040204" pitchFamily="34" charset="0"/>
              <a:ea typeface="Verdana" panose="020B0604030504040204" pitchFamily="34" charset="0"/>
              <a:cs typeface="Georgia"/>
              <a:sym typeface="Georgia"/>
            </a:endParaRPr>
          </a:p>
        </p:txBody>
      </p:sp>
      <p:pic>
        <p:nvPicPr>
          <p:cNvPr id="57" name="Google Shape;57;p13"/>
          <p:cNvPicPr preferRelativeResize="0"/>
          <p:nvPr/>
        </p:nvPicPr>
        <p:blipFill>
          <a:blip r:embed="rId4">
            <a:alphaModFix/>
          </a:blip>
          <a:stretch>
            <a:fillRect/>
          </a:stretch>
        </p:blipFill>
        <p:spPr>
          <a:xfrm>
            <a:off x="1218475" y="2274170"/>
            <a:ext cx="1103100" cy="297580"/>
          </a:xfrm>
          <a:prstGeom prst="rect">
            <a:avLst/>
          </a:prstGeom>
          <a:noFill/>
          <a:ln>
            <a:noFill/>
          </a:ln>
        </p:spPr>
      </p:pic>
      <p:sp>
        <p:nvSpPr>
          <p:cNvPr id="58" name="Google Shape;58;p13"/>
          <p:cNvSpPr txBox="1"/>
          <p:nvPr/>
        </p:nvSpPr>
        <p:spPr>
          <a:xfrm>
            <a:off x="1325075" y="2274175"/>
            <a:ext cx="1103100" cy="23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800" b="1">
                <a:solidFill>
                  <a:schemeClr val="lt1"/>
                </a:solidFill>
                <a:latin typeface="Verdana"/>
                <a:ea typeface="Verdana"/>
                <a:cs typeface="Verdana"/>
                <a:sym typeface="Verdana"/>
              </a:rPr>
              <a:t>24/09/2026</a:t>
            </a:r>
            <a:endParaRPr sz="800" b="1" dirty="0">
              <a:solidFill>
                <a:schemeClr val="lt1"/>
              </a:solidFill>
              <a:latin typeface="Verdana"/>
              <a:ea typeface="Verdana"/>
              <a:cs typeface="Verdana"/>
              <a:sym typeface="Verdana"/>
            </a:endParaRPr>
          </a:p>
        </p:txBody>
      </p:sp>
      <p:pic>
        <p:nvPicPr>
          <p:cNvPr id="5" name="Image 4" descr="Une image contenant texte, Police, Graphique, capture d’écran&#10;&#10;Description générée automatiquement">
            <a:extLst>
              <a:ext uri="{FF2B5EF4-FFF2-40B4-BE49-F238E27FC236}">
                <a16:creationId xmlns:a16="http://schemas.microsoft.com/office/drawing/2014/main" id="{DB77CE62-EFDB-64B1-6F14-58BEE5D4FE46}"/>
              </a:ext>
            </a:extLst>
          </p:cNvPr>
          <p:cNvPicPr>
            <a:picLocks noChangeAspect="1"/>
          </p:cNvPicPr>
          <p:nvPr/>
        </p:nvPicPr>
        <p:blipFill>
          <a:blip r:embed="rId5"/>
          <a:stretch>
            <a:fillRect/>
          </a:stretch>
        </p:blipFill>
        <p:spPr>
          <a:xfrm>
            <a:off x="5098471" y="185728"/>
            <a:ext cx="3706091" cy="1888544"/>
          </a:xfrm>
          <a:prstGeom prst="rect">
            <a:avLst/>
          </a:prstGeom>
        </p:spPr>
      </p:pic>
      <p:sp>
        <p:nvSpPr>
          <p:cNvPr id="2" name="ZoneTexte 1">
            <a:extLst>
              <a:ext uri="{FF2B5EF4-FFF2-40B4-BE49-F238E27FC236}">
                <a16:creationId xmlns:a16="http://schemas.microsoft.com/office/drawing/2014/main" id="{A0CEB830-4330-81A2-FD80-A756999EF923}"/>
              </a:ext>
            </a:extLst>
          </p:cNvPr>
          <p:cNvSpPr txBox="1"/>
          <p:nvPr/>
        </p:nvSpPr>
        <p:spPr>
          <a:xfrm>
            <a:off x="1270000" y="4140200"/>
            <a:ext cx="5080000" cy="215444"/>
          </a:xfrm>
          <a:prstGeom prst="rect">
            <a:avLst/>
          </a:prstGeom>
          <a:noFill/>
        </p:spPr>
        <p:txBody>
          <a:bodyPr vert="horz" wrap="square" lIns="0" tIns="0" rIns="0" bIns="0" rtlCol="0">
            <a:noAutofit/>
          </a:bodyPr>
          <a:lstStyle/>
          <a:p>
            <a:r>
              <a:rPr lang="it-IT" sz="1000" b="1">
                <a:solidFill>
                  <a:srgbClr val="FFFFFF"/>
                </a:solidFill>
                <a:latin typeface="Verdana" panose="020B0604030504040204" pitchFamily="34" charset="0"/>
              </a:rPr>
              <a:t>Ibrahima THIOYE · PGE5 AI &amp; Data Science</a:t>
            </a:r>
            <a:endParaRPr lang="fr-FR" sz="1000" b="1">
              <a:solidFill>
                <a:srgbClr val="FFFFFF"/>
              </a:solidFill>
              <a:latin typeface="Verdana" panose="020B0604030504040204" pitchFamily="34" charset="0"/>
            </a:endParaRPr>
          </a:p>
        </p:txBody>
      </p:sp>
      <p:sp>
        <p:nvSpPr>
          <p:cNvPr id="3" name="ZoneTexte 2">
            <a:extLst>
              <a:ext uri="{FF2B5EF4-FFF2-40B4-BE49-F238E27FC236}">
                <a16:creationId xmlns:a16="http://schemas.microsoft.com/office/drawing/2014/main" id="{EC3EA6FB-FBCA-81A3-AE65-24026246E7EC}"/>
              </a:ext>
            </a:extLst>
          </p:cNvPr>
          <p:cNvSpPr txBox="1"/>
          <p:nvPr/>
        </p:nvSpPr>
        <p:spPr>
          <a:xfrm>
            <a:off x="1270000" y="4406900"/>
            <a:ext cx="5080000" cy="215444"/>
          </a:xfrm>
          <a:prstGeom prst="rect">
            <a:avLst/>
          </a:prstGeom>
          <a:noFill/>
        </p:spPr>
        <p:txBody>
          <a:bodyPr vert="horz" wrap="square" lIns="0" tIns="0" rIns="0" bIns="0" rtlCol="0">
            <a:noAutofit/>
          </a:bodyPr>
          <a:lstStyle/>
          <a:p>
            <a:r>
              <a:rPr lang="fr-FR" sz="900">
                <a:solidFill>
                  <a:srgbClr val="FFFFFF"/>
                </a:solidFill>
                <a:latin typeface="Verdana" panose="020B0604030504040204" pitchFamily="34" charset="0"/>
              </a:rPr>
              <a:t>Academic supervisor: Antoun YAACOUB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AB3A5EEA-3F81-DE33-65DE-5F990EACFC78}"/>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825E96A-022C-DBDC-5139-0F0440AD3F56}"/>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MOTIVATION</a:t>
            </a:r>
          </a:p>
        </p:txBody>
      </p:sp>
      <p:sp>
        <p:nvSpPr>
          <p:cNvPr id="6" name="Rectangle 5">
            <a:extLst>
              <a:ext uri="{FF2B5EF4-FFF2-40B4-BE49-F238E27FC236}">
                <a16:creationId xmlns:a16="http://schemas.microsoft.com/office/drawing/2014/main" id="{00C6E21A-6656-14CE-8497-7ECBB7AB24B3}"/>
              </a:ext>
            </a:extLst>
          </p:cNvPr>
          <p:cNvSpPr/>
          <p:nvPr/>
        </p:nvSpPr>
        <p:spPr>
          <a:xfrm>
            <a:off x="508000" y="1282700"/>
            <a:ext cx="3810000" cy="974312"/>
          </a:xfrm>
          <a:prstGeom prst="rect">
            <a:avLst/>
          </a:prstGeom>
          <a:solidFill>
            <a:srgbClr val="F6F7F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1E67AC9-42E4-9DFB-014B-1E8CEB4C7BA5}"/>
              </a:ext>
            </a:extLst>
          </p:cNvPr>
          <p:cNvSpPr/>
          <p:nvPr/>
        </p:nvSpPr>
        <p:spPr>
          <a:xfrm>
            <a:off x="508000" y="1282700"/>
            <a:ext cx="3810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447F45F-F4F6-4F79-58A1-813970D7E09C}"/>
              </a:ext>
            </a:extLst>
          </p:cNvPr>
          <p:cNvSpPr txBox="1"/>
          <p:nvPr/>
        </p:nvSpPr>
        <p:spPr>
          <a:xfrm>
            <a:off x="635000" y="1397000"/>
            <a:ext cx="3556000" cy="215444"/>
          </a:xfrm>
          <a:prstGeom prst="rect">
            <a:avLst/>
          </a:prstGeom>
          <a:noFill/>
        </p:spPr>
        <p:txBody>
          <a:bodyPr vert="horz" wrap="square" lIns="0" tIns="0" rIns="0" bIns="0" rtlCol="0">
            <a:noAutofit/>
          </a:bodyPr>
          <a:lstStyle/>
          <a:p>
            <a:r>
              <a:rPr lang="fr-FR" sz="920" b="1" dirty="0">
                <a:solidFill>
                  <a:srgbClr val="0E2F46"/>
                </a:solidFill>
                <a:latin typeface="Arial" panose="020B0604020202020204" pitchFamily="34" charset="0"/>
              </a:rPr>
              <a:t>INFORMAL CODE SWITCHED INPUT</a:t>
            </a:r>
          </a:p>
        </p:txBody>
      </p:sp>
      <p:sp>
        <p:nvSpPr>
          <p:cNvPr id="21" name="ZoneTexte 20">
            <a:extLst>
              <a:ext uri="{FF2B5EF4-FFF2-40B4-BE49-F238E27FC236}">
                <a16:creationId xmlns:a16="http://schemas.microsoft.com/office/drawing/2014/main" id="{752065CA-D441-CD9A-FA1C-B6CEB761A47F}"/>
              </a:ext>
            </a:extLst>
          </p:cNvPr>
          <p:cNvSpPr txBox="1"/>
          <p:nvPr/>
        </p:nvSpPr>
        <p:spPr>
          <a:xfrm>
            <a:off x="635000" y="1580922"/>
            <a:ext cx="3556000" cy="215444"/>
          </a:xfrm>
          <a:prstGeom prst="rect">
            <a:avLst/>
          </a:prstGeom>
          <a:noFill/>
        </p:spPr>
        <p:txBody>
          <a:bodyPr vert="horz" wrap="square" lIns="0" tIns="0" rIns="0" bIns="0" rtlCol="0">
            <a:noAutofit/>
          </a:bodyPr>
          <a:lstStyle/>
          <a:p>
            <a:r>
              <a:rPr lang="en-US" sz="1000" dirty="0">
                <a:solidFill>
                  <a:srgbClr val="1C1F25"/>
                </a:solidFill>
                <a:latin typeface="Arial" panose="020B0604020202020204" pitchFamily="34" charset="0"/>
              </a:rPr>
              <a:t>mareme thiam à la fin lanegua beugue 
</a:t>
            </a:r>
            <a:endParaRPr lang="fr-FR" sz="1000" dirty="0">
              <a:solidFill>
                <a:srgbClr val="1C1F25"/>
              </a:solidFill>
              <a:latin typeface="Arial" panose="020B0604020202020204" pitchFamily="34" charset="0"/>
            </a:endParaRPr>
          </a:p>
        </p:txBody>
      </p:sp>
      <p:sp>
        <p:nvSpPr>
          <p:cNvPr id="24" name="Rectangle 23">
            <a:extLst>
              <a:ext uri="{FF2B5EF4-FFF2-40B4-BE49-F238E27FC236}">
                <a16:creationId xmlns:a16="http://schemas.microsoft.com/office/drawing/2014/main" id="{EC80F9ED-F01F-4487-61C4-7FA7DA81EDD1}"/>
              </a:ext>
            </a:extLst>
          </p:cNvPr>
          <p:cNvSpPr/>
          <p:nvPr/>
        </p:nvSpPr>
        <p:spPr>
          <a:xfrm>
            <a:off x="4826000" y="1282699"/>
            <a:ext cx="3810000" cy="974311"/>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EA9BB5FC-25D7-6A1B-86CC-1D0BEB0AFE11}"/>
              </a:ext>
            </a:extLst>
          </p:cNvPr>
          <p:cNvSpPr/>
          <p:nvPr/>
        </p:nvSpPr>
        <p:spPr>
          <a:xfrm>
            <a:off x="4826000" y="1282700"/>
            <a:ext cx="38100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7FE1470D-FB14-38DC-3C69-CC64FAE6C77A}"/>
              </a:ext>
            </a:extLst>
          </p:cNvPr>
          <p:cNvSpPr txBox="1"/>
          <p:nvPr/>
        </p:nvSpPr>
        <p:spPr>
          <a:xfrm>
            <a:off x="4953000" y="1397000"/>
            <a:ext cx="3556000" cy="215444"/>
          </a:xfrm>
          <a:prstGeom prst="rect">
            <a:avLst/>
          </a:prstGeom>
          <a:noFill/>
        </p:spPr>
        <p:txBody>
          <a:bodyPr vert="horz" wrap="square" lIns="0" tIns="0" rIns="0" bIns="0" rtlCol="0">
            <a:noAutofit/>
          </a:bodyPr>
          <a:lstStyle/>
          <a:p>
            <a:r>
              <a:rPr lang="fr-FR" sz="920" b="1" dirty="0">
                <a:solidFill>
                  <a:srgbClr val="976F1D"/>
                </a:solidFill>
                <a:latin typeface="Arial" panose="020B0604020202020204" pitchFamily="34" charset="0"/>
              </a:rPr>
              <a:t>TARGET TRANSLATION</a:t>
            </a:r>
          </a:p>
        </p:txBody>
      </p:sp>
      <p:sp>
        <p:nvSpPr>
          <p:cNvPr id="27" name="ZoneTexte 26">
            <a:extLst>
              <a:ext uri="{FF2B5EF4-FFF2-40B4-BE49-F238E27FC236}">
                <a16:creationId xmlns:a16="http://schemas.microsoft.com/office/drawing/2014/main" id="{5CC40BC3-593A-0462-69B4-F019970821DB}"/>
              </a:ext>
            </a:extLst>
          </p:cNvPr>
          <p:cNvSpPr txBox="1"/>
          <p:nvPr/>
        </p:nvSpPr>
        <p:spPr>
          <a:xfrm>
            <a:off x="4953000" y="1651000"/>
            <a:ext cx="3556000" cy="215444"/>
          </a:xfrm>
          <a:prstGeom prst="rect">
            <a:avLst/>
          </a:prstGeom>
          <a:noFill/>
        </p:spPr>
        <p:txBody>
          <a:bodyPr vert="horz" wrap="square" lIns="0" tIns="0" rIns="0" bIns="0" rtlCol="0">
            <a:noAutofit/>
          </a:bodyPr>
          <a:lstStyle/>
          <a:p>
            <a:r>
              <a:rPr lang="fr-FR" sz="1000" dirty="0">
                <a:solidFill>
                  <a:srgbClr val="1C1F25"/>
                </a:solidFill>
                <a:latin typeface="Arial" panose="020B0604020202020204" pitchFamily="34" charset="0"/>
              </a:rPr>
              <a:t>mareme </a:t>
            </a:r>
            <a:r>
              <a:rPr lang="fr-FR" sz="1000" dirty="0" err="1">
                <a:solidFill>
                  <a:srgbClr val="1C1F25"/>
                </a:solidFill>
                <a:latin typeface="Arial" panose="020B0604020202020204" pitchFamily="34" charset="0"/>
              </a:rPr>
              <a:t>thiam</a:t>
            </a:r>
            <a:r>
              <a:rPr lang="fr-FR" sz="1000" dirty="0">
                <a:solidFill>
                  <a:srgbClr val="1C1F25"/>
                </a:solidFill>
                <a:latin typeface="Arial" panose="020B0604020202020204" pitchFamily="34" charset="0"/>
              </a:rPr>
              <a:t> au final, que veux-tu ?</a:t>
            </a:r>
          </a:p>
        </p:txBody>
      </p:sp>
      <p:sp>
        <p:nvSpPr>
          <p:cNvPr id="28" name="ZoneTexte 27">
            <a:extLst>
              <a:ext uri="{FF2B5EF4-FFF2-40B4-BE49-F238E27FC236}">
                <a16:creationId xmlns:a16="http://schemas.microsoft.com/office/drawing/2014/main" id="{18672B82-C502-B848-F257-1BE7721E5C60}"/>
              </a:ext>
            </a:extLst>
          </p:cNvPr>
          <p:cNvSpPr txBox="1"/>
          <p:nvPr/>
        </p:nvSpPr>
        <p:spPr>
          <a:xfrm>
            <a:off x="584358" y="2490971"/>
            <a:ext cx="8051800" cy="215444"/>
          </a:xfrm>
          <a:prstGeom prst="rect">
            <a:avLst/>
          </a:prstGeom>
          <a:noFill/>
        </p:spPr>
        <p:txBody>
          <a:bodyPr vert="horz" wrap="square" lIns="0" tIns="0" rIns="0" bIns="0" rtlCol="0">
            <a:noAutofit/>
          </a:bodyPr>
          <a:lstStyle/>
          <a:p>
            <a:pPr algn="ctr"/>
            <a:r>
              <a:rPr lang="fr-FR" sz="820" b="1" dirty="0">
                <a:solidFill>
                  <a:srgbClr val="0E2F46"/>
                </a:solidFill>
                <a:latin typeface="Arial" panose="020B0604020202020204" pitchFamily="34" charset="0"/>
              </a:rPr>
              <a:t>GOOGLE TRANSLATE</a:t>
            </a:r>
          </a:p>
        </p:txBody>
      </p:sp>
      <p:sp>
        <p:nvSpPr>
          <p:cNvPr id="30" name="ZoneTexte 29">
            <a:extLst>
              <a:ext uri="{FF2B5EF4-FFF2-40B4-BE49-F238E27FC236}">
                <a16:creationId xmlns:a16="http://schemas.microsoft.com/office/drawing/2014/main" id="{3A21AF40-7E17-5885-FB4D-B61668960CA2}"/>
              </a:ext>
            </a:extLst>
          </p:cNvPr>
          <p:cNvSpPr txBox="1"/>
          <p:nvPr/>
        </p:nvSpPr>
        <p:spPr>
          <a:xfrm>
            <a:off x="673100" y="2708953"/>
            <a:ext cx="3517900" cy="215444"/>
          </a:xfrm>
          <a:prstGeom prst="rect">
            <a:avLst/>
          </a:prstGeom>
          <a:noFill/>
        </p:spPr>
        <p:txBody>
          <a:bodyPr vert="horz" wrap="square" lIns="0" tIns="0" rIns="0" bIns="0" rtlCol="0">
            <a:noAutofit/>
          </a:bodyPr>
          <a:lstStyle/>
          <a:p>
            <a:pPr algn="ctr"/>
            <a:r>
              <a:rPr lang="fr-FR" sz="850" b="1" dirty="0">
                <a:solidFill>
                  <a:srgbClr val="0E2F46"/>
                </a:solidFill>
                <a:latin typeface="Arial" panose="020B0604020202020204" pitchFamily="34" charset="0"/>
              </a:rPr>
              <a:t>FORMAL → FRENCH</a:t>
            </a:r>
          </a:p>
        </p:txBody>
      </p:sp>
      <p:sp>
        <p:nvSpPr>
          <p:cNvPr id="33" name="ZoneTexte 32">
            <a:extLst>
              <a:ext uri="{FF2B5EF4-FFF2-40B4-BE49-F238E27FC236}">
                <a16:creationId xmlns:a16="http://schemas.microsoft.com/office/drawing/2014/main" id="{AC5799CD-762D-0414-1B82-72FFD5D6D9D0}"/>
              </a:ext>
            </a:extLst>
          </p:cNvPr>
          <p:cNvSpPr txBox="1"/>
          <p:nvPr/>
        </p:nvSpPr>
        <p:spPr>
          <a:xfrm>
            <a:off x="5058586" y="2752554"/>
            <a:ext cx="3517900" cy="215444"/>
          </a:xfrm>
          <a:prstGeom prst="rect">
            <a:avLst/>
          </a:prstGeom>
          <a:noFill/>
        </p:spPr>
        <p:txBody>
          <a:bodyPr vert="horz" wrap="square" lIns="0" tIns="0" rIns="0" bIns="0" rtlCol="0">
            <a:noAutofit/>
          </a:bodyPr>
          <a:lstStyle/>
          <a:p>
            <a:pPr algn="ctr"/>
            <a:r>
              <a:rPr lang="fr-FR" sz="850" b="1" dirty="0">
                <a:solidFill>
                  <a:srgbClr val="0E2F46"/>
                </a:solidFill>
                <a:latin typeface="Arial" panose="020B0604020202020204" pitchFamily="34" charset="0"/>
              </a:rPr>
              <a:t>INFORMAL CODE-SWITCHED → FRENCH</a:t>
            </a:r>
          </a:p>
        </p:txBody>
      </p:sp>
      <p:sp>
        <p:nvSpPr>
          <p:cNvPr id="35" name="ZoneTexte 34">
            <a:extLst>
              <a:ext uri="{FF2B5EF4-FFF2-40B4-BE49-F238E27FC236}">
                <a16:creationId xmlns:a16="http://schemas.microsoft.com/office/drawing/2014/main" id="{08AD5093-90FF-A30A-60EF-A8F20E4DBF0E}"/>
              </a:ext>
            </a:extLst>
          </p:cNvPr>
          <p:cNvSpPr txBox="1"/>
          <p:nvPr/>
        </p:nvSpPr>
        <p:spPr>
          <a:xfrm>
            <a:off x="546100" y="3571473"/>
            <a:ext cx="8051800" cy="215444"/>
          </a:xfrm>
          <a:prstGeom prst="rect">
            <a:avLst/>
          </a:prstGeom>
          <a:noFill/>
        </p:spPr>
        <p:txBody>
          <a:bodyPr vert="horz" wrap="square" lIns="0" tIns="0" rIns="0" bIns="0" rtlCol="0">
            <a:noAutofit/>
          </a:bodyPr>
          <a:lstStyle/>
          <a:p>
            <a:pPr algn="ctr"/>
            <a:r>
              <a:rPr lang="fr-FR" sz="820" b="1" dirty="0">
                <a:solidFill>
                  <a:srgbClr val="976F1D"/>
                </a:solidFill>
                <a:latin typeface="Arial" panose="020B0604020202020204" pitchFamily="34" charset="0"/>
              </a:rPr>
              <a:t>DEEPL</a:t>
            </a:r>
          </a:p>
        </p:txBody>
      </p:sp>
      <p:sp>
        <p:nvSpPr>
          <p:cNvPr id="37" name="ZoneTexte 36">
            <a:extLst>
              <a:ext uri="{FF2B5EF4-FFF2-40B4-BE49-F238E27FC236}">
                <a16:creationId xmlns:a16="http://schemas.microsoft.com/office/drawing/2014/main" id="{8CAFAA84-BC1E-6BEF-2AC8-A0C579F0489B}"/>
              </a:ext>
            </a:extLst>
          </p:cNvPr>
          <p:cNvSpPr txBox="1"/>
          <p:nvPr/>
        </p:nvSpPr>
        <p:spPr>
          <a:xfrm>
            <a:off x="552450" y="3814560"/>
            <a:ext cx="3517900" cy="215444"/>
          </a:xfrm>
          <a:prstGeom prst="rect">
            <a:avLst/>
          </a:prstGeom>
          <a:noFill/>
        </p:spPr>
        <p:txBody>
          <a:bodyPr vert="horz" wrap="square" lIns="0" tIns="0" rIns="0" bIns="0" rtlCol="0">
            <a:noAutofit/>
          </a:bodyPr>
          <a:lstStyle/>
          <a:p>
            <a:pPr algn="ctr"/>
            <a:r>
              <a:rPr lang="fr-FR" sz="850" b="1" dirty="0">
                <a:solidFill>
                  <a:srgbClr val="976F1D"/>
                </a:solidFill>
                <a:latin typeface="Arial" panose="020B0604020202020204" pitchFamily="34" charset="0"/>
              </a:rPr>
              <a:t>FORMAL → FRENCH</a:t>
            </a:r>
          </a:p>
        </p:txBody>
      </p:sp>
      <p:sp>
        <p:nvSpPr>
          <p:cNvPr id="40" name="ZoneTexte 39">
            <a:extLst>
              <a:ext uri="{FF2B5EF4-FFF2-40B4-BE49-F238E27FC236}">
                <a16:creationId xmlns:a16="http://schemas.microsoft.com/office/drawing/2014/main" id="{0A14D043-704B-159E-6304-3C63BDFCBC49}"/>
              </a:ext>
            </a:extLst>
          </p:cNvPr>
          <p:cNvSpPr txBox="1"/>
          <p:nvPr/>
        </p:nvSpPr>
        <p:spPr>
          <a:xfrm>
            <a:off x="4901485" y="3788720"/>
            <a:ext cx="3517900" cy="215444"/>
          </a:xfrm>
          <a:prstGeom prst="rect">
            <a:avLst/>
          </a:prstGeom>
          <a:noFill/>
        </p:spPr>
        <p:txBody>
          <a:bodyPr vert="horz" wrap="square" lIns="0" tIns="0" rIns="0" bIns="0" rtlCol="0">
            <a:noAutofit/>
          </a:bodyPr>
          <a:lstStyle/>
          <a:p>
            <a:pPr algn="ctr"/>
            <a:r>
              <a:rPr lang="fr-FR" sz="850" b="1" dirty="0">
                <a:solidFill>
                  <a:srgbClr val="976F1D"/>
                </a:solidFill>
                <a:latin typeface="Arial" panose="020B0604020202020204" pitchFamily="34" charset="0"/>
              </a:rPr>
              <a:t>INFORMAL CODE-SWITCHED → FRENCH</a:t>
            </a:r>
          </a:p>
        </p:txBody>
      </p:sp>
      <p:sp>
        <p:nvSpPr>
          <p:cNvPr id="42" name="ZoneTexte 41">
            <a:extLst>
              <a:ext uri="{FF2B5EF4-FFF2-40B4-BE49-F238E27FC236}">
                <a16:creationId xmlns:a16="http://schemas.microsoft.com/office/drawing/2014/main" id="{7712626C-B7C0-8EDB-A03C-A50743DF91EE}"/>
              </a:ext>
            </a:extLst>
          </p:cNvPr>
          <p:cNvSpPr txBox="1"/>
          <p:nvPr/>
        </p:nvSpPr>
        <p:spPr>
          <a:xfrm>
            <a:off x="997729" y="4555495"/>
            <a:ext cx="6985000" cy="215444"/>
          </a:xfrm>
          <a:prstGeom prst="rect">
            <a:avLst/>
          </a:prstGeom>
          <a:noFill/>
        </p:spPr>
        <p:txBody>
          <a:bodyPr vert="horz" wrap="square" lIns="0" tIns="0" rIns="0" bIns="0" rtlCol="0">
            <a:noAutofit/>
          </a:bodyPr>
          <a:lstStyle/>
          <a:p>
            <a:pPr algn="ctr"/>
            <a:r>
              <a:rPr lang="en-US" sz="900" b="1" i="1" dirty="0">
                <a:solidFill>
                  <a:srgbClr val="0E2F46"/>
                </a:solidFill>
                <a:latin typeface="Arial" panose="020B0604020202020204" pitchFamily="34" charset="0"/>
              </a:rPr>
              <a:t>Same task and meaning; spelling and language mixing change the system response.</a:t>
            </a:r>
            <a:endParaRPr lang="fr-FR" sz="900" b="1" i="1" dirty="0">
              <a:solidFill>
                <a:srgbClr val="0E2F46"/>
              </a:solidFill>
              <a:latin typeface="Arial" panose="020B0604020202020204" pitchFamily="34" charset="0"/>
            </a:endParaRPr>
          </a:p>
        </p:txBody>
      </p:sp>
      <p:sp>
        <p:nvSpPr>
          <p:cNvPr id="10" name="ZoneTexte 9">
            <a:extLst>
              <a:ext uri="{FF2B5EF4-FFF2-40B4-BE49-F238E27FC236}">
                <a16:creationId xmlns:a16="http://schemas.microsoft.com/office/drawing/2014/main" id="{375E842E-36AD-310B-3690-B97465354118}"/>
              </a:ext>
            </a:extLst>
          </p:cNvPr>
          <p:cNvSpPr txBox="1"/>
          <p:nvPr/>
        </p:nvSpPr>
        <p:spPr>
          <a:xfrm>
            <a:off x="654050" y="1809978"/>
            <a:ext cx="3556000" cy="215444"/>
          </a:xfrm>
          <a:prstGeom prst="rect">
            <a:avLst/>
          </a:prstGeom>
          <a:noFill/>
        </p:spPr>
        <p:txBody>
          <a:bodyPr vert="horz" wrap="square" lIns="0" tIns="0" rIns="0" bIns="0" rtlCol="0">
            <a:noAutofit/>
          </a:bodyPr>
          <a:lstStyle/>
          <a:p>
            <a:r>
              <a:rPr lang="fr-FR" sz="920" b="1" dirty="0">
                <a:solidFill>
                  <a:srgbClr val="0E2F46"/>
                </a:solidFill>
                <a:latin typeface="Arial" panose="020B0604020202020204" pitchFamily="34" charset="0"/>
              </a:rPr>
              <a:t>FORMAL INPUT</a:t>
            </a:r>
          </a:p>
          <a:p>
            <a:r>
              <a:rPr lang="en-US" sz="1000" dirty="0">
                <a:solidFill>
                  <a:srgbClr val="1C1F25"/>
                </a:solidFill>
                <a:latin typeface="Arial" panose="020B0604020202020204" pitchFamily="34" charset="0"/>
              </a:rPr>
              <a:t>mareme thiam à la fin lan </a:t>
            </a:r>
            <a:r>
              <a:rPr lang="en-US" sz="1000" dirty="0" err="1">
                <a:solidFill>
                  <a:srgbClr val="1C1F25"/>
                </a:solidFill>
                <a:latin typeface="Arial" panose="020B0604020202020204" pitchFamily="34" charset="0"/>
              </a:rPr>
              <a:t>nga</a:t>
            </a:r>
            <a:r>
              <a:rPr lang="en-US" sz="1000" dirty="0">
                <a:solidFill>
                  <a:srgbClr val="1C1F25"/>
                </a:solidFill>
                <a:latin typeface="Arial" panose="020B0604020202020204" pitchFamily="34" charset="0"/>
              </a:rPr>
              <a:t> bëgg</a:t>
            </a:r>
            <a:endParaRPr lang="fr-FR" sz="920" b="1" dirty="0">
              <a:solidFill>
                <a:srgbClr val="0E2F46"/>
              </a:solidFill>
              <a:latin typeface="Arial" panose="020B0604020202020204" pitchFamily="34" charset="0"/>
            </a:endParaRPr>
          </a:p>
        </p:txBody>
      </p:sp>
      <p:grpSp>
        <p:nvGrpSpPr>
          <p:cNvPr id="15" name="Groupe 14">
            <a:extLst>
              <a:ext uri="{FF2B5EF4-FFF2-40B4-BE49-F238E27FC236}">
                <a16:creationId xmlns:a16="http://schemas.microsoft.com/office/drawing/2014/main" id="{35F8977F-C1E0-49C1-3CB1-148D6D04AA3F}"/>
              </a:ext>
            </a:extLst>
          </p:cNvPr>
          <p:cNvGrpSpPr/>
          <p:nvPr/>
        </p:nvGrpSpPr>
        <p:grpSpPr>
          <a:xfrm>
            <a:off x="1200150" y="2942883"/>
            <a:ext cx="2691686" cy="276051"/>
            <a:chOff x="965915" y="2765012"/>
            <a:chExt cx="2691686" cy="276051"/>
          </a:xfrm>
        </p:grpSpPr>
        <p:sp>
          <p:nvSpPr>
            <p:cNvPr id="14" name="Rectangle 13">
              <a:extLst>
                <a:ext uri="{FF2B5EF4-FFF2-40B4-BE49-F238E27FC236}">
                  <a16:creationId xmlns:a16="http://schemas.microsoft.com/office/drawing/2014/main" id="{C1008350-83FA-20B3-D4D8-42965C4CD362}"/>
                </a:ext>
              </a:extLst>
            </p:cNvPr>
            <p:cNvSpPr/>
            <p:nvPr/>
          </p:nvSpPr>
          <p:spPr>
            <a:xfrm>
              <a:off x="965915" y="2765012"/>
              <a:ext cx="2691686" cy="276051"/>
            </a:xfrm>
            <a:prstGeom prst="rect">
              <a:avLst/>
            </a:prstGeom>
            <a:solidFill>
              <a:srgbClr val="92D050"/>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A71FBF42-C4A7-88D6-E44A-493541226E96}"/>
                </a:ext>
              </a:extLst>
            </p:cNvPr>
            <p:cNvSpPr txBox="1"/>
            <p:nvPr/>
          </p:nvSpPr>
          <p:spPr>
            <a:xfrm>
              <a:off x="1079500" y="2779453"/>
              <a:ext cx="2520145" cy="261610"/>
            </a:xfrm>
            <a:prstGeom prst="rect">
              <a:avLst/>
            </a:prstGeom>
            <a:noFill/>
          </p:spPr>
          <p:txBody>
            <a:bodyPr wrap="square">
              <a:spAutoFit/>
            </a:bodyPr>
            <a:lstStyle/>
            <a:p>
              <a:r>
                <a:rPr lang="fr-FR" sz="1100" dirty="0"/>
                <a:t>mareme </a:t>
              </a:r>
              <a:r>
                <a:rPr lang="fr-FR" sz="1100" dirty="0" err="1"/>
                <a:t>thiam</a:t>
              </a:r>
              <a:r>
                <a:rPr lang="fr-FR" sz="1100" dirty="0"/>
                <a:t> au final, que veux-tu ?</a:t>
              </a:r>
            </a:p>
          </p:txBody>
        </p:sp>
      </p:grpSp>
      <p:grpSp>
        <p:nvGrpSpPr>
          <p:cNvPr id="17" name="Groupe 16">
            <a:extLst>
              <a:ext uri="{FF2B5EF4-FFF2-40B4-BE49-F238E27FC236}">
                <a16:creationId xmlns:a16="http://schemas.microsoft.com/office/drawing/2014/main" id="{B0133241-F972-58A0-B370-B1DADE7B0C9C}"/>
              </a:ext>
            </a:extLst>
          </p:cNvPr>
          <p:cNvGrpSpPr/>
          <p:nvPr/>
        </p:nvGrpSpPr>
        <p:grpSpPr>
          <a:xfrm>
            <a:off x="956705" y="4117633"/>
            <a:ext cx="3178575" cy="276051"/>
            <a:chOff x="965915" y="2765012"/>
            <a:chExt cx="2691686" cy="276051"/>
          </a:xfrm>
        </p:grpSpPr>
        <p:sp>
          <p:nvSpPr>
            <p:cNvPr id="18" name="Rectangle 17">
              <a:extLst>
                <a:ext uri="{FF2B5EF4-FFF2-40B4-BE49-F238E27FC236}">
                  <a16:creationId xmlns:a16="http://schemas.microsoft.com/office/drawing/2014/main" id="{795F4E16-D631-50F7-16FC-C33AF9471FBA}"/>
                </a:ext>
              </a:extLst>
            </p:cNvPr>
            <p:cNvSpPr/>
            <p:nvPr/>
          </p:nvSpPr>
          <p:spPr>
            <a:xfrm>
              <a:off x="965915" y="2765012"/>
              <a:ext cx="2691686" cy="276051"/>
            </a:xfrm>
            <a:prstGeom prst="rect">
              <a:avLst/>
            </a:prstGeom>
            <a:solidFill>
              <a:srgbClr val="92D050"/>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B515C018-D520-8F0B-807D-DE793E8F1324}"/>
                </a:ext>
              </a:extLst>
            </p:cNvPr>
            <p:cNvSpPr txBox="1"/>
            <p:nvPr/>
          </p:nvSpPr>
          <p:spPr>
            <a:xfrm>
              <a:off x="965916" y="2779453"/>
              <a:ext cx="2691685" cy="261610"/>
            </a:xfrm>
            <a:prstGeom prst="rect">
              <a:avLst/>
            </a:prstGeom>
            <a:noFill/>
          </p:spPr>
          <p:txBody>
            <a:bodyPr wrap="square">
              <a:spAutoFit/>
            </a:bodyPr>
            <a:lstStyle/>
            <a:p>
              <a:r>
                <a:rPr lang="fr-FR" sz="1100" dirty="0"/>
                <a:t>Mareme Thiam, au fond, qu'est-ce que tu veux ?</a:t>
              </a:r>
            </a:p>
          </p:txBody>
        </p:sp>
      </p:grpSp>
      <p:grpSp>
        <p:nvGrpSpPr>
          <p:cNvPr id="22" name="Groupe 21">
            <a:extLst>
              <a:ext uri="{FF2B5EF4-FFF2-40B4-BE49-F238E27FC236}">
                <a16:creationId xmlns:a16="http://schemas.microsoft.com/office/drawing/2014/main" id="{7DCAFD92-5E1A-832F-6C4D-4BC6AF16226D}"/>
              </a:ext>
            </a:extLst>
          </p:cNvPr>
          <p:cNvGrpSpPr/>
          <p:nvPr/>
        </p:nvGrpSpPr>
        <p:grpSpPr>
          <a:xfrm>
            <a:off x="5008722" y="4139456"/>
            <a:ext cx="3682999" cy="614605"/>
            <a:chOff x="965915" y="2765012"/>
            <a:chExt cx="2691686" cy="614605"/>
          </a:xfrm>
        </p:grpSpPr>
        <p:sp>
          <p:nvSpPr>
            <p:cNvPr id="23" name="Rectangle 22">
              <a:extLst>
                <a:ext uri="{FF2B5EF4-FFF2-40B4-BE49-F238E27FC236}">
                  <a16:creationId xmlns:a16="http://schemas.microsoft.com/office/drawing/2014/main" id="{DE1CA128-74B6-C5C4-13CF-947B6CECA645}"/>
                </a:ext>
              </a:extLst>
            </p:cNvPr>
            <p:cNvSpPr/>
            <p:nvPr/>
          </p:nvSpPr>
          <p:spPr>
            <a:xfrm>
              <a:off x="965915" y="2765012"/>
              <a:ext cx="2691686" cy="276051"/>
            </a:xfrm>
            <a:prstGeom prst="rect">
              <a:avLst/>
            </a:prstGeom>
            <a:solidFill>
              <a:srgbClr val="FF0000"/>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06D9F277-7DB6-AEA7-F8B5-6D8A388B98F9}"/>
                </a:ext>
              </a:extLst>
            </p:cNvPr>
            <p:cNvSpPr txBox="1"/>
            <p:nvPr/>
          </p:nvSpPr>
          <p:spPr>
            <a:xfrm>
              <a:off x="1079500" y="2779453"/>
              <a:ext cx="2520145" cy="600164"/>
            </a:xfrm>
            <a:prstGeom prst="rect">
              <a:avLst/>
            </a:prstGeom>
            <a:noFill/>
          </p:spPr>
          <p:txBody>
            <a:bodyPr wrap="square">
              <a:spAutoFit/>
            </a:bodyPr>
            <a:lstStyle/>
            <a:p>
              <a:r>
                <a:rPr lang="fr-FR" sz="1100" dirty="0"/>
                <a:t>Mareme Thiam, à la fin, la phrase est incohérente. </a:t>
              </a:r>
            </a:p>
            <a:p>
              <a:endParaRPr lang="fr-FR" sz="1100" dirty="0"/>
            </a:p>
          </p:txBody>
        </p:sp>
      </p:grpSp>
      <p:grpSp>
        <p:nvGrpSpPr>
          <p:cNvPr id="44" name="Groupe 43">
            <a:extLst>
              <a:ext uri="{FF2B5EF4-FFF2-40B4-BE49-F238E27FC236}">
                <a16:creationId xmlns:a16="http://schemas.microsoft.com/office/drawing/2014/main" id="{4712D41B-2255-C95B-0CE0-09FFAED52545}"/>
              </a:ext>
            </a:extLst>
          </p:cNvPr>
          <p:cNvGrpSpPr/>
          <p:nvPr/>
        </p:nvGrpSpPr>
        <p:grpSpPr>
          <a:xfrm>
            <a:off x="5366107" y="2981127"/>
            <a:ext cx="2691686" cy="276051"/>
            <a:chOff x="965915" y="2765012"/>
            <a:chExt cx="2691686" cy="276051"/>
          </a:xfrm>
        </p:grpSpPr>
        <p:sp>
          <p:nvSpPr>
            <p:cNvPr id="45" name="Rectangle 44">
              <a:extLst>
                <a:ext uri="{FF2B5EF4-FFF2-40B4-BE49-F238E27FC236}">
                  <a16:creationId xmlns:a16="http://schemas.microsoft.com/office/drawing/2014/main" id="{A5B5BE2E-EB8F-C10B-2953-8DD83FF30860}"/>
                </a:ext>
              </a:extLst>
            </p:cNvPr>
            <p:cNvSpPr/>
            <p:nvPr/>
          </p:nvSpPr>
          <p:spPr>
            <a:xfrm>
              <a:off x="965915" y="2765012"/>
              <a:ext cx="2691686" cy="276051"/>
            </a:xfrm>
            <a:prstGeom prst="rect">
              <a:avLst/>
            </a:prstGeom>
            <a:solidFill>
              <a:srgbClr val="FF3300"/>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C91E22BF-73E1-204D-313A-0C61F86AF632}"/>
                </a:ext>
              </a:extLst>
            </p:cNvPr>
            <p:cNvSpPr txBox="1"/>
            <p:nvPr/>
          </p:nvSpPr>
          <p:spPr>
            <a:xfrm>
              <a:off x="1079500" y="2779453"/>
              <a:ext cx="2520145" cy="261610"/>
            </a:xfrm>
            <a:prstGeom prst="rect">
              <a:avLst/>
            </a:prstGeom>
            <a:noFill/>
          </p:spPr>
          <p:txBody>
            <a:bodyPr wrap="square">
              <a:spAutoFit/>
            </a:bodyPr>
            <a:lstStyle/>
            <a:p>
              <a:r>
                <a:rPr lang="fr-FR" sz="1100" dirty="0"/>
                <a:t>marée </a:t>
              </a:r>
              <a:r>
                <a:rPr lang="fr-FR" sz="1100" dirty="0" err="1"/>
                <a:t>thiam</a:t>
              </a:r>
              <a:r>
                <a:rPr lang="fr-FR" sz="1100" dirty="0"/>
                <a:t> à la fin lanegua veut</a:t>
              </a:r>
            </a:p>
          </p:txBody>
        </p:sp>
      </p:grpSp>
      <p:sp>
        <p:nvSpPr>
          <p:cNvPr id="9" name="Rectangle 8">
            <a:extLst>
              <a:ext uri="{FF2B5EF4-FFF2-40B4-BE49-F238E27FC236}">
                <a16:creationId xmlns:a16="http://schemas.microsoft.com/office/drawing/2014/main" id="{F7BA0EA5-4F05-3E13-4D64-F66648FBE2BA}"/>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5E2E335B-B163-E9C4-D6E2-22777758E954}"/>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F69D6610-17AE-C148-589C-D63225C415D6}"/>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Context</a:t>
            </a:r>
          </a:p>
        </p:txBody>
      </p:sp>
      <p:sp>
        <p:nvSpPr>
          <p:cNvPr id="4" name="ZoneTexte 3">
            <a:extLst>
              <a:ext uri="{FF2B5EF4-FFF2-40B4-BE49-F238E27FC236}">
                <a16:creationId xmlns:a16="http://schemas.microsoft.com/office/drawing/2014/main" id="{898448A9-0873-380F-AA14-1A8F5E81284D}"/>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Informality and code-switching can alter translation</a:t>
            </a:r>
            <a:endParaRPr lang="fr-FR" sz="1900" b="1">
              <a:solidFill>
                <a:srgbClr val="57658D"/>
              </a:solidFill>
              <a:latin typeface="Arial" panose="020B0604020202020204" pitchFamily="34" charset="0"/>
            </a:endParaRPr>
          </a:p>
        </p:txBody>
      </p:sp>
      <p:sp>
        <p:nvSpPr>
          <p:cNvPr id="29" name="ZoneTexte 28">
            <a:extLst>
              <a:ext uri="{FF2B5EF4-FFF2-40B4-BE49-F238E27FC236}">
                <a16:creationId xmlns:a16="http://schemas.microsoft.com/office/drawing/2014/main" id="{790AE87F-46C6-36D4-B4F3-8E6E35BC92E0}"/>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31" name="ZoneTexte 30">
            <a:extLst>
              <a:ext uri="{FF2B5EF4-FFF2-40B4-BE49-F238E27FC236}">
                <a16:creationId xmlns:a16="http://schemas.microsoft.com/office/drawing/2014/main" id="{A1DBD8A1-0F52-8145-EBD7-B93E2AAD3002}"/>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Motivation</a:t>
            </a:r>
          </a:p>
        </p:txBody>
      </p:sp>
      <p:sp>
        <p:nvSpPr>
          <p:cNvPr id="32" name="ZoneTexte 31">
            <a:extLst>
              <a:ext uri="{FF2B5EF4-FFF2-40B4-BE49-F238E27FC236}">
                <a16:creationId xmlns:a16="http://schemas.microsoft.com/office/drawing/2014/main" id="{B05EE66B-77C5-1316-88D4-4EEB4BF052B8}"/>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 / 36</a:t>
            </a:r>
          </a:p>
        </p:txBody>
      </p:sp>
      <p:pic>
        <p:nvPicPr>
          <p:cNvPr id="36" name="Image 35">
            <a:extLst>
              <a:ext uri="{FF2B5EF4-FFF2-40B4-BE49-F238E27FC236}">
                <a16:creationId xmlns:a16="http://schemas.microsoft.com/office/drawing/2014/main" id="{B24646B4-58BB-59B0-6CF9-90B2C3FA0759}"/>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742551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E710D541-2434-ECAE-39B1-26CD7666FA62}"/>
              </a:ext>
            </a:extLst>
          </p:cNvPr>
          <p:cNvSpPr/>
          <p:nvPr/>
        </p:nvSpPr>
        <p:spPr>
          <a:xfrm>
            <a:off x="546100" y="317500"/>
            <a:ext cx="1587500" cy="292100"/>
          </a:xfrm>
          <a:prstGeom prst="round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DB2DA6C-36E2-D6A5-77F9-A59A3F05D407}"/>
              </a:ext>
            </a:extLst>
          </p:cNvPr>
          <p:cNvSpPr txBox="1"/>
          <p:nvPr/>
        </p:nvSpPr>
        <p:spPr>
          <a:xfrm>
            <a:off x="546100" y="381000"/>
            <a:ext cx="1587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STATE OF THE ART</a:t>
            </a:r>
          </a:p>
        </p:txBody>
      </p:sp>
      <p:sp>
        <p:nvSpPr>
          <p:cNvPr id="4" name="ZoneTexte 3">
            <a:extLst>
              <a:ext uri="{FF2B5EF4-FFF2-40B4-BE49-F238E27FC236}">
                <a16:creationId xmlns:a16="http://schemas.microsoft.com/office/drawing/2014/main" id="{BE08F7C9-4247-363E-31BF-ED3BEF63742C}"/>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700" b="1" dirty="0">
                <a:solidFill>
                  <a:srgbClr val="57658D"/>
                </a:solidFill>
                <a:latin typeface="Arial" panose="020B0604020202020204" pitchFamily="34" charset="0"/>
              </a:rPr>
              <a:t>The two closest precedents</a:t>
            </a:r>
            <a:endParaRPr lang="fr-FR" sz="1700" b="1" dirty="0">
              <a:solidFill>
                <a:srgbClr val="57658D"/>
              </a:solidFill>
              <a:latin typeface="Arial" panose="020B0604020202020204" pitchFamily="34" charset="0"/>
            </a:endParaRPr>
          </a:p>
        </p:txBody>
      </p:sp>
      <p:sp>
        <p:nvSpPr>
          <p:cNvPr id="9" name="Rectangle 8">
            <a:extLst>
              <a:ext uri="{FF2B5EF4-FFF2-40B4-BE49-F238E27FC236}">
                <a16:creationId xmlns:a16="http://schemas.microsoft.com/office/drawing/2014/main" id="{95F3D645-565C-68D8-8DC6-5D5694C4E4F1}"/>
              </a:ext>
            </a:extLst>
          </p:cNvPr>
          <p:cNvSpPr/>
          <p:nvPr/>
        </p:nvSpPr>
        <p:spPr>
          <a:xfrm>
            <a:off x="609600" y="1460500"/>
            <a:ext cx="3683000" cy="18415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1D8D125-C8B6-5A4A-844C-9C80F9DA78C8}"/>
              </a:ext>
            </a:extLst>
          </p:cNvPr>
          <p:cNvSpPr/>
          <p:nvPr/>
        </p:nvSpPr>
        <p:spPr>
          <a:xfrm>
            <a:off x="609600" y="1460500"/>
            <a:ext cx="36830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811E6828-CE0D-D955-1293-45BCB21A76A0}"/>
              </a:ext>
            </a:extLst>
          </p:cNvPr>
          <p:cNvSpPr txBox="1"/>
          <p:nvPr/>
        </p:nvSpPr>
        <p:spPr>
          <a:xfrm>
            <a:off x="749300" y="1587500"/>
            <a:ext cx="3403600" cy="215444"/>
          </a:xfrm>
          <a:prstGeom prst="rect">
            <a:avLst/>
          </a:prstGeom>
          <a:noFill/>
        </p:spPr>
        <p:txBody>
          <a:bodyPr vert="horz" wrap="square" lIns="0" tIns="0" rIns="0" bIns="0" rtlCol="0">
            <a:noAutofit/>
          </a:bodyPr>
          <a:lstStyle/>
          <a:p>
            <a:r>
              <a:rPr lang="fr-FR" sz="1150" b="1">
                <a:solidFill>
                  <a:srgbClr val="976F1D"/>
                </a:solidFill>
                <a:latin typeface="Arial" panose="020B0604020202020204" pitchFamily="34" charset="0"/>
              </a:rPr>
              <a:t>BEQI</a:t>
            </a:r>
          </a:p>
        </p:txBody>
      </p:sp>
      <p:sp>
        <p:nvSpPr>
          <p:cNvPr id="12" name="ZoneTexte 11">
            <a:extLst>
              <a:ext uri="{FF2B5EF4-FFF2-40B4-BE49-F238E27FC236}">
                <a16:creationId xmlns:a16="http://schemas.microsoft.com/office/drawing/2014/main" id="{9F90A3AE-FC9C-8D16-1276-F6604A30EAF1}"/>
              </a:ext>
            </a:extLst>
          </p:cNvPr>
          <p:cNvSpPr txBox="1"/>
          <p:nvPr/>
        </p:nvSpPr>
        <p:spPr>
          <a:xfrm>
            <a:off x="749300" y="1866900"/>
            <a:ext cx="34036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Wolof spelling correction combining linguistic knowledge and neural modeling. It motivates M1's transparent Wolof-specific orthographic rules.</a:t>
            </a:r>
            <a:endParaRPr lang="fr-FR" sz="920">
              <a:solidFill>
                <a:srgbClr val="1C1F25"/>
              </a:solidFill>
              <a:latin typeface="Arial" panose="020B0604020202020204" pitchFamily="34" charset="0"/>
            </a:endParaRPr>
          </a:p>
        </p:txBody>
      </p:sp>
      <p:sp>
        <p:nvSpPr>
          <p:cNvPr id="13" name="Rectangle 12">
            <a:extLst>
              <a:ext uri="{FF2B5EF4-FFF2-40B4-BE49-F238E27FC236}">
                <a16:creationId xmlns:a16="http://schemas.microsoft.com/office/drawing/2014/main" id="{7E2F388D-25CE-C0E8-445F-E7A80949E1D0}"/>
              </a:ext>
            </a:extLst>
          </p:cNvPr>
          <p:cNvSpPr/>
          <p:nvPr/>
        </p:nvSpPr>
        <p:spPr>
          <a:xfrm>
            <a:off x="4851400" y="1460500"/>
            <a:ext cx="3683000" cy="18415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C57D8A4B-6B57-A579-C8E2-C6BE9447C543}"/>
              </a:ext>
            </a:extLst>
          </p:cNvPr>
          <p:cNvSpPr/>
          <p:nvPr/>
        </p:nvSpPr>
        <p:spPr>
          <a:xfrm>
            <a:off x="4851400" y="1460500"/>
            <a:ext cx="3683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91D7A2B1-5091-9E0A-55D4-99E99D7AEB12}"/>
              </a:ext>
            </a:extLst>
          </p:cNvPr>
          <p:cNvSpPr txBox="1"/>
          <p:nvPr/>
        </p:nvSpPr>
        <p:spPr>
          <a:xfrm>
            <a:off x="4991100" y="1587500"/>
            <a:ext cx="3403600" cy="215444"/>
          </a:xfrm>
          <a:prstGeom prst="rect">
            <a:avLst/>
          </a:prstGeom>
          <a:noFill/>
        </p:spPr>
        <p:txBody>
          <a:bodyPr vert="horz" wrap="square" lIns="0" tIns="0" rIns="0" bIns="0" rtlCol="0">
            <a:noAutofit/>
          </a:bodyPr>
          <a:lstStyle/>
          <a:p>
            <a:r>
              <a:rPr lang="fr-FR" sz="1150" b="1">
                <a:solidFill>
                  <a:srgbClr val="0E2F46"/>
                </a:solidFill>
                <a:latin typeface="Arial" panose="020B0604020202020204" pitchFamily="34" charset="0"/>
              </a:rPr>
              <a:t>OOLEL</a:t>
            </a:r>
          </a:p>
        </p:txBody>
      </p:sp>
      <p:sp>
        <p:nvSpPr>
          <p:cNvPr id="16" name="ZoneTexte 15">
            <a:extLst>
              <a:ext uri="{FF2B5EF4-FFF2-40B4-BE49-F238E27FC236}">
                <a16:creationId xmlns:a16="http://schemas.microsoft.com/office/drawing/2014/main" id="{246DF049-6A35-F038-73B9-E9FD880605A5}"/>
              </a:ext>
            </a:extLst>
          </p:cNvPr>
          <p:cNvSpPr txBox="1"/>
          <p:nvPr/>
        </p:nvSpPr>
        <p:spPr>
          <a:xfrm>
            <a:off x="4991100" y="1866900"/>
            <a:ext cx="34036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A published formal/non-standard Wolof dataset generated with a Wolof-adapted LLM. It enters the benchmark directly as external method M4.</a:t>
            </a:r>
            <a:endParaRPr lang="fr-FR" sz="920">
              <a:solidFill>
                <a:srgbClr val="1C1F25"/>
              </a:solidFill>
              <a:latin typeface="Arial" panose="020B0604020202020204" pitchFamily="34" charset="0"/>
            </a:endParaRPr>
          </a:p>
        </p:txBody>
      </p:sp>
      <p:sp>
        <p:nvSpPr>
          <p:cNvPr id="18" name="ZoneTexte 17">
            <a:extLst>
              <a:ext uri="{FF2B5EF4-FFF2-40B4-BE49-F238E27FC236}">
                <a16:creationId xmlns:a16="http://schemas.microsoft.com/office/drawing/2014/main" id="{A2A76C45-1C0E-C87D-FD5C-60928112F02C}"/>
              </a:ext>
            </a:extLst>
          </p:cNvPr>
          <p:cNvSpPr txBox="1"/>
          <p:nvPr/>
        </p:nvSpPr>
        <p:spPr>
          <a:xfrm>
            <a:off x="1473200" y="3873500"/>
            <a:ext cx="6197600" cy="215444"/>
          </a:xfrm>
          <a:prstGeom prst="rect">
            <a:avLst/>
          </a:prstGeom>
          <a:noFill/>
        </p:spPr>
        <p:txBody>
          <a:bodyPr vert="horz" wrap="square" lIns="0" tIns="0" rIns="0" bIns="0" rtlCol="0">
            <a:noAutofit/>
          </a:bodyPr>
          <a:lstStyle/>
          <a:p>
            <a:pPr algn="ctr"/>
            <a:r>
              <a:rPr lang="en-US" sz="1200" b="1" dirty="0">
                <a:solidFill>
                  <a:srgbClr val="FFFFFF"/>
                </a:solidFill>
                <a:latin typeface="Arial" panose="020B0604020202020204" pitchFamily="34" charset="0"/>
              </a:rPr>
              <a:t>Gap: FIND BETTER WORDING</a:t>
            </a:r>
            <a:endParaRPr lang="fr-FR" sz="1200" b="1" dirty="0">
              <a:solidFill>
                <a:srgbClr val="FFFFFF"/>
              </a:solidFill>
              <a:latin typeface="Arial" panose="020B0604020202020204" pitchFamily="34" charset="0"/>
            </a:endParaRPr>
          </a:p>
        </p:txBody>
      </p:sp>
      <p:sp>
        <p:nvSpPr>
          <p:cNvPr id="6" name="Rectangle 5">
            <a:extLst>
              <a:ext uri="{FF2B5EF4-FFF2-40B4-BE49-F238E27FC236}">
                <a16:creationId xmlns:a16="http://schemas.microsoft.com/office/drawing/2014/main" id="{48319280-14EE-E56B-AB97-12317FF74886}"/>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C26595EB-1646-255A-179D-39E4432578F0}"/>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864419C8-1357-EF40-12F8-AC18A6D34D60}"/>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Context</a:t>
            </a:r>
          </a:p>
        </p:txBody>
      </p:sp>
      <p:sp>
        <p:nvSpPr>
          <p:cNvPr id="19" name="ZoneTexte 18">
            <a:extLst>
              <a:ext uri="{FF2B5EF4-FFF2-40B4-BE49-F238E27FC236}">
                <a16:creationId xmlns:a16="http://schemas.microsoft.com/office/drawing/2014/main" id="{380E119C-33A9-C98B-932F-96F78838E722}"/>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1" name="ZoneTexte 20">
            <a:extLst>
              <a:ext uri="{FF2B5EF4-FFF2-40B4-BE49-F238E27FC236}">
                <a16:creationId xmlns:a16="http://schemas.microsoft.com/office/drawing/2014/main" id="{3DD7C480-1977-3A3C-5326-F58AFF2892D1}"/>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State of the art</a:t>
            </a:r>
          </a:p>
        </p:txBody>
      </p:sp>
      <p:sp>
        <p:nvSpPr>
          <p:cNvPr id="22" name="ZoneTexte 21">
            <a:extLst>
              <a:ext uri="{FF2B5EF4-FFF2-40B4-BE49-F238E27FC236}">
                <a16:creationId xmlns:a16="http://schemas.microsoft.com/office/drawing/2014/main" id="{33E11C91-7911-F434-8ECB-3D2B0D40720A}"/>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 / 36</a:t>
            </a:r>
          </a:p>
        </p:txBody>
      </p:sp>
      <p:pic>
        <p:nvPicPr>
          <p:cNvPr id="24" name="Image 23">
            <a:extLst>
              <a:ext uri="{FF2B5EF4-FFF2-40B4-BE49-F238E27FC236}">
                <a16:creationId xmlns:a16="http://schemas.microsoft.com/office/drawing/2014/main" id="{1BCA8348-B56E-02C3-C6C9-68A68E7C6C0C}"/>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7101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B8D57E7B-1C9F-2880-A648-7BDBD097DE9D}"/>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50B980C7-583C-8F1F-7719-E79CC91B6FF8}"/>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OBJECTIVE</a:t>
            </a:r>
          </a:p>
        </p:txBody>
      </p:sp>
      <p:sp>
        <p:nvSpPr>
          <p:cNvPr id="4" name="ZoneTexte 3">
            <a:extLst>
              <a:ext uri="{FF2B5EF4-FFF2-40B4-BE49-F238E27FC236}">
                <a16:creationId xmlns:a16="http://schemas.microsoft.com/office/drawing/2014/main" id="{39DD2685-EB1B-1A08-4FFD-A1C2814716AE}"/>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Research question and project position</a:t>
            </a:r>
            <a:endParaRPr lang="fr-FR" sz="1900" b="1">
              <a:solidFill>
                <a:srgbClr val="57658D"/>
              </a:solidFill>
              <a:latin typeface="Arial" panose="020B0604020202020204" pitchFamily="34" charset="0"/>
            </a:endParaRPr>
          </a:p>
        </p:txBody>
      </p:sp>
      <p:sp>
        <p:nvSpPr>
          <p:cNvPr id="9" name="Rectangle : coins arrondis 8">
            <a:extLst>
              <a:ext uri="{FF2B5EF4-FFF2-40B4-BE49-F238E27FC236}">
                <a16:creationId xmlns:a16="http://schemas.microsoft.com/office/drawing/2014/main" id="{9EA5C481-AD5D-D707-6662-48903E0634B7}"/>
              </a:ext>
            </a:extLst>
          </p:cNvPr>
          <p:cNvSpPr/>
          <p:nvPr/>
        </p:nvSpPr>
        <p:spPr>
          <a:xfrm>
            <a:off x="787400" y="2193472"/>
            <a:ext cx="7569200" cy="889000"/>
          </a:xfrm>
          <a:prstGeom prst="roundRect">
            <a:avLst/>
          </a:prstGeom>
          <a:solidFill>
            <a:srgbClr val="F6F7FA"/>
          </a:solidFill>
          <a:ln w="1524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3786D526-D46D-9454-DDB9-A28FBC41AAEA}"/>
              </a:ext>
            </a:extLst>
          </p:cNvPr>
          <p:cNvSpPr txBox="1"/>
          <p:nvPr/>
        </p:nvSpPr>
        <p:spPr>
          <a:xfrm>
            <a:off x="1041400" y="2383972"/>
            <a:ext cx="7061200" cy="215444"/>
          </a:xfrm>
          <a:prstGeom prst="rect">
            <a:avLst/>
          </a:prstGeom>
          <a:noFill/>
        </p:spPr>
        <p:txBody>
          <a:bodyPr vert="horz" wrap="square" lIns="0" tIns="0" rIns="0" bIns="0" rtlCol="0">
            <a:noAutofit/>
          </a:bodyPr>
          <a:lstStyle/>
          <a:p>
            <a:pPr algn="ctr"/>
            <a:r>
              <a:rPr lang="en-US" sz="1200" b="1" i="1" dirty="0">
                <a:solidFill>
                  <a:srgbClr val="0E2F46"/>
                </a:solidFill>
                <a:latin typeface="Arial" panose="020B0604020202020204" pitchFamily="34" charset="0"/>
              </a:rPr>
              <a:t>How well do formal-to-informal synthetic generation strategies improve normalization of authentic, code-switched Wolof YouTube comments under the same architecture?</a:t>
            </a:r>
            <a:endParaRPr lang="fr-FR" sz="1200" b="1" i="1" dirty="0">
              <a:solidFill>
                <a:srgbClr val="0E2F46"/>
              </a:solidFill>
              <a:latin typeface="Arial" panose="020B0604020202020204" pitchFamily="34" charset="0"/>
            </a:endParaRPr>
          </a:p>
        </p:txBody>
      </p:sp>
      <p:sp>
        <p:nvSpPr>
          <p:cNvPr id="6" name="Rectangle 5">
            <a:extLst>
              <a:ext uri="{FF2B5EF4-FFF2-40B4-BE49-F238E27FC236}">
                <a16:creationId xmlns:a16="http://schemas.microsoft.com/office/drawing/2014/main" id="{5541B703-DC9A-E206-7C1D-D8B567FE8E77}"/>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B3A8F687-FC49-00EA-2F07-B7754D31253A}"/>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627AE95-D708-4EEA-6756-B97520F19C3D}"/>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Context</a:t>
            </a:r>
          </a:p>
        </p:txBody>
      </p:sp>
      <p:sp>
        <p:nvSpPr>
          <p:cNvPr id="12" name="ZoneTexte 11">
            <a:extLst>
              <a:ext uri="{FF2B5EF4-FFF2-40B4-BE49-F238E27FC236}">
                <a16:creationId xmlns:a16="http://schemas.microsoft.com/office/drawing/2014/main" id="{11F6816F-39A0-2534-7107-DF8FC88BCF31}"/>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13" name="ZoneTexte 12">
            <a:extLst>
              <a:ext uri="{FF2B5EF4-FFF2-40B4-BE49-F238E27FC236}">
                <a16:creationId xmlns:a16="http://schemas.microsoft.com/office/drawing/2014/main" id="{077C11D2-44F4-2DE3-9640-5820B6E056BC}"/>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Research question</a:t>
            </a:r>
          </a:p>
        </p:txBody>
      </p:sp>
      <p:sp>
        <p:nvSpPr>
          <p:cNvPr id="14" name="ZoneTexte 13">
            <a:extLst>
              <a:ext uri="{FF2B5EF4-FFF2-40B4-BE49-F238E27FC236}">
                <a16:creationId xmlns:a16="http://schemas.microsoft.com/office/drawing/2014/main" id="{1A28F879-335F-7271-B543-85B6F18ED43C}"/>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4 / 36</a:t>
            </a:r>
          </a:p>
        </p:txBody>
      </p:sp>
      <p:pic>
        <p:nvPicPr>
          <p:cNvPr id="16" name="Image 15">
            <a:extLst>
              <a:ext uri="{FF2B5EF4-FFF2-40B4-BE49-F238E27FC236}">
                <a16:creationId xmlns:a16="http://schemas.microsoft.com/office/drawing/2014/main" id="{E9CCF177-C9AE-FD0A-B71B-CFB1C979A098}"/>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260803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78B689F8-9D2A-CCD0-3615-8A348DA1C471}"/>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DB4D4FDB-6153-6B72-EA3A-5334CFE78CEF}"/>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PIPELINE</a:t>
            </a:r>
          </a:p>
        </p:txBody>
      </p:sp>
      <p:sp>
        <p:nvSpPr>
          <p:cNvPr id="4" name="ZoneTexte 3">
            <a:extLst>
              <a:ext uri="{FF2B5EF4-FFF2-40B4-BE49-F238E27FC236}">
                <a16:creationId xmlns:a16="http://schemas.microsoft.com/office/drawing/2014/main" id="{B5330C8B-4976-0C32-89C2-C74990D6F0CB}"/>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700" b="1">
                <a:solidFill>
                  <a:srgbClr val="57658D"/>
                </a:solidFill>
                <a:latin typeface="Arial" panose="020B0604020202020204" pitchFamily="34" charset="0"/>
              </a:rPr>
              <a:t>The benchmark reverses the generation direction during training</a:t>
            </a:r>
            <a:endParaRPr lang="fr-FR" sz="1700" b="1">
              <a:solidFill>
                <a:srgbClr val="57658D"/>
              </a:solidFill>
              <a:latin typeface="Arial" panose="020B0604020202020204" pitchFamily="34" charset="0"/>
            </a:endParaRPr>
          </a:p>
        </p:txBody>
      </p:sp>
      <p:sp>
        <p:nvSpPr>
          <p:cNvPr id="9" name="ZoneTexte 8">
            <a:extLst>
              <a:ext uri="{FF2B5EF4-FFF2-40B4-BE49-F238E27FC236}">
                <a16:creationId xmlns:a16="http://schemas.microsoft.com/office/drawing/2014/main" id="{8C30F440-1554-938F-109B-0FE8CC3D9AA7}"/>
              </a:ext>
            </a:extLst>
          </p:cNvPr>
          <p:cNvSpPr txBox="1"/>
          <p:nvPr/>
        </p:nvSpPr>
        <p:spPr>
          <a:xfrm>
            <a:off x="429768" y="1365478"/>
            <a:ext cx="2300732" cy="215444"/>
          </a:xfrm>
          <a:prstGeom prst="rect">
            <a:avLst/>
          </a:prstGeom>
          <a:noFill/>
        </p:spPr>
        <p:txBody>
          <a:bodyPr vert="horz" wrap="square" lIns="0" tIns="0" rIns="0" bIns="0" rtlCol="0">
            <a:noAutofit/>
          </a:bodyPr>
          <a:lstStyle/>
          <a:p>
            <a:pPr algn="ctr"/>
            <a:r>
              <a:rPr lang="fr-FR" sz="900" b="1" dirty="0">
                <a:solidFill>
                  <a:srgbClr val="0E2F46"/>
                </a:solidFill>
                <a:latin typeface="Arial" panose="020B0604020202020204" pitchFamily="34" charset="0"/>
              </a:rPr>
              <a:t>GENERATION · formal → </a:t>
            </a:r>
            <a:r>
              <a:rPr lang="fr-FR" sz="900" b="1" dirty="0" err="1">
                <a:solidFill>
                  <a:srgbClr val="0E2F46"/>
                </a:solidFill>
                <a:latin typeface="Arial" panose="020B0604020202020204" pitchFamily="34" charset="0"/>
              </a:rPr>
              <a:t>informal</a:t>
            </a:r>
            <a:endParaRPr lang="fr-FR" sz="900" b="1" dirty="0">
              <a:solidFill>
                <a:srgbClr val="0E2F46"/>
              </a:solidFill>
              <a:latin typeface="Arial" panose="020B0604020202020204" pitchFamily="34" charset="0"/>
            </a:endParaRPr>
          </a:p>
        </p:txBody>
      </p:sp>
      <p:sp>
        <p:nvSpPr>
          <p:cNvPr id="10" name="ZoneTexte 9">
            <a:extLst>
              <a:ext uri="{FF2B5EF4-FFF2-40B4-BE49-F238E27FC236}">
                <a16:creationId xmlns:a16="http://schemas.microsoft.com/office/drawing/2014/main" id="{E87045E4-B401-EDB7-FF93-22C666AA2B66}"/>
              </a:ext>
            </a:extLst>
          </p:cNvPr>
          <p:cNvSpPr txBox="1"/>
          <p:nvPr/>
        </p:nvSpPr>
        <p:spPr>
          <a:xfrm>
            <a:off x="4635500" y="1358900"/>
            <a:ext cx="3962400" cy="215444"/>
          </a:xfrm>
          <a:prstGeom prst="rect">
            <a:avLst/>
          </a:prstGeom>
          <a:noFill/>
        </p:spPr>
        <p:txBody>
          <a:bodyPr vert="horz" wrap="square" lIns="0" tIns="0" rIns="0" bIns="0" rtlCol="0">
            <a:noAutofit/>
          </a:bodyPr>
          <a:lstStyle/>
          <a:p>
            <a:pPr algn="ctr"/>
            <a:r>
              <a:rPr lang="fr-FR" sz="900" b="1">
                <a:solidFill>
                  <a:srgbClr val="976F1D"/>
                </a:solidFill>
                <a:latin typeface="Arial" panose="020B0604020202020204" pitchFamily="34" charset="0"/>
              </a:rPr>
              <a:t>NORMALIZATION · informal → formal</a:t>
            </a:r>
          </a:p>
        </p:txBody>
      </p:sp>
      <p:sp>
        <p:nvSpPr>
          <p:cNvPr id="11" name="Rectangle 10">
            <a:extLst>
              <a:ext uri="{FF2B5EF4-FFF2-40B4-BE49-F238E27FC236}">
                <a16:creationId xmlns:a16="http://schemas.microsoft.com/office/drawing/2014/main" id="{13587A7A-E531-7226-7F0B-793C4C04B417}"/>
              </a:ext>
            </a:extLst>
          </p:cNvPr>
          <p:cNvSpPr/>
          <p:nvPr/>
        </p:nvSpPr>
        <p:spPr>
          <a:xfrm>
            <a:off x="5080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716E890F-7B6B-3002-DFB1-637DCA45052F}"/>
              </a:ext>
            </a:extLst>
          </p:cNvPr>
          <p:cNvSpPr/>
          <p:nvPr/>
        </p:nvSpPr>
        <p:spPr>
          <a:xfrm>
            <a:off x="508000" y="1676400"/>
            <a:ext cx="11684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E7FB8F7E-5274-3A41-7EB4-4D73D17B9292}"/>
              </a:ext>
            </a:extLst>
          </p:cNvPr>
          <p:cNvSpPr txBox="1"/>
          <p:nvPr/>
        </p:nvSpPr>
        <p:spPr>
          <a:xfrm>
            <a:off x="596900" y="1828800"/>
            <a:ext cx="990600" cy="215444"/>
          </a:xfrm>
          <a:prstGeom prst="rect">
            <a:avLst/>
          </a:prstGeom>
          <a:noFill/>
        </p:spPr>
        <p:txBody>
          <a:bodyPr vert="horz" wrap="square" lIns="0" tIns="0" rIns="0" bIns="0" rtlCol="0">
            <a:noAutofit/>
          </a:bodyPr>
          <a:lstStyle/>
          <a:p>
            <a:pPr algn="ctr"/>
            <a:r>
              <a:rPr lang="fr-FR" sz="850" b="1">
                <a:solidFill>
                  <a:srgbClr val="0E2F46"/>
                </a:solidFill>
                <a:latin typeface="Arial" panose="020B0604020202020204" pitchFamily="34" charset="0"/>
              </a:rPr>
              <a:t>FORMAL
CORPUS</a:t>
            </a:r>
          </a:p>
        </p:txBody>
      </p:sp>
      <p:sp>
        <p:nvSpPr>
          <p:cNvPr id="14" name="ZoneTexte 13">
            <a:extLst>
              <a:ext uri="{FF2B5EF4-FFF2-40B4-BE49-F238E27FC236}">
                <a16:creationId xmlns:a16="http://schemas.microsoft.com/office/drawing/2014/main" id="{0158E0FA-DD57-77EC-198B-FBE24A4B7227}"/>
              </a:ext>
            </a:extLst>
          </p:cNvPr>
          <p:cNvSpPr txBox="1"/>
          <p:nvPr/>
        </p:nvSpPr>
        <p:spPr>
          <a:xfrm>
            <a:off x="5969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17,777 targets</a:t>
            </a:r>
          </a:p>
        </p:txBody>
      </p:sp>
      <p:cxnSp>
        <p:nvCxnSpPr>
          <p:cNvPr id="15" name="Connecteur droit 14">
            <a:extLst>
              <a:ext uri="{FF2B5EF4-FFF2-40B4-BE49-F238E27FC236}">
                <a16:creationId xmlns:a16="http://schemas.microsoft.com/office/drawing/2014/main" id="{059636F8-4231-2DE6-9013-AC30A38BC2DA}"/>
              </a:ext>
            </a:extLst>
          </p:cNvPr>
          <p:cNvCxnSpPr/>
          <p:nvPr/>
        </p:nvCxnSpPr>
        <p:spPr>
          <a:xfrm>
            <a:off x="1701800" y="2120900"/>
            <a:ext cx="17780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13515FF-AC8E-D755-0ED8-BAE46E3EC793}"/>
              </a:ext>
            </a:extLst>
          </p:cNvPr>
          <p:cNvSpPr/>
          <p:nvPr/>
        </p:nvSpPr>
        <p:spPr>
          <a:xfrm>
            <a:off x="19304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F3FFC82D-E588-0A23-CD24-947C070F8D8F}"/>
              </a:ext>
            </a:extLst>
          </p:cNvPr>
          <p:cNvSpPr/>
          <p:nvPr/>
        </p:nvSpPr>
        <p:spPr>
          <a:xfrm>
            <a:off x="1930400" y="1676400"/>
            <a:ext cx="11684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7E36A20D-95A1-9CC4-F98E-E417F76FB99B}"/>
              </a:ext>
            </a:extLst>
          </p:cNvPr>
          <p:cNvSpPr txBox="1"/>
          <p:nvPr/>
        </p:nvSpPr>
        <p:spPr>
          <a:xfrm>
            <a:off x="2019300" y="1828800"/>
            <a:ext cx="990600" cy="215444"/>
          </a:xfrm>
          <a:prstGeom prst="rect">
            <a:avLst/>
          </a:prstGeom>
          <a:noFill/>
        </p:spPr>
        <p:txBody>
          <a:bodyPr vert="horz" wrap="square" lIns="0" tIns="0" rIns="0" bIns="0" rtlCol="0">
            <a:noAutofit/>
          </a:bodyPr>
          <a:lstStyle/>
          <a:p>
            <a:pPr algn="ctr"/>
            <a:r>
              <a:rPr lang="fr-FR" sz="850" b="1">
                <a:solidFill>
                  <a:srgbClr val="0E2F46"/>
                </a:solidFill>
                <a:latin typeface="Arial" panose="020B0604020202020204" pitchFamily="34" charset="0"/>
              </a:rPr>
              <a:t>5 SYNTHETIC
METHODS</a:t>
            </a:r>
          </a:p>
        </p:txBody>
      </p:sp>
      <p:sp>
        <p:nvSpPr>
          <p:cNvPr id="19" name="ZoneTexte 18">
            <a:extLst>
              <a:ext uri="{FF2B5EF4-FFF2-40B4-BE49-F238E27FC236}">
                <a16:creationId xmlns:a16="http://schemas.microsoft.com/office/drawing/2014/main" id="{1A92EB7B-3731-CAE8-E1EA-6B3205D488C5}"/>
              </a:ext>
            </a:extLst>
          </p:cNvPr>
          <p:cNvSpPr txBox="1"/>
          <p:nvPr/>
        </p:nvSpPr>
        <p:spPr>
          <a:xfrm>
            <a:off x="20193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formal → informal</a:t>
            </a:r>
          </a:p>
        </p:txBody>
      </p:sp>
      <p:cxnSp>
        <p:nvCxnSpPr>
          <p:cNvPr id="20" name="Connecteur droit 19">
            <a:extLst>
              <a:ext uri="{FF2B5EF4-FFF2-40B4-BE49-F238E27FC236}">
                <a16:creationId xmlns:a16="http://schemas.microsoft.com/office/drawing/2014/main" id="{77C7B75B-D1B9-9B58-E10F-E3152645F9C5}"/>
              </a:ext>
            </a:extLst>
          </p:cNvPr>
          <p:cNvCxnSpPr/>
          <p:nvPr/>
        </p:nvCxnSpPr>
        <p:spPr>
          <a:xfrm>
            <a:off x="3124200" y="2120900"/>
            <a:ext cx="17780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F035364-4B75-159F-38D5-263FF6880EBC}"/>
              </a:ext>
            </a:extLst>
          </p:cNvPr>
          <p:cNvSpPr/>
          <p:nvPr/>
        </p:nvSpPr>
        <p:spPr>
          <a:xfrm>
            <a:off x="33528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1F08313F-D082-B4AB-A916-827A0832E7C8}"/>
              </a:ext>
            </a:extLst>
          </p:cNvPr>
          <p:cNvSpPr/>
          <p:nvPr/>
        </p:nvSpPr>
        <p:spPr>
          <a:xfrm>
            <a:off x="3352800" y="1676400"/>
            <a:ext cx="11684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79B88F63-31A7-D5A3-F04A-75A1CA602C8C}"/>
              </a:ext>
            </a:extLst>
          </p:cNvPr>
          <p:cNvSpPr txBox="1"/>
          <p:nvPr/>
        </p:nvSpPr>
        <p:spPr>
          <a:xfrm>
            <a:off x="3441700" y="1828800"/>
            <a:ext cx="990600" cy="215444"/>
          </a:xfrm>
          <a:prstGeom prst="rect">
            <a:avLst/>
          </a:prstGeom>
          <a:noFill/>
        </p:spPr>
        <p:txBody>
          <a:bodyPr vert="horz" wrap="square" lIns="0" tIns="0" rIns="0" bIns="0" rtlCol="0">
            <a:noAutofit/>
          </a:bodyPr>
          <a:lstStyle/>
          <a:p>
            <a:pPr algn="ctr"/>
            <a:r>
              <a:rPr lang="fr-FR" sz="850" b="1">
                <a:solidFill>
                  <a:srgbClr val="0E2F46"/>
                </a:solidFill>
                <a:latin typeface="Arial" panose="020B0604020202020204" pitchFamily="34" charset="0"/>
              </a:rPr>
              <a:t>3,330
PAIRS</a:t>
            </a:r>
          </a:p>
        </p:txBody>
      </p:sp>
      <p:sp>
        <p:nvSpPr>
          <p:cNvPr id="24" name="ZoneTexte 23">
            <a:extLst>
              <a:ext uri="{FF2B5EF4-FFF2-40B4-BE49-F238E27FC236}">
                <a16:creationId xmlns:a16="http://schemas.microsoft.com/office/drawing/2014/main" id="{D886CABA-F492-4A5E-E024-62B8B4847C93}"/>
              </a:ext>
            </a:extLst>
          </p:cNvPr>
          <p:cNvSpPr txBox="1"/>
          <p:nvPr/>
        </p:nvSpPr>
        <p:spPr>
          <a:xfrm>
            <a:off x="34417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informal + formal</a:t>
            </a:r>
          </a:p>
        </p:txBody>
      </p:sp>
      <p:cxnSp>
        <p:nvCxnSpPr>
          <p:cNvPr id="25" name="Connecteur droit 24">
            <a:extLst>
              <a:ext uri="{FF2B5EF4-FFF2-40B4-BE49-F238E27FC236}">
                <a16:creationId xmlns:a16="http://schemas.microsoft.com/office/drawing/2014/main" id="{BCB2FA8E-0C1C-F82A-EF87-F8ABE23B511C}"/>
              </a:ext>
            </a:extLst>
          </p:cNvPr>
          <p:cNvCxnSpPr/>
          <p:nvPr/>
        </p:nvCxnSpPr>
        <p:spPr>
          <a:xfrm>
            <a:off x="4546600" y="2120900"/>
            <a:ext cx="17780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789F2B6-A0BF-6EDD-20C4-9347A3A50177}"/>
              </a:ext>
            </a:extLst>
          </p:cNvPr>
          <p:cNvSpPr/>
          <p:nvPr/>
        </p:nvSpPr>
        <p:spPr>
          <a:xfrm>
            <a:off x="47752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9A117974-391E-7730-9DDD-D3D582BF7FD8}"/>
              </a:ext>
            </a:extLst>
          </p:cNvPr>
          <p:cNvSpPr/>
          <p:nvPr/>
        </p:nvSpPr>
        <p:spPr>
          <a:xfrm>
            <a:off x="4775200" y="1676400"/>
            <a:ext cx="11684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0AA47128-A2DF-476B-77A9-1710A431E90D}"/>
              </a:ext>
            </a:extLst>
          </p:cNvPr>
          <p:cNvSpPr txBox="1"/>
          <p:nvPr/>
        </p:nvSpPr>
        <p:spPr>
          <a:xfrm>
            <a:off x="4864100" y="1828800"/>
            <a:ext cx="990600" cy="215444"/>
          </a:xfrm>
          <a:prstGeom prst="rect">
            <a:avLst/>
          </a:prstGeom>
          <a:noFill/>
        </p:spPr>
        <p:txBody>
          <a:bodyPr vert="horz" wrap="square" lIns="0" tIns="0" rIns="0" bIns="0" rtlCol="0">
            <a:noAutofit/>
          </a:bodyPr>
          <a:lstStyle/>
          <a:p>
            <a:pPr algn="ctr"/>
            <a:r>
              <a:rPr lang="fr-FR" sz="850" b="1">
                <a:solidFill>
                  <a:srgbClr val="976F1D"/>
                </a:solidFill>
                <a:latin typeface="Arial" panose="020B0604020202020204" pitchFamily="34" charset="0"/>
              </a:rPr>
              <a:t>SYNTHETIC
PRETRAINING</a:t>
            </a:r>
          </a:p>
        </p:txBody>
      </p:sp>
      <p:sp>
        <p:nvSpPr>
          <p:cNvPr id="29" name="ZoneTexte 28">
            <a:extLst>
              <a:ext uri="{FF2B5EF4-FFF2-40B4-BE49-F238E27FC236}">
                <a16:creationId xmlns:a16="http://schemas.microsoft.com/office/drawing/2014/main" id="{90D8630F-F081-299A-2E52-B52D19F90219}"/>
              </a:ext>
            </a:extLst>
          </p:cNvPr>
          <p:cNvSpPr txBox="1"/>
          <p:nvPr/>
        </p:nvSpPr>
        <p:spPr>
          <a:xfrm>
            <a:off x="48641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20 epochs</a:t>
            </a:r>
          </a:p>
        </p:txBody>
      </p:sp>
      <p:cxnSp>
        <p:nvCxnSpPr>
          <p:cNvPr id="30" name="Connecteur droit 29">
            <a:extLst>
              <a:ext uri="{FF2B5EF4-FFF2-40B4-BE49-F238E27FC236}">
                <a16:creationId xmlns:a16="http://schemas.microsoft.com/office/drawing/2014/main" id="{6F29A569-4FFF-2ED0-C71E-3C4B3D3FE81C}"/>
              </a:ext>
            </a:extLst>
          </p:cNvPr>
          <p:cNvCxnSpPr/>
          <p:nvPr/>
        </p:nvCxnSpPr>
        <p:spPr>
          <a:xfrm>
            <a:off x="5969000" y="2120900"/>
            <a:ext cx="17780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04E7207C-96F1-C024-61FF-5B32841A1093}"/>
              </a:ext>
            </a:extLst>
          </p:cNvPr>
          <p:cNvSpPr/>
          <p:nvPr/>
        </p:nvSpPr>
        <p:spPr>
          <a:xfrm>
            <a:off x="61976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CF2B773E-F766-4E27-8E30-170CCEBB8864}"/>
              </a:ext>
            </a:extLst>
          </p:cNvPr>
          <p:cNvSpPr/>
          <p:nvPr/>
        </p:nvSpPr>
        <p:spPr>
          <a:xfrm>
            <a:off x="6197600" y="1676400"/>
            <a:ext cx="11684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66EE45CC-6E18-7FC3-8AAA-1849A93BF851}"/>
              </a:ext>
            </a:extLst>
          </p:cNvPr>
          <p:cNvSpPr txBox="1"/>
          <p:nvPr/>
        </p:nvSpPr>
        <p:spPr>
          <a:xfrm>
            <a:off x="6286500" y="1828800"/>
            <a:ext cx="990600" cy="215444"/>
          </a:xfrm>
          <a:prstGeom prst="rect">
            <a:avLst/>
          </a:prstGeom>
          <a:noFill/>
        </p:spPr>
        <p:txBody>
          <a:bodyPr vert="horz" wrap="square" lIns="0" tIns="0" rIns="0" bIns="0" rtlCol="0">
            <a:noAutofit/>
          </a:bodyPr>
          <a:lstStyle/>
          <a:p>
            <a:pPr algn="ctr"/>
            <a:r>
              <a:rPr lang="fr-FR" sz="850" b="1">
                <a:solidFill>
                  <a:srgbClr val="976F1D"/>
                </a:solidFill>
                <a:latin typeface="Arial" panose="020B0604020202020204" pitchFamily="34" charset="0"/>
              </a:rPr>
              <a:t>GOLD
FINE-TUNING</a:t>
            </a:r>
          </a:p>
        </p:txBody>
      </p:sp>
      <p:sp>
        <p:nvSpPr>
          <p:cNvPr id="34" name="ZoneTexte 33">
            <a:extLst>
              <a:ext uri="{FF2B5EF4-FFF2-40B4-BE49-F238E27FC236}">
                <a16:creationId xmlns:a16="http://schemas.microsoft.com/office/drawing/2014/main" id="{6827769F-963B-F293-52E0-DE3777BE3E5C}"/>
              </a:ext>
            </a:extLst>
          </p:cNvPr>
          <p:cNvSpPr txBox="1"/>
          <p:nvPr/>
        </p:nvSpPr>
        <p:spPr>
          <a:xfrm>
            <a:off x="62865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142 train</a:t>
            </a:r>
          </a:p>
        </p:txBody>
      </p:sp>
      <p:cxnSp>
        <p:nvCxnSpPr>
          <p:cNvPr id="35" name="Connecteur droit 34">
            <a:extLst>
              <a:ext uri="{FF2B5EF4-FFF2-40B4-BE49-F238E27FC236}">
                <a16:creationId xmlns:a16="http://schemas.microsoft.com/office/drawing/2014/main" id="{405A26A6-ADAC-6315-9F49-899BF5F6C102}"/>
              </a:ext>
            </a:extLst>
          </p:cNvPr>
          <p:cNvCxnSpPr/>
          <p:nvPr/>
        </p:nvCxnSpPr>
        <p:spPr>
          <a:xfrm>
            <a:off x="7391400" y="2120900"/>
            <a:ext cx="17780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9246CC8F-5543-1B44-0AD4-1AF4BD325681}"/>
              </a:ext>
            </a:extLst>
          </p:cNvPr>
          <p:cNvSpPr/>
          <p:nvPr/>
        </p:nvSpPr>
        <p:spPr>
          <a:xfrm>
            <a:off x="7620000" y="1676400"/>
            <a:ext cx="1168400" cy="889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46C014EC-AF0E-908F-8FF9-1228FDDA2429}"/>
              </a:ext>
            </a:extLst>
          </p:cNvPr>
          <p:cNvSpPr/>
          <p:nvPr/>
        </p:nvSpPr>
        <p:spPr>
          <a:xfrm>
            <a:off x="7620000" y="1676400"/>
            <a:ext cx="11684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ED49C374-C033-CA73-8161-C3CE4D5098F7}"/>
              </a:ext>
            </a:extLst>
          </p:cNvPr>
          <p:cNvSpPr txBox="1"/>
          <p:nvPr/>
        </p:nvSpPr>
        <p:spPr>
          <a:xfrm>
            <a:off x="7708900" y="1828800"/>
            <a:ext cx="990600" cy="215444"/>
          </a:xfrm>
          <a:prstGeom prst="rect">
            <a:avLst/>
          </a:prstGeom>
          <a:noFill/>
        </p:spPr>
        <p:txBody>
          <a:bodyPr vert="horz" wrap="square" lIns="0" tIns="0" rIns="0" bIns="0" rtlCol="0">
            <a:noAutofit/>
          </a:bodyPr>
          <a:lstStyle/>
          <a:p>
            <a:pPr algn="ctr"/>
            <a:r>
              <a:rPr lang="fr-FR" sz="850" b="1" dirty="0">
                <a:solidFill>
                  <a:srgbClr val="976F1D"/>
                </a:solidFill>
                <a:latin typeface="Arial" panose="020B0604020202020204" pitchFamily="34" charset="0"/>
              </a:rPr>
              <a:t>
EVALUATION</a:t>
            </a:r>
          </a:p>
        </p:txBody>
      </p:sp>
      <p:sp>
        <p:nvSpPr>
          <p:cNvPr id="39" name="ZoneTexte 38">
            <a:extLst>
              <a:ext uri="{FF2B5EF4-FFF2-40B4-BE49-F238E27FC236}">
                <a16:creationId xmlns:a16="http://schemas.microsoft.com/office/drawing/2014/main" id="{FF4A1165-FB89-CD5D-AA1A-A215AAEFB7F0}"/>
              </a:ext>
            </a:extLst>
          </p:cNvPr>
          <p:cNvSpPr txBox="1"/>
          <p:nvPr/>
        </p:nvSpPr>
        <p:spPr>
          <a:xfrm>
            <a:off x="7708900" y="2260600"/>
            <a:ext cx="990600" cy="215444"/>
          </a:xfrm>
          <a:prstGeom prst="rect">
            <a:avLst/>
          </a:prstGeom>
          <a:noFill/>
        </p:spPr>
        <p:txBody>
          <a:bodyPr vert="horz" wrap="square" lIns="0" tIns="0" rIns="0" bIns="0" rtlCol="0">
            <a:noAutofit/>
          </a:bodyPr>
          <a:lstStyle/>
          <a:p>
            <a:pPr algn="ctr"/>
            <a:r>
              <a:rPr lang="fr-FR" sz="720">
                <a:solidFill>
                  <a:srgbClr val="606774"/>
                </a:solidFill>
                <a:latin typeface="Arial" panose="020B0604020202020204" pitchFamily="34" charset="0"/>
              </a:rPr>
              <a:t>30 dev · 29 test</a:t>
            </a:r>
          </a:p>
        </p:txBody>
      </p:sp>
      <p:sp>
        <p:nvSpPr>
          <p:cNvPr id="40" name="ZoneTexte 39">
            <a:extLst>
              <a:ext uri="{FF2B5EF4-FFF2-40B4-BE49-F238E27FC236}">
                <a16:creationId xmlns:a16="http://schemas.microsoft.com/office/drawing/2014/main" id="{B4DFCAD7-D458-BB2B-B431-1BFF64AD9A77}"/>
              </a:ext>
            </a:extLst>
          </p:cNvPr>
          <p:cNvSpPr txBox="1"/>
          <p:nvPr/>
        </p:nvSpPr>
        <p:spPr>
          <a:xfrm>
            <a:off x="336007" y="2927848"/>
            <a:ext cx="2247899" cy="215444"/>
          </a:xfrm>
          <a:prstGeom prst="rect">
            <a:avLst/>
          </a:prstGeom>
          <a:noFill/>
        </p:spPr>
        <p:txBody>
          <a:bodyPr vert="horz" wrap="square" lIns="0" tIns="0" rIns="0" bIns="0" rtlCol="0">
            <a:noAutofit/>
          </a:bodyPr>
          <a:lstStyle/>
          <a:p>
            <a:pPr algn="ctr"/>
            <a:r>
              <a:rPr lang="fr-FR" sz="900" b="1" dirty="0">
                <a:solidFill>
                  <a:srgbClr val="0E2F46"/>
                </a:solidFill>
                <a:latin typeface="Arial" panose="020B0604020202020204" pitchFamily="34" charset="0"/>
              </a:rPr>
              <a:t>AUTHENTIC INFORMAL DATA</a:t>
            </a:r>
          </a:p>
        </p:txBody>
      </p:sp>
      <p:grpSp>
        <p:nvGrpSpPr>
          <p:cNvPr id="51" name="Groupe 50">
            <a:extLst>
              <a:ext uri="{FF2B5EF4-FFF2-40B4-BE49-F238E27FC236}">
                <a16:creationId xmlns:a16="http://schemas.microsoft.com/office/drawing/2014/main" id="{7EE5ACF1-09D8-4AFA-B66C-8FD898AE2894}"/>
              </a:ext>
            </a:extLst>
          </p:cNvPr>
          <p:cNvGrpSpPr/>
          <p:nvPr/>
        </p:nvGrpSpPr>
        <p:grpSpPr>
          <a:xfrm>
            <a:off x="508000" y="3219450"/>
            <a:ext cx="2247900" cy="685800"/>
            <a:chOff x="1003300" y="3200400"/>
            <a:chExt cx="2247900" cy="685800"/>
          </a:xfrm>
        </p:grpSpPr>
        <p:sp>
          <p:nvSpPr>
            <p:cNvPr id="41" name="Rectangle 40">
              <a:extLst>
                <a:ext uri="{FF2B5EF4-FFF2-40B4-BE49-F238E27FC236}">
                  <a16:creationId xmlns:a16="http://schemas.microsoft.com/office/drawing/2014/main" id="{EEB110CC-891B-0EA9-28E4-C960899DAF63}"/>
                </a:ext>
              </a:extLst>
            </p:cNvPr>
            <p:cNvSpPr/>
            <p:nvPr/>
          </p:nvSpPr>
          <p:spPr>
            <a:xfrm>
              <a:off x="1003300" y="3200400"/>
              <a:ext cx="2247900" cy="6858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E0ABFAE2-8A8B-D781-47FD-C486BD4BE19B}"/>
                </a:ext>
              </a:extLst>
            </p:cNvPr>
            <p:cNvSpPr txBox="1"/>
            <p:nvPr/>
          </p:nvSpPr>
          <p:spPr>
            <a:xfrm>
              <a:off x="1135743" y="3353526"/>
              <a:ext cx="1968500" cy="215444"/>
            </a:xfrm>
            <a:prstGeom prst="rect">
              <a:avLst/>
            </a:prstGeom>
            <a:noFill/>
          </p:spPr>
          <p:txBody>
            <a:bodyPr vert="horz" wrap="square" lIns="0" tIns="0" rIns="0" bIns="0" rtlCol="0">
              <a:noAutofit/>
            </a:bodyPr>
            <a:lstStyle/>
            <a:p>
              <a:pPr algn="ctr"/>
              <a:r>
                <a:rPr lang="fr-FR" sz="850" b="1" dirty="0">
                  <a:solidFill>
                    <a:srgbClr val="0E2F46"/>
                  </a:solidFill>
                  <a:latin typeface="Verdana" panose="020B0604030504040204" pitchFamily="34" charset="0"/>
                </a:rPr>
                <a:t>YOUTUBE DATA PREPARATION</a:t>
              </a:r>
            </a:p>
          </p:txBody>
        </p:sp>
        <p:sp>
          <p:nvSpPr>
            <p:cNvPr id="43" name="ZoneTexte 42">
              <a:extLst>
                <a:ext uri="{FF2B5EF4-FFF2-40B4-BE49-F238E27FC236}">
                  <a16:creationId xmlns:a16="http://schemas.microsoft.com/office/drawing/2014/main" id="{42B2828B-B2E9-14F7-9BB1-CC01A8BCE6FC}"/>
                </a:ext>
              </a:extLst>
            </p:cNvPr>
            <p:cNvSpPr txBox="1"/>
            <p:nvPr/>
          </p:nvSpPr>
          <p:spPr>
            <a:xfrm>
              <a:off x="1257300" y="3606800"/>
              <a:ext cx="1968500" cy="215444"/>
            </a:xfrm>
            <a:prstGeom prst="rect">
              <a:avLst/>
            </a:prstGeom>
            <a:noFill/>
          </p:spPr>
          <p:txBody>
            <a:bodyPr vert="horz" wrap="square" lIns="0" tIns="0" rIns="0" bIns="0" rtlCol="0">
              <a:noAutofit/>
            </a:bodyPr>
            <a:lstStyle/>
            <a:p>
              <a:pPr algn="ctr"/>
              <a:r>
                <a:rPr lang="fr-FR" sz="720" dirty="0">
                  <a:solidFill>
                    <a:srgbClr val="606774"/>
                  </a:solidFill>
                  <a:latin typeface="Verdana" panose="020B0604030504040204" pitchFamily="34" charset="0"/>
                </a:rPr>
                <a:t>collection &amp; </a:t>
              </a:r>
              <a:r>
                <a:rPr lang="fr-FR" sz="720" dirty="0" err="1">
                  <a:solidFill>
                    <a:srgbClr val="606774"/>
                  </a:solidFill>
                  <a:latin typeface="Verdana" panose="020B0604030504040204" pitchFamily="34" charset="0"/>
                </a:rPr>
                <a:t>cleaning</a:t>
              </a:r>
              <a:r>
                <a:rPr lang="fr-FR" sz="720" dirty="0">
                  <a:solidFill>
                    <a:srgbClr val="606774"/>
                  </a:solidFill>
                  <a:latin typeface="Verdana" panose="020B0604030504040204" pitchFamily="34" charset="0"/>
                </a:rPr>
                <a:t> </a:t>
              </a:r>
            </a:p>
          </p:txBody>
        </p:sp>
      </p:grpSp>
      <p:cxnSp>
        <p:nvCxnSpPr>
          <p:cNvPr id="44" name="Connecteur droit 43">
            <a:extLst>
              <a:ext uri="{FF2B5EF4-FFF2-40B4-BE49-F238E27FC236}">
                <a16:creationId xmlns:a16="http://schemas.microsoft.com/office/drawing/2014/main" id="{A24269DF-419D-A0E7-0CE6-3D7CEE4FA18F}"/>
              </a:ext>
            </a:extLst>
          </p:cNvPr>
          <p:cNvCxnSpPr>
            <a:cxnSpLocks/>
            <a:stCxn id="41" idx="3"/>
            <a:endCxn id="45" idx="1"/>
          </p:cNvCxnSpPr>
          <p:nvPr/>
        </p:nvCxnSpPr>
        <p:spPr>
          <a:xfrm>
            <a:off x="2755900" y="3562350"/>
            <a:ext cx="832030" cy="0"/>
          </a:xfrm>
          <a:prstGeom prst="line">
            <a:avLst/>
          </a:prstGeom>
          <a:ln w="17780">
            <a:solidFill>
              <a:srgbClr val="58658B"/>
            </a:solidFill>
            <a:tailEnd type="arrow"/>
          </a:ln>
        </p:spPr>
        <p:style>
          <a:lnRef idx="1">
            <a:schemeClr val="accent1"/>
          </a:lnRef>
          <a:fillRef idx="0">
            <a:schemeClr val="accent1"/>
          </a:fillRef>
          <a:effectRef idx="0">
            <a:schemeClr val="accent1"/>
          </a:effectRef>
          <a:fontRef idx="minor">
            <a:schemeClr val="tx1"/>
          </a:fontRef>
        </p:style>
      </p:cxnSp>
      <p:grpSp>
        <p:nvGrpSpPr>
          <p:cNvPr id="64" name="Groupe 63">
            <a:extLst>
              <a:ext uri="{FF2B5EF4-FFF2-40B4-BE49-F238E27FC236}">
                <a16:creationId xmlns:a16="http://schemas.microsoft.com/office/drawing/2014/main" id="{8E0F8524-7410-2460-C60B-15FB3BFD23B8}"/>
              </a:ext>
            </a:extLst>
          </p:cNvPr>
          <p:cNvGrpSpPr/>
          <p:nvPr/>
        </p:nvGrpSpPr>
        <p:grpSpPr>
          <a:xfrm>
            <a:off x="3532623" y="3219450"/>
            <a:ext cx="1530169" cy="685800"/>
            <a:chOff x="3746500" y="3213100"/>
            <a:chExt cx="2108200" cy="685800"/>
          </a:xfrm>
        </p:grpSpPr>
        <p:sp>
          <p:nvSpPr>
            <p:cNvPr id="45" name="Rectangle 44">
              <a:extLst>
                <a:ext uri="{FF2B5EF4-FFF2-40B4-BE49-F238E27FC236}">
                  <a16:creationId xmlns:a16="http://schemas.microsoft.com/office/drawing/2014/main" id="{2D9018AC-09C5-8CF1-5E13-1116EFE60089}"/>
                </a:ext>
              </a:extLst>
            </p:cNvPr>
            <p:cNvSpPr/>
            <p:nvPr/>
          </p:nvSpPr>
          <p:spPr>
            <a:xfrm>
              <a:off x="3822700" y="3213100"/>
              <a:ext cx="2032000" cy="6858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46F736A8-E40D-1EA4-338D-9A1033559914}"/>
                </a:ext>
              </a:extLst>
            </p:cNvPr>
            <p:cNvSpPr txBox="1"/>
            <p:nvPr/>
          </p:nvSpPr>
          <p:spPr>
            <a:xfrm>
              <a:off x="3746500" y="3370486"/>
              <a:ext cx="1968500" cy="215444"/>
            </a:xfrm>
            <a:prstGeom prst="rect">
              <a:avLst/>
            </a:prstGeom>
            <a:noFill/>
          </p:spPr>
          <p:txBody>
            <a:bodyPr vert="horz" wrap="square" lIns="0" tIns="0" rIns="0" bIns="0" rtlCol="0">
              <a:noAutofit/>
            </a:bodyPr>
            <a:lstStyle/>
            <a:p>
              <a:pPr algn="ctr"/>
              <a:r>
                <a:rPr lang="fr-FR" sz="850" b="1" dirty="0">
                  <a:solidFill>
                    <a:srgbClr val="976F1D"/>
                  </a:solidFill>
                  <a:latin typeface="Verdana" panose="020B0604030504040204" pitchFamily="34" charset="0"/>
                </a:rPr>
                <a:t>201 GOLD PAIRS</a:t>
              </a:r>
            </a:p>
          </p:txBody>
        </p:sp>
        <p:sp>
          <p:nvSpPr>
            <p:cNvPr id="47" name="ZoneTexte 46">
              <a:extLst>
                <a:ext uri="{FF2B5EF4-FFF2-40B4-BE49-F238E27FC236}">
                  <a16:creationId xmlns:a16="http://schemas.microsoft.com/office/drawing/2014/main" id="{549042B4-F7F0-8795-E864-76E0DA0FEEB2}"/>
                </a:ext>
              </a:extLst>
            </p:cNvPr>
            <p:cNvSpPr txBox="1"/>
            <p:nvPr/>
          </p:nvSpPr>
          <p:spPr>
            <a:xfrm>
              <a:off x="3854449" y="3627444"/>
              <a:ext cx="1968500" cy="215444"/>
            </a:xfrm>
            <a:prstGeom prst="rect">
              <a:avLst/>
            </a:prstGeom>
            <a:noFill/>
          </p:spPr>
          <p:txBody>
            <a:bodyPr vert="horz" wrap="square" lIns="0" tIns="0" rIns="0" bIns="0" rtlCol="0">
              <a:noAutofit/>
            </a:bodyPr>
            <a:lstStyle/>
            <a:p>
              <a:pPr algn="ctr"/>
              <a:r>
                <a:rPr lang="fr-FR" sz="720" dirty="0">
                  <a:solidFill>
                    <a:srgbClr val="606774"/>
                  </a:solidFill>
                  <a:latin typeface="Verdana" panose="020B0604030504040204" pitchFamily="34" charset="0"/>
                </a:rPr>
                <a:t>142 train / 30 dev / 29 test</a:t>
              </a:r>
            </a:p>
          </p:txBody>
        </p:sp>
      </p:grpSp>
      <p:sp>
        <p:nvSpPr>
          <p:cNvPr id="54" name="ZoneTexte 53">
            <a:extLst>
              <a:ext uri="{FF2B5EF4-FFF2-40B4-BE49-F238E27FC236}">
                <a16:creationId xmlns:a16="http://schemas.microsoft.com/office/drawing/2014/main" id="{16C86129-FD38-A87A-19E8-48457F5AF05F}"/>
              </a:ext>
            </a:extLst>
          </p:cNvPr>
          <p:cNvSpPr txBox="1"/>
          <p:nvPr/>
        </p:nvSpPr>
        <p:spPr>
          <a:xfrm>
            <a:off x="2811207" y="3073758"/>
            <a:ext cx="937519" cy="313932"/>
          </a:xfrm>
          <a:prstGeom prst="rect">
            <a:avLst/>
          </a:prstGeom>
          <a:noFill/>
        </p:spPr>
        <p:txBody>
          <a:bodyPr wrap="square">
            <a:spAutoFit/>
          </a:bodyPr>
          <a:lstStyle/>
          <a:p>
            <a:r>
              <a:rPr lang="fr-FR" sz="720" dirty="0">
                <a:solidFill>
                  <a:srgbClr val="606774"/>
                </a:solidFill>
                <a:latin typeface="Arial" panose="020B0604020202020204" pitchFamily="34" charset="0"/>
              </a:rPr>
              <a:t>Annotation to get formal </a:t>
            </a:r>
            <a:r>
              <a:rPr lang="fr-FR" sz="720" dirty="0" err="1">
                <a:solidFill>
                  <a:srgbClr val="606774"/>
                </a:solidFill>
                <a:latin typeface="Arial" panose="020B0604020202020204" pitchFamily="34" charset="0"/>
              </a:rPr>
              <a:t>target</a:t>
            </a:r>
            <a:endParaRPr lang="fr-FR" dirty="0">
              <a:latin typeface="Arial" panose="020B0604020202020204" pitchFamily="34" charset="0"/>
            </a:endParaRPr>
          </a:p>
        </p:txBody>
      </p:sp>
      <p:cxnSp>
        <p:nvCxnSpPr>
          <p:cNvPr id="61" name="Connecteur : en angle 60">
            <a:extLst>
              <a:ext uri="{FF2B5EF4-FFF2-40B4-BE49-F238E27FC236}">
                <a16:creationId xmlns:a16="http://schemas.microsoft.com/office/drawing/2014/main" id="{CB37500E-7B88-B76F-03E5-AEBE8E106097}"/>
              </a:ext>
            </a:extLst>
          </p:cNvPr>
          <p:cNvCxnSpPr>
            <a:cxnSpLocks/>
            <a:stCxn id="45" idx="3"/>
            <a:endCxn id="31" idx="2"/>
          </p:cNvCxnSpPr>
          <p:nvPr/>
        </p:nvCxnSpPr>
        <p:spPr>
          <a:xfrm flipV="1">
            <a:off x="5062792" y="2565400"/>
            <a:ext cx="1719008" cy="996950"/>
          </a:xfrm>
          <a:prstGeom prst="bentConnector2">
            <a:avLst/>
          </a:prstGeom>
          <a:ln w="19050">
            <a:solidFill>
              <a:srgbClr val="976F1D"/>
            </a:solidFill>
            <a:tailEnd type="triangle"/>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5B3F8485-0E00-88B0-9F87-6CB54DFD8AD7}"/>
              </a:ext>
            </a:extLst>
          </p:cNvPr>
          <p:cNvSpPr txBox="1"/>
          <p:nvPr/>
        </p:nvSpPr>
        <p:spPr>
          <a:xfrm>
            <a:off x="1161288" y="4298950"/>
            <a:ext cx="6719824" cy="215444"/>
          </a:xfrm>
          <a:prstGeom prst="rect">
            <a:avLst/>
          </a:prstGeom>
          <a:noFill/>
        </p:spPr>
        <p:txBody>
          <a:bodyPr vert="horz" wrap="square" lIns="0" tIns="0" rIns="0" bIns="0" rtlCol="0">
            <a:noAutofit/>
          </a:bodyPr>
          <a:lstStyle/>
          <a:p>
            <a:pPr algn="ctr"/>
            <a:r>
              <a:rPr lang="fr-FR" sz="1100" b="1" dirty="0">
                <a:solidFill>
                  <a:srgbClr val="0E2F46"/>
                </a:solidFill>
                <a:latin typeface="Arial" panose="020B0604020202020204" pitchFamily="34" charset="0"/>
              </a:rPr>
              <a:t>Why 3330 pairs ? Because 3430 pairs were </a:t>
            </a:r>
            <a:r>
              <a:rPr lang="fr-FR" sz="1100" b="1" dirty="0" err="1">
                <a:solidFill>
                  <a:srgbClr val="0E2F46"/>
                </a:solidFill>
                <a:latin typeface="Arial" panose="020B0604020202020204" pitchFamily="34" charset="0"/>
              </a:rPr>
              <a:t>found</a:t>
            </a:r>
            <a:r>
              <a:rPr lang="fr-FR" sz="1100" b="1" dirty="0">
                <a:solidFill>
                  <a:srgbClr val="0E2F46"/>
                </a:solidFill>
                <a:latin typeface="Arial" panose="020B0604020202020204" pitchFamily="34" charset="0"/>
              </a:rPr>
              <a:t> exactly in the 17777 dataset</a:t>
            </a:r>
          </a:p>
        </p:txBody>
      </p:sp>
      <p:sp>
        <p:nvSpPr>
          <p:cNvPr id="6" name="Rectangle 5">
            <a:extLst>
              <a:ext uri="{FF2B5EF4-FFF2-40B4-BE49-F238E27FC236}">
                <a16:creationId xmlns:a16="http://schemas.microsoft.com/office/drawing/2014/main" id="{8FC6628C-B1CA-8713-7BA2-68424FEEBAB8}"/>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7C0B8013-FD03-4B33-CA57-B189014BB07A}"/>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a:extLst>
              <a:ext uri="{FF2B5EF4-FFF2-40B4-BE49-F238E27FC236}">
                <a16:creationId xmlns:a16="http://schemas.microsoft.com/office/drawing/2014/main" id="{3D3008D3-283D-AD17-CF0B-639F7DCCFDEC}"/>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52" name="ZoneTexte 51">
            <a:extLst>
              <a:ext uri="{FF2B5EF4-FFF2-40B4-BE49-F238E27FC236}">
                <a16:creationId xmlns:a16="http://schemas.microsoft.com/office/drawing/2014/main" id="{B9BE7AAC-E41C-6B89-3EFD-65701058FB8D}"/>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53" name="ZoneTexte 52">
            <a:extLst>
              <a:ext uri="{FF2B5EF4-FFF2-40B4-BE49-F238E27FC236}">
                <a16:creationId xmlns:a16="http://schemas.microsoft.com/office/drawing/2014/main" id="{64AB4E9B-B599-19CC-AC1D-D8C866EF3522}"/>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Benchmark pipeline</a:t>
            </a:r>
          </a:p>
        </p:txBody>
      </p:sp>
      <p:sp>
        <p:nvSpPr>
          <p:cNvPr id="55" name="ZoneTexte 54">
            <a:extLst>
              <a:ext uri="{FF2B5EF4-FFF2-40B4-BE49-F238E27FC236}">
                <a16:creationId xmlns:a16="http://schemas.microsoft.com/office/drawing/2014/main" id="{ED91C5DF-7144-9A52-3CC0-51CFA8385255}"/>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5 / 36</a:t>
            </a:r>
          </a:p>
        </p:txBody>
      </p:sp>
      <p:pic>
        <p:nvPicPr>
          <p:cNvPr id="57" name="Image 56">
            <a:extLst>
              <a:ext uri="{FF2B5EF4-FFF2-40B4-BE49-F238E27FC236}">
                <a16:creationId xmlns:a16="http://schemas.microsoft.com/office/drawing/2014/main" id="{7E8A5587-017D-E6CB-5430-055655730DFD}"/>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46717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E0CFAFB0-6B22-F315-5D53-11CFE1F0004A}"/>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701E03D-E004-2C36-9779-CC48B8B72785}"/>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DATA PIPELINE</a:t>
            </a:r>
          </a:p>
        </p:txBody>
      </p:sp>
      <p:sp>
        <p:nvSpPr>
          <p:cNvPr id="9" name="Rectangle 8">
            <a:extLst>
              <a:ext uri="{FF2B5EF4-FFF2-40B4-BE49-F238E27FC236}">
                <a16:creationId xmlns:a16="http://schemas.microsoft.com/office/drawing/2014/main" id="{35354937-E399-365F-F2B3-69BC6F3F2F91}"/>
              </a:ext>
            </a:extLst>
          </p:cNvPr>
          <p:cNvSpPr/>
          <p:nvPr/>
        </p:nvSpPr>
        <p:spPr>
          <a:xfrm>
            <a:off x="546100" y="1498600"/>
            <a:ext cx="18415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61239E0F-61CA-FCC4-657B-91ADCA5DB21D}"/>
              </a:ext>
            </a:extLst>
          </p:cNvPr>
          <p:cNvSpPr/>
          <p:nvPr/>
        </p:nvSpPr>
        <p:spPr>
          <a:xfrm>
            <a:off x="673100" y="16256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234C8085-E919-E94E-2D0C-94775E3921AF}"/>
              </a:ext>
            </a:extLst>
          </p:cNvPr>
          <p:cNvSpPr txBox="1"/>
          <p:nvPr/>
        </p:nvSpPr>
        <p:spPr>
          <a:xfrm>
            <a:off x="673100" y="16891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1</a:t>
            </a:r>
          </a:p>
        </p:txBody>
      </p:sp>
      <p:sp>
        <p:nvSpPr>
          <p:cNvPr id="12" name="ZoneTexte 11">
            <a:extLst>
              <a:ext uri="{FF2B5EF4-FFF2-40B4-BE49-F238E27FC236}">
                <a16:creationId xmlns:a16="http://schemas.microsoft.com/office/drawing/2014/main" id="{2962FBC7-9585-CEFD-E8BD-8275A70BCD1E}"/>
              </a:ext>
            </a:extLst>
          </p:cNvPr>
          <p:cNvSpPr txBox="1"/>
          <p:nvPr/>
        </p:nvSpPr>
        <p:spPr>
          <a:xfrm>
            <a:off x="1092200" y="1638300"/>
            <a:ext cx="11811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COLLECT</a:t>
            </a:r>
          </a:p>
        </p:txBody>
      </p:sp>
      <p:sp>
        <p:nvSpPr>
          <p:cNvPr id="13" name="ZoneTexte 12">
            <a:extLst>
              <a:ext uri="{FF2B5EF4-FFF2-40B4-BE49-F238E27FC236}">
                <a16:creationId xmlns:a16="http://schemas.microsoft.com/office/drawing/2014/main" id="{C9B0DB20-A722-1453-389E-C3786FDB4D08}"/>
              </a:ext>
            </a:extLst>
          </p:cNvPr>
          <p:cNvSpPr txBox="1"/>
          <p:nvPr/>
        </p:nvSpPr>
        <p:spPr>
          <a:xfrm>
            <a:off x="711200" y="2019300"/>
            <a:ext cx="1536700" cy="215444"/>
          </a:xfrm>
          <a:prstGeom prst="rect">
            <a:avLst/>
          </a:prstGeom>
          <a:noFill/>
        </p:spPr>
        <p:txBody>
          <a:bodyPr vert="horz" wrap="square" lIns="0" tIns="0" rIns="0" bIns="0" rtlCol="0">
            <a:noAutofit/>
          </a:bodyPr>
          <a:lstStyle/>
          <a:p>
            <a:r>
              <a:rPr lang="en-US" sz="850">
                <a:solidFill>
                  <a:srgbClr val="1C1F25"/>
                </a:solidFill>
                <a:latin typeface="Arial" panose="020B0604020202020204" pitchFamily="34" charset="0"/>
              </a:rPr>
              <a:t>396,559 comments from selected Wolof videos.</a:t>
            </a:r>
            <a:endParaRPr lang="fr-FR" sz="850">
              <a:solidFill>
                <a:srgbClr val="1C1F25"/>
              </a:solidFill>
              <a:latin typeface="Arial" panose="020B0604020202020204" pitchFamily="34" charset="0"/>
            </a:endParaRPr>
          </a:p>
        </p:txBody>
      </p:sp>
      <p:sp>
        <p:nvSpPr>
          <p:cNvPr id="14" name="Rectangle 13">
            <a:extLst>
              <a:ext uri="{FF2B5EF4-FFF2-40B4-BE49-F238E27FC236}">
                <a16:creationId xmlns:a16="http://schemas.microsoft.com/office/drawing/2014/main" id="{9105F272-70D9-33BB-CCE2-F29D27315876}"/>
              </a:ext>
            </a:extLst>
          </p:cNvPr>
          <p:cNvSpPr/>
          <p:nvPr/>
        </p:nvSpPr>
        <p:spPr>
          <a:xfrm>
            <a:off x="2603500" y="1498600"/>
            <a:ext cx="18415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3FA0BA5A-09F4-8677-6BF7-7ADCDCDF9F3C}"/>
              </a:ext>
            </a:extLst>
          </p:cNvPr>
          <p:cNvSpPr/>
          <p:nvPr/>
        </p:nvSpPr>
        <p:spPr>
          <a:xfrm>
            <a:off x="2730500" y="16256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237D7381-FD57-76C3-E949-0AA23EFCEDF3}"/>
              </a:ext>
            </a:extLst>
          </p:cNvPr>
          <p:cNvSpPr txBox="1"/>
          <p:nvPr/>
        </p:nvSpPr>
        <p:spPr>
          <a:xfrm>
            <a:off x="2730500" y="16891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2</a:t>
            </a:r>
          </a:p>
        </p:txBody>
      </p:sp>
      <p:sp>
        <p:nvSpPr>
          <p:cNvPr id="17" name="ZoneTexte 16">
            <a:extLst>
              <a:ext uri="{FF2B5EF4-FFF2-40B4-BE49-F238E27FC236}">
                <a16:creationId xmlns:a16="http://schemas.microsoft.com/office/drawing/2014/main" id="{528459B0-53C9-E9DE-E2CE-F3E0481130C9}"/>
              </a:ext>
            </a:extLst>
          </p:cNvPr>
          <p:cNvSpPr txBox="1"/>
          <p:nvPr/>
        </p:nvSpPr>
        <p:spPr>
          <a:xfrm>
            <a:off x="3149600" y="1638300"/>
            <a:ext cx="11811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CLEAN &amp; FILTER</a:t>
            </a:r>
          </a:p>
        </p:txBody>
      </p:sp>
      <p:sp>
        <p:nvSpPr>
          <p:cNvPr id="18" name="ZoneTexte 17">
            <a:extLst>
              <a:ext uri="{FF2B5EF4-FFF2-40B4-BE49-F238E27FC236}">
                <a16:creationId xmlns:a16="http://schemas.microsoft.com/office/drawing/2014/main" id="{4735B115-6330-0145-CC14-7E8695986482}"/>
              </a:ext>
            </a:extLst>
          </p:cNvPr>
          <p:cNvSpPr txBox="1"/>
          <p:nvPr/>
        </p:nvSpPr>
        <p:spPr>
          <a:xfrm>
            <a:off x="2768600" y="2019300"/>
            <a:ext cx="1536700" cy="215444"/>
          </a:xfrm>
          <a:prstGeom prst="rect">
            <a:avLst/>
          </a:prstGeom>
          <a:noFill/>
        </p:spPr>
        <p:txBody>
          <a:bodyPr vert="horz" wrap="square" lIns="0" tIns="0" rIns="0" bIns="0" rtlCol="0">
            <a:noAutofit/>
          </a:bodyPr>
          <a:lstStyle/>
          <a:p>
            <a:r>
              <a:rPr lang="en-US" sz="850" dirty="0">
                <a:solidFill>
                  <a:srgbClr val="1C1F25"/>
                </a:solidFill>
                <a:latin typeface="Arial" panose="020B0604020202020204" pitchFamily="34" charset="0"/>
              </a:rPr>
              <a:t>Remove unusable rows, filter by language</a:t>
            </a:r>
            <a:endParaRPr lang="fr-FR" sz="850" dirty="0">
              <a:solidFill>
                <a:srgbClr val="1C1F25"/>
              </a:solidFill>
              <a:latin typeface="Arial" panose="020B0604020202020204" pitchFamily="34" charset="0"/>
            </a:endParaRPr>
          </a:p>
        </p:txBody>
      </p:sp>
      <p:sp>
        <p:nvSpPr>
          <p:cNvPr id="19" name="Rectangle 18">
            <a:extLst>
              <a:ext uri="{FF2B5EF4-FFF2-40B4-BE49-F238E27FC236}">
                <a16:creationId xmlns:a16="http://schemas.microsoft.com/office/drawing/2014/main" id="{445D5136-9EB1-7CFE-C590-B856B558D1F4}"/>
              </a:ext>
            </a:extLst>
          </p:cNvPr>
          <p:cNvSpPr/>
          <p:nvPr/>
        </p:nvSpPr>
        <p:spPr>
          <a:xfrm>
            <a:off x="4660900" y="1498600"/>
            <a:ext cx="18415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4BFCB278-E0CB-0859-3CE4-BCE2B4042A1F}"/>
              </a:ext>
            </a:extLst>
          </p:cNvPr>
          <p:cNvSpPr/>
          <p:nvPr/>
        </p:nvSpPr>
        <p:spPr>
          <a:xfrm>
            <a:off x="4787900" y="16256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9018521D-2919-9F18-B87B-CEA13B2A9391}"/>
              </a:ext>
            </a:extLst>
          </p:cNvPr>
          <p:cNvSpPr txBox="1"/>
          <p:nvPr/>
        </p:nvSpPr>
        <p:spPr>
          <a:xfrm>
            <a:off x="4787900" y="16891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3</a:t>
            </a:r>
          </a:p>
        </p:txBody>
      </p:sp>
      <p:sp>
        <p:nvSpPr>
          <p:cNvPr id="22" name="ZoneTexte 21">
            <a:extLst>
              <a:ext uri="{FF2B5EF4-FFF2-40B4-BE49-F238E27FC236}">
                <a16:creationId xmlns:a16="http://schemas.microsoft.com/office/drawing/2014/main" id="{890A02FC-FF15-708C-AC9E-7F0A6D863EDB}"/>
              </a:ext>
            </a:extLst>
          </p:cNvPr>
          <p:cNvSpPr txBox="1"/>
          <p:nvPr/>
        </p:nvSpPr>
        <p:spPr>
          <a:xfrm>
            <a:off x="5207000" y="1638300"/>
            <a:ext cx="11811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ANNOTATE</a:t>
            </a:r>
          </a:p>
        </p:txBody>
      </p:sp>
      <p:sp>
        <p:nvSpPr>
          <p:cNvPr id="23" name="ZoneTexte 22">
            <a:extLst>
              <a:ext uri="{FF2B5EF4-FFF2-40B4-BE49-F238E27FC236}">
                <a16:creationId xmlns:a16="http://schemas.microsoft.com/office/drawing/2014/main" id="{660FDE08-2BEF-BE59-3C81-59DFEAD4280C}"/>
              </a:ext>
            </a:extLst>
          </p:cNvPr>
          <p:cNvSpPr txBox="1"/>
          <p:nvPr/>
        </p:nvSpPr>
        <p:spPr>
          <a:xfrm>
            <a:off x="4826000" y="2019300"/>
            <a:ext cx="1536700" cy="215444"/>
          </a:xfrm>
          <a:prstGeom prst="rect">
            <a:avLst/>
          </a:prstGeom>
          <a:noFill/>
        </p:spPr>
        <p:txBody>
          <a:bodyPr vert="horz" wrap="square" lIns="0" tIns="0" rIns="0" bIns="0" rtlCol="0">
            <a:noAutofit/>
          </a:bodyPr>
          <a:lstStyle/>
          <a:p>
            <a:r>
              <a:rPr lang="fr-FR" sz="850" dirty="0">
                <a:solidFill>
                  <a:srgbClr val="1C1F25"/>
                </a:solidFill>
                <a:latin typeface="Arial" panose="020B0604020202020204" pitchFamily="34" charset="0"/>
              </a:rPr>
              <a:t>Keep decision + </a:t>
            </a:r>
            <a:r>
              <a:rPr lang="fr-FR" sz="850" dirty="0" err="1">
                <a:solidFill>
                  <a:srgbClr val="1C1F25"/>
                </a:solidFill>
                <a:latin typeface="Arial" panose="020B0604020202020204" pitchFamily="34" charset="0"/>
              </a:rPr>
              <a:t>complete</a:t>
            </a:r>
            <a:r>
              <a:rPr lang="fr-FR" sz="850" dirty="0">
                <a:solidFill>
                  <a:srgbClr val="1C1F25"/>
                </a:solidFill>
                <a:latin typeface="Arial" panose="020B0604020202020204" pitchFamily="34" charset="0"/>
              </a:rPr>
              <a:t> formal reconstruction; </a:t>
            </a:r>
            <a:r>
              <a:rPr lang="fr-FR" sz="850" dirty="0" err="1">
                <a:solidFill>
                  <a:srgbClr val="1C1F25"/>
                </a:solidFill>
                <a:latin typeface="Arial" panose="020B0604020202020204" pitchFamily="34" charset="0"/>
              </a:rPr>
              <a:t>preserve</a:t>
            </a:r>
            <a:r>
              <a:rPr lang="fr-FR" sz="850" dirty="0">
                <a:solidFill>
                  <a:srgbClr val="1C1F25"/>
                </a:solidFill>
                <a:latin typeface="Arial" panose="020B0604020202020204" pitchFamily="34" charset="0"/>
              </a:rPr>
              <a:t> </a:t>
            </a:r>
            <a:r>
              <a:rPr lang="fr-FR" sz="850" dirty="0" err="1">
                <a:solidFill>
                  <a:srgbClr val="1C1F25"/>
                </a:solidFill>
                <a:latin typeface="Arial" panose="020B0604020202020204" pitchFamily="34" charset="0"/>
              </a:rPr>
              <a:t>intentional</a:t>
            </a:r>
            <a:r>
              <a:rPr lang="fr-FR" sz="850" dirty="0">
                <a:solidFill>
                  <a:srgbClr val="1C1F25"/>
                </a:solidFill>
                <a:latin typeface="Arial" panose="020B0604020202020204" pitchFamily="34" charset="0"/>
              </a:rPr>
              <a:t> French.</a:t>
            </a:r>
          </a:p>
        </p:txBody>
      </p:sp>
      <p:sp>
        <p:nvSpPr>
          <p:cNvPr id="24" name="Rectangle 23">
            <a:extLst>
              <a:ext uri="{FF2B5EF4-FFF2-40B4-BE49-F238E27FC236}">
                <a16:creationId xmlns:a16="http://schemas.microsoft.com/office/drawing/2014/main" id="{4C720CD8-D44D-6C0E-F835-28A990032344}"/>
              </a:ext>
            </a:extLst>
          </p:cNvPr>
          <p:cNvSpPr/>
          <p:nvPr/>
        </p:nvSpPr>
        <p:spPr>
          <a:xfrm>
            <a:off x="6718300" y="1498600"/>
            <a:ext cx="18415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7880C94B-7971-E086-ACA3-CF6C00AA5B6A}"/>
              </a:ext>
            </a:extLst>
          </p:cNvPr>
          <p:cNvSpPr/>
          <p:nvPr/>
        </p:nvSpPr>
        <p:spPr>
          <a:xfrm>
            <a:off x="6845300" y="16256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4FDD4686-EFD0-D3F7-F2CF-BC25A7924D2D}"/>
              </a:ext>
            </a:extLst>
          </p:cNvPr>
          <p:cNvSpPr txBox="1"/>
          <p:nvPr/>
        </p:nvSpPr>
        <p:spPr>
          <a:xfrm>
            <a:off x="6845300" y="16891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4</a:t>
            </a:r>
          </a:p>
        </p:txBody>
      </p:sp>
      <p:sp>
        <p:nvSpPr>
          <p:cNvPr id="27" name="ZoneTexte 26">
            <a:extLst>
              <a:ext uri="{FF2B5EF4-FFF2-40B4-BE49-F238E27FC236}">
                <a16:creationId xmlns:a16="http://schemas.microsoft.com/office/drawing/2014/main" id="{BCDE83D1-D8C1-2EB1-A027-E650BEADE426}"/>
              </a:ext>
            </a:extLst>
          </p:cNvPr>
          <p:cNvSpPr txBox="1"/>
          <p:nvPr/>
        </p:nvSpPr>
        <p:spPr>
          <a:xfrm>
            <a:off x="7264400" y="1638300"/>
            <a:ext cx="11811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ENRICH TRAIN</a:t>
            </a:r>
          </a:p>
        </p:txBody>
      </p:sp>
      <p:sp>
        <p:nvSpPr>
          <p:cNvPr id="28" name="ZoneTexte 27">
            <a:extLst>
              <a:ext uri="{FF2B5EF4-FFF2-40B4-BE49-F238E27FC236}">
                <a16:creationId xmlns:a16="http://schemas.microsoft.com/office/drawing/2014/main" id="{8E1C2111-62AA-684B-9733-94C35AD4E5BB}"/>
              </a:ext>
            </a:extLst>
          </p:cNvPr>
          <p:cNvSpPr txBox="1"/>
          <p:nvPr/>
        </p:nvSpPr>
        <p:spPr>
          <a:xfrm>
            <a:off x="6883400" y="2019300"/>
            <a:ext cx="1536700" cy="215444"/>
          </a:xfrm>
          <a:prstGeom prst="rect">
            <a:avLst/>
          </a:prstGeom>
          <a:noFill/>
        </p:spPr>
        <p:txBody>
          <a:bodyPr vert="horz" wrap="square" lIns="0" tIns="0" rIns="0" bIns="0" rtlCol="0">
            <a:noAutofit/>
          </a:bodyPr>
          <a:lstStyle/>
          <a:p>
            <a:r>
              <a:rPr lang="en-US" sz="850" dirty="0">
                <a:solidFill>
                  <a:srgbClr val="1C1F25"/>
                </a:solidFill>
                <a:latin typeface="Arial" panose="020B0604020202020204" pitchFamily="34" charset="0"/>
              </a:rPr>
              <a:t>POS, language, entity, protection and multi-label errors.</a:t>
            </a:r>
            <a:endParaRPr lang="fr-FR" sz="850" dirty="0">
              <a:solidFill>
                <a:srgbClr val="1C1F25"/>
              </a:solidFill>
              <a:latin typeface="Arial" panose="020B0604020202020204" pitchFamily="34" charset="0"/>
            </a:endParaRPr>
          </a:p>
        </p:txBody>
      </p:sp>
      <p:cxnSp>
        <p:nvCxnSpPr>
          <p:cNvPr id="29" name="Connecteur droit 28">
            <a:extLst>
              <a:ext uri="{FF2B5EF4-FFF2-40B4-BE49-F238E27FC236}">
                <a16:creationId xmlns:a16="http://schemas.microsoft.com/office/drawing/2014/main" id="{51C11CBB-045E-89A9-3574-180F8DA236BB}"/>
              </a:ext>
            </a:extLst>
          </p:cNvPr>
          <p:cNvCxnSpPr/>
          <p:nvPr/>
        </p:nvCxnSpPr>
        <p:spPr>
          <a:xfrm>
            <a:off x="2387600" y="1981200"/>
            <a:ext cx="177800" cy="0"/>
          </a:xfrm>
          <a:prstGeom prst="line">
            <a:avLst/>
          </a:prstGeom>
          <a:ln w="19050">
            <a:solidFill>
              <a:srgbClr val="58658B"/>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EE33CF49-4033-1931-3DEA-01E17BBA0171}"/>
              </a:ext>
            </a:extLst>
          </p:cNvPr>
          <p:cNvCxnSpPr/>
          <p:nvPr/>
        </p:nvCxnSpPr>
        <p:spPr>
          <a:xfrm>
            <a:off x="4445000" y="1981200"/>
            <a:ext cx="177800" cy="0"/>
          </a:xfrm>
          <a:prstGeom prst="line">
            <a:avLst/>
          </a:prstGeom>
          <a:ln w="19050">
            <a:solidFill>
              <a:srgbClr val="58658B"/>
            </a:solidFill>
            <a:tailEnd type="arrow"/>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AB28D966-E284-D3B2-6E41-46D29790ACF7}"/>
              </a:ext>
            </a:extLst>
          </p:cNvPr>
          <p:cNvCxnSpPr/>
          <p:nvPr/>
        </p:nvCxnSpPr>
        <p:spPr>
          <a:xfrm>
            <a:off x="6502400" y="1981200"/>
            <a:ext cx="177800" cy="0"/>
          </a:xfrm>
          <a:prstGeom prst="line">
            <a:avLst/>
          </a:prstGeom>
          <a:ln w="1905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A5999A3-8492-94B5-1E78-523CFECF1E64}"/>
              </a:ext>
            </a:extLst>
          </p:cNvPr>
          <p:cNvSpPr/>
          <p:nvPr/>
        </p:nvSpPr>
        <p:spPr>
          <a:xfrm>
            <a:off x="546100" y="2781300"/>
            <a:ext cx="8051800" cy="6858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F8212A84-82FB-D306-4F99-0D9CDDB9C3AF}"/>
              </a:ext>
            </a:extLst>
          </p:cNvPr>
          <p:cNvSpPr/>
          <p:nvPr/>
        </p:nvSpPr>
        <p:spPr>
          <a:xfrm>
            <a:off x="546100" y="2781300"/>
            <a:ext cx="8051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623F222A-7511-4247-6052-9A3C88470E54}"/>
              </a:ext>
            </a:extLst>
          </p:cNvPr>
          <p:cNvSpPr txBox="1"/>
          <p:nvPr/>
        </p:nvSpPr>
        <p:spPr>
          <a:xfrm>
            <a:off x="673100" y="2895600"/>
            <a:ext cx="7797800" cy="215444"/>
          </a:xfrm>
          <a:prstGeom prst="rect">
            <a:avLst/>
          </a:prstGeom>
          <a:noFill/>
        </p:spPr>
        <p:txBody>
          <a:bodyPr vert="horz" wrap="square" lIns="0" tIns="0" rIns="0" bIns="0" rtlCol="0">
            <a:noAutofit/>
          </a:bodyPr>
          <a:lstStyle/>
          <a:p>
            <a:r>
              <a:rPr lang="en-US" sz="900" b="1">
                <a:solidFill>
                  <a:srgbClr val="0E2F46"/>
                </a:solidFill>
                <a:latin typeface="Arial" panose="020B0604020202020204" pitchFamily="34" charset="0"/>
              </a:rPr>
              <a:t>ANNOTATED GOLD PAIR · source_index 5879</a:t>
            </a:r>
            <a:endParaRPr lang="fr-FR" sz="900" b="1">
              <a:solidFill>
                <a:srgbClr val="0E2F46"/>
              </a:solidFill>
              <a:latin typeface="Arial" panose="020B0604020202020204" pitchFamily="34" charset="0"/>
            </a:endParaRPr>
          </a:p>
        </p:txBody>
      </p:sp>
      <p:sp>
        <p:nvSpPr>
          <p:cNvPr id="34" name="ZoneTexte 33">
            <a:extLst>
              <a:ext uri="{FF2B5EF4-FFF2-40B4-BE49-F238E27FC236}">
                <a16:creationId xmlns:a16="http://schemas.microsoft.com/office/drawing/2014/main" id="{DD6F4D92-FAF0-D967-018F-2586ED9FCB2E}"/>
              </a:ext>
            </a:extLst>
          </p:cNvPr>
          <p:cNvSpPr txBox="1"/>
          <p:nvPr/>
        </p:nvSpPr>
        <p:spPr>
          <a:xfrm>
            <a:off x="673100" y="3149600"/>
            <a:ext cx="7797800" cy="215444"/>
          </a:xfrm>
          <a:prstGeom prst="rect">
            <a:avLst/>
          </a:prstGeom>
          <a:noFill/>
        </p:spPr>
        <p:txBody>
          <a:bodyPr vert="horz" wrap="square" lIns="0" tIns="0" rIns="0" bIns="0" rtlCol="0">
            <a:noAutofit/>
          </a:bodyPr>
          <a:lstStyle/>
          <a:p>
            <a:r>
              <a:rPr lang="en-US" sz="920" dirty="0">
                <a:solidFill>
                  <a:srgbClr val="1C1F25"/>
                </a:solidFill>
                <a:latin typeface="Arial" panose="020B0604020202020204" pitchFamily="34" charset="0"/>
              </a:rPr>
              <a:t>Informal:  doff </a:t>
            </a:r>
            <a:r>
              <a:rPr lang="en-US" sz="920" dirty="0" err="1">
                <a:solidFill>
                  <a:srgbClr val="1C1F25"/>
                </a:solidFill>
                <a:latin typeface="Arial" panose="020B0604020202020204" pitchFamily="34" charset="0"/>
              </a:rPr>
              <a:t>bu</a:t>
            </a:r>
            <a:r>
              <a:rPr lang="en-US" sz="920" dirty="0">
                <a:solidFill>
                  <a:srgbClr val="1C1F25"/>
                </a:solidFill>
                <a:latin typeface="Arial" panose="020B0604020202020204" pitchFamily="34" charset="0"/>
              </a:rPr>
              <a:t> </a:t>
            </a:r>
            <a:r>
              <a:rPr lang="en-US" sz="920" dirty="0" err="1">
                <a:solidFill>
                  <a:srgbClr val="1C1F25"/>
                </a:solidFill>
                <a:latin typeface="Arial" panose="020B0604020202020204" pitchFamily="34" charset="0"/>
              </a:rPr>
              <a:t>reww</a:t>
            </a:r>
            <a:r>
              <a:rPr lang="en-US" sz="920" dirty="0">
                <a:solidFill>
                  <a:srgbClr val="1C1F25"/>
                </a:solidFill>
                <a:latin typeface="Arial" panose="020B0604020202020204" pitchFamily="34" charset="0"/>
              </a:rPr>
              <a:t>     →     Formal  </a:t>
            </a:r>
            <a:r>
              <a:rPr lang="en-US" sz="920" dirty="0" err="1">
                <a:solidFill>
                  <a:srgbClr val="1C1F25"/>
                </a:solidFill>
                <a:latin typeface="Arial" panose="020B0604020202020204" pitchFamily="34" charset="0"/>
              </a:rPr>
              <a:t>dof</a:t>
            </a:r>
            <a:r>
              <a:rPr lang="en-US" sz="920" dirty="0">
                <a:solidFill>
                  <a:srgbClr val="1C1F25"/>
                </a:solidFill>
                <a:latin typeface="Arial" panose="020B0604020202020204" pitchFamily="34" charset="0"/>
              </a:rPr>
              <a:t> </a:t>
            </a:r>
            <a:r>
              <a:rPr lang="en-US" sz="920" dirty="0" err="1">
                <a:solidFill>
                  <a:srgbClr val="1C1F25"/>
                </a:solidFill>
                <a:latin typeface="Arial" panose="020B0604020202020204" pitchFamily="34" charset="0"/>
              </a:rPr>
              <a:t>bu</a:t>
            </a:r>
            <a:r>
              <a:rPr lang="en-US" sz="920" dirty="0">
                <a:solidFill>
                  <a:srgbClr val="1C1F25"/>
                </a:solidFill>
                <a:latin typeface="Arial" panose="020B0604020202020204" pitchFamily="34" charset="0"/>
              </a:rPr>
              <a:t> </a:t>
            </a:r>
            <a:r>
              <a:rPr lang="en-US" sz="920" dirty="0" err="1">
                <a:solidFill>
                  <a:srgbClr val="1C1F25"/>
                </a:solidFill>
                <a:latin typeface="Arial" panose="020B0604020202020204" pitchFamily="34" charset="0"/>
              </a:rPr>
              <a:t>reew</a:t>
            </a:r>
            <a:r>
              <a:rPr lang="en-US" sz="920" dirty="0">
                <a:solidFill>
                  <a:srgbClr val="1C1F25"/>
                </a:solidFill>
                <a:latin typeface="Arial" panose="020B0604020202020204" pitchFamily="34" charset="0"/>
              </a:rPr>
              <a:t>     /  decision: KEEP</a:t>
            </a:r>
            <a:endParaRPr lang="fr-FR" sz="920" dirty="0">
              <a:solidFill>
                <a:srgbClr val="1C1F25"/>
              </a:solidFill>
              <a:latin typeface="Arial" panose="020B0604020202020204" pitchFamily="34" charset="0"/>
            </a:endParaRPr>
          </a:p>
        </p:txBody>
      </p:sp>
      <p:sp>
        <p:nvSpPr>
          <p:cNvPr id="35" name="ZoneTexte 34">
            <a:extLst>
              <a:ext uri="{FF2B5EF4-FFF2-40B4-BE49-F238E27FC236}">
                <a16:creationId xmlns:a16="http://schemas.microsoft.com/office/drawing/2014/main" id="{4BA077B1-E6AC-6544-70F5-7E025BDB9C00}"/>
              </a:ext>
            </a:extLst>
          </p:cNvPr>
          <p:cNvSpPr txBox="1"/>
          <p:nvPr/>
        </p:nvSpPr>
        <p:spPr>
          <a:xfrm>
            <a:off x="7213600" y="2908300"/>
            <a:ext cx="1219200" cy="215444"/>
          </a:xfrm>
          <a:prstGeom prst="rect">
            <a:avLst/>
          </a:prstGeom>
          <a:noFill/>
        </p:spPr>
        <p:txBody>
          <a:bodyPr vert="horz" wrap="square" lIns="0" tIns="0" rIns="0" bIns="0" rtlCol="0">
            <a:noAutofit/>
          </a:bodyPr>
          <a:lstStyle/>
          <a:p>
            <a:pPr algn="r"/>
            <a:r>
              <a:rPr lang="fr-FR" sz="720" b="1">
                <a:solidFill>
                  <a:srgbClr val="0E2F46"/>
                </a:solidFill>
                <a:latin typeface="Arial" panose="020B0604020202020204" pitchFamily="34" charset="0"/>
              </a:rPr>
              <a:t>201 GOLD PAIRS</a:t>
            </a:r>
          </a:p>
        </p:txBody>
      </p:sp>
      <p:sp>
        <p:nvSpPr>
          <p:cNvPr id="36" name="Rectangle 35">
            <a:extLst>
              <a:ext uri="{FF2B5EF4-FFF2-40B4-BE49-F238E27FC236}">
                <a16:creationId xmlns:a16="http://schemas.microsoft.com/office/drawing/2014/main" id="{9C552D59-6FB5-4BA2-A51A-F4ACB398B76A}"/>
              </a:ext>
            </a:extLst>
          </p:cNvPr>
          <p:cNvSpPr/>
          <p:nvPr/>
        </p:nvSpPr>
        <p:spPr>
          <a:xfrm>
            <a:off x="546100" y="3632200"/>
            <a:ext cx="8051800" cy="863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C4BC4772-3498-C2D4-80CE-672AD4D44C3C}"/>
              </a:ext>
            </a:extLst>
          </p:cNvPr>
          <p:cNvSpPr/>
          <p:nvPr/>
        </p:nvSpPr>
        <p:spPr>
          <a:xfrm>
            <a:off x="546100" y="3632200"/>
            <a:ext cx="80518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DD3A1738-549A-E588-AC11-C534ACA4F8C1}"/>
              </a:ext>
            </a:extLst>
          </p:cNvPr>
          <p:cNvSpPr txBox="1"/>
          <p:nvPr/>
        </p:nvSpPr>
        <p:spPr>
          <a:xfrm>
            <a:off x="673100" y="3746500"/>
            <a:ext cx="7797800" cy="215444"/>
          </a:xfrm>
          <a:prstGeom prst="rect">
            <a:avLst/>
          </a:prstGeom>
          <a:noFill/>
        </p:spPr>
        <p:txBody>
          <a:bodyPr vert="horz" wrap="square" lIns="0" tIns="0" rIns="0" bIns="0" rtlCol="0">
            <a:noAutofit/>
          </a:bodyPr>
          <a:lstStyle/>
          <a:p>
            <a:r>
              <a:rPr lang="en-US" sz="900" b="1">
                <a:solidFill>
                  <a:srgbClr val="976F1D"/>
                </a:solidFill>
                <a:latin typeface="Arial" panose="020B0604020202020204" pitchFamily="34" charset="0"/>
              </a:rPr>
              <a:t>ENRICHED TOKEN · token_position 0</a:t>
            </a:r>
            <a:endParaRPr lang="fr-FR" sz="900" b="1">
              <a:solidFill>
                <a:srgbClr val="976F1D"/>
              </a:solidFill>
              <a:latin typeface="Arial" panose="020B0604020202020204" pitchFamily="34" charset="0"/>
            </a:endParaRPr>
          </a:p>
        </p:txBody>
      </p:sp>
      <p:sp>
        <p:nvSpPr>
          <p:cNvPr id="44" name="ZoneTexte 43">
            <a:extLst>
              <a:ext uri="{FF2B5EF4-FFF2-40B4-BE49-F238E27FC236}">
                <a16:creationId xmlns:a16="http://schemas.microsoft.com/office/drawing/2014/main" id="{55D87CB1-FFEC-7F55-FE46-DE8AB6029D4C}"/>
              </a:ext>
            </a:extLst>
          </p:cNvPr>
          <p:cNvSpPr txBox="1"/>
          <p:nvPr/>
        </p:nvSpPr>
        <p:spPr>
          <a:xfrm>
            <a:off x="673100" y="4000500"/>
            <a:ext cx="7797800" cy="215444"/>
          </a:xfrm>
          <a:prstGeom prst="rect">
            <a:avLst/>
          </a:prstGeom>
          <a:noFill/>
        </p:spPr>
        <p:txBody>
          <a:bodyPr vert="horz" wrap="square" lIns="0" tIns="0" rIns="0" bIns="0" rtlCol="0">
            <a:noAutofit/>
          </a:bodyPr>
          <a:lstStyle/>
          <a:p>
            <a:r>
              <a:rPr lang="fr-FR" sz="840" dirty="0" err="1">
                <a:solidFill>
                  <a:srgbClr val="1C1F25"/>
                </a:solidFill>
                <a:latin typeface="Arial" panose="020B0604020202020204" pitchFamily="34" charset="0"/>
              </a:rPr>
              <a:t>doff</a:t>
            </a:r>
            <a:r>
              <a:rPr lang="fr-FR" sz="840" dirty="0">
                <a:solidFill>
                  <a:srgbClr val="1C1F25"/>
                </a:solidFill>
                <a:latin typeface="Arial" panose="020B0604020202020204" pitchFamily="34" charset="0"/>
              </a:rPr>
              <a:t> → </a:t>
            </a:r>
            <a:r>
              <a:rPr lang="fr-FR" sz="840" dirty="0" err="1">
                <a:solidFill>
                  <a:srgbClr val="1C1F25"/>
                </a:solidFill>
                <a:latin typeface="Arial" panose="020B0604020202020204" pitchFamily="34" charset="0"/>
              </a:rPr>
              <a:t>dof</a:t>
            </a:r>
            <a:r>
              <a:rPr lang="fr-FR" sz="840" dirty="0">
                <a:solidFill>
                  <a:srgbClr val="1C1F25"/>
                </a:solidFill>
                <a:latin typeface="Arial" panose="020B0604020202020204" pitchFamily="34" charset="0"/>
              </a:rPr>
              <a:t>   /  </a:t>
            </a:r>
            <a:r>
              <a:rPr lang="fr-FR" sz="840" b="1" dirty="0" err="1">
                <a:solidFill>
                  <a:srgbClr val="1C1F25"/>
                </a:solidFill>
                <a:latin typeface="Arial" panose="020B0604020202020204" pitchFamily="34" charset="0"/>
              </a:rPr>
              <a:t>lemma</a:t>
            </a:r>
            <a:r>
              <a:rPr lang="fr-FR" sz="840" dirty="0">
                <a:solidFill>
                  <a:srgbClr val="1C1F25"/>
                </a:solidFill>
                <a:latin typeface="Arial" panose="020B0604020202020204" pitchFamily="34" charset="0"/>
              </a:rPr>
              <a:t>: </a:t>
            </a:r>
            <a:r>
              <a:rPr lang="fr-FR" sz="840" dirty="0" err="1">
                <a:solidFill>
                  <a:srgbClr val="1C1F25"/>
                </a:solidFill>
                <a:latin typeface="Arial" panose="020B0604020202020204" pitchFamily="34" charset="0"/>
              </a:rPr>
              <a:t>dof</a:t>
            </a:r>
            <a:r>
              <a:rPr lang="fr-FR" sz="840" dirty="0">
                <a:solidFill>
                  <a:srgbClr val="1C1F25"/>
                </a:solidFill>
                <a:latin typeface="Arial" panose="020B0604020202020204" pitchFamily="34" charset="0"/>
              </a:rPr>
              <a:t>   /  </a:t>
            </a:r>
            <a:r>
              <a:rPr lang="fr-FR" sz="840" b="1" dirty="0">
                <a:solidFill>
                  <a:srgbClr val="1C1F25"/>
                </a:solidFill>
                <a:latin typeface="Arial" panose="020B0604020202020204" pitchFamily="34" charset="0"/>
              </a:rPr>
              <a:t>POS</a:t>
            </a:r>
            <a:r>
              <a:rPr lang="fr-FR" sz="840" dirty="0">
                <a:solidFill>
                  <a:srgbClr val="1C1F25"/>
                </a:solidFill>
                <a:latin typeface="Arial" panose="020B0604020202020204" pitchFamily="34" charset="0"/>
              </a:rPr>
              <a:t>: NOUN   /  </a:t>
            </a:r>
            <a:r>
              <a:rPr lang="fr-FR" sz="840" b="1" dirty="0">
                <a:solidFill>
                  <a:srgbClr val="1C1F25"/>
                </a:solidFill>
                <a:latin typeface="Arial" panose="020B0604020202020204" pitchFamily="34" charset="0"/>
              </a:rPr>
              <a:t>language:</a:t>
            </a:r>
            <a:r>
              <a:rPr lang="fr-FR" sz="840" dirty="0">
                <a:solidFill>
                  <a:srgbClr val="1C1F25"/>
                </a:solidFill>
                <a:latin typeface="Arial" panose="020B0604020202020204" pitchFamily="34" charset="0"/>
              </a:rPr>
              <a:t> </a:t>
            </a:r>
            <a:r>
              <a:rPr lang="fr-FR" sz="840" dirty="0" err="1">
                <a:solidFill>
                  <a:srgbClr val="1C1F25"/>
                </a:solidFill>
                <a:latin typeface="Arial" panose="020B0604020202020204" pitchFamily="34" charset="0"/>
              </a:rPr>
              <a:t>wo→wo</a:t>
            </a:r>
            <a:r>
              <a:rPr lang="fr-FR" sz="840" dirty="0">
                <a:solidFill>
                  <a:srgbClr val="1C1F25"/>
                </a:solidFill>
                <a:latin typeface="Arial" panose="020B0604020202020204" pitchFamily="34" charset="0"/>
              </a:rPr>
              <a:t> / </a:t>
            </a:r>
            <a:r>
              <a:rPr lang="fr-FR" sz="840" b="1" dirty="0">
                <a:solidFill>
                  <a:srgbClr val="1C1F25"/>
                </a:solidFill>
                <a:latin typeface="Arial" panose="020B0604020202020204" pitchFamily="34" charset="0"/>
              </a:rPr>
              <a:t>entity</a:t>
            </a:r>
            <a:r>
              <a:rPr lang="fr-FR" sz="840" dirty="0">
                <a:solidFill>
                  <a:srgbClr val="1C1F25"/>
                </a:solidFill>
                <a:latin typeface="Arial" panose="020B0604020202020204" pitchFamily="34" charset="0"/>
              </a:rPr>
              <a:t>: UNKNOWN  /  </a:t>
            </a:r>
            <a:r>
              <a:rPr lang="fr-FR" sz="840" b="1" dirty="0" err="1">
                <a:solidFill>
                  <a:srgbClr val="1C1F25"/>
                </a:solidFill>
                <a:latin typeface="Arial" panose="020B0604020202020204" pitchFamily="34" charset="0"/>
              </a:rPr>
              <a:t>protected</a:t>
            </a:r>
            <a:r>
              <a:rPr lang="fr-FR" sz="840" dirty="0">
                <a:solidFill>
                  <a:srgbClr val="1C1F25"/>
                </a:solidFill>
                <a:latin typeface="Arial" panose="020B0604020202020204" pitchFamily="34" charset="0"/>
              </a:rPr>
              <a:t>: NO   ·   </a:t>
            </a:r>
            <a:r>
              <a:rPr lang="fr-FR" sz="840" b="1" dirty="0" err="1">
                <a:solidFill>
                  <a:srgbClr val="1C1F25"/>
                </a:solidFill>
                <a:latin typeface="Arial" panose="020B0604020202020204" pitchFamily="34" charset="0"/>
              </a:rPr>
              <a:t>error</a:t>
            </a:r>
            <a:r>
              <a:rPr lang="fr-FR" sz="840" dirty="0">
                <a:solidFill>
                  <a:srgbClr val="1C1F25"/>
                </a:solidFill>
                <a:latin typeface="Arial" panose="020B0604020202020204" pitchFamily="34" charset="0"/>
              </a:rPr>
              <a:t>: REPETITION</a:t>
            </a:r>
          </a:p>
        </p:txBody>
      </p:sp>
      <p:sp>
        <p:nvSpPr>
          <p:cNvPr id="49" name="ZoneTexte 48">
            <a:extLst>
              <a:ext uri="{FF2B5EF4-FFF2-40B4-BE49-F238E27FC236}">
                <a16:creationId xmlns:a16="http://schemas.microsoft.com/office/drawing/2014/main" id="{203AA615-7199-8C66-E25C-9844278EA7CB}"/>
              </a:ext>
            </a:extLst>
          </p:cNvPr>
          <p:cNvSpPr txBox="1"/>
          <p:nvPr/>
        </p:nvSpPr>
        <p:spPr>
          <a:xfrm>
            <a:off x="6934200" y="3759200"/>
            <a:ext cx="1498600" cy="215444"/>
          </a:xfrm>
          <a:prstGeom prst="rect">
            <a:avLst/>
          </a:prstGeom>
          <a:noFill/>
        </p:spPr>
        <p:txBody>
          <a:bodyPr vert="horz" wrap="square" lIns="0" tIns="0" rIns="0" bIns="0" rtlCol="0">
            <a:noAutofit/>
          </a:bodyPr>
          <a:lstStyle/>
          <a:p>
            <a:pPr algn="r"/>
            <a:r>
              <a:rPr lang="fr-FR" sz="720" b="1">
                <a:solidFill>
                  <a:srgbClr val="976F1D"/>
                </a:solidFill>
                <a:latin typeface="Arial" panose="020B0604020202020204" pitchFamily="34" charset="0"/>
              </a:rPr>
              <a:t>1,315 OCCURRENCES</a:t>
            </a:r>
          </a:p>
        </p:txBody>
      </p:sp>
      <p:sp>
        <p:nvSpPr>
          <p:cNvPr id="37" name="Rectangle 36">
            <a:extLst>
              <a:ext uri="{FF2B5EF4-FFF2-40B4-BE49-F238E27FC236}">
                <a16:creationId xmlns:a16="http://schemas.microsoft.com/office/drawing/2014/main" id="{610AC026-7A40-7299-9693-5E51638169ED}"/>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 coins arrondis 37">
            <a:extLst>
              <a:ext uri="{FF2B5EF4-FFF2-40B4-BE49-F238E27FC236}">
                <a16:creationId xmlns:a16="http://schemas.microsoft.com/office/drawing/2014/main" id="{837A8447-697E-6C7A-B574-1F2CBD3C8AA3}"/>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E4BE5403-2E07-C690-A7F1-DC5E0E225A49}"/>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4" name="ZoneTexte 3">
            <a:extLst>
              <a:ext uri="{FF2B5EF4-FFF2-40B4-BE49-F238E27FC236}">
                <a16:creationId xmlns:a16="http://schemas.microsoft.com/office/drawing/2014/main" id="{C3A39F36-1F0E-E358-B784-C63D305351C0}"/>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From raw YouTube comments to a frozen benchmark</a:t>
            </a:r>
            <a:endParaRPr lang="fr-FR" sz="1900" b="1">
              <a:solidFill>
                <a:srgbClr val="57658D"/>
              </a:solidFill>
              <a:latin typeface="Arial" panose="020B0604020202020204" pitchFamily="34" charset="0"/>
            </a:endParaRPr>
          </a:p>
        </p:txBody>
      </p:sp>
      <p:sp>
        <p:nvSpPr>
          <p:cNvPr id="40" name="ZoneTexte 39">
            <a:extLst>
              <a:ext uri="{FF2B5EF4-FFF2-40B4-BE49-F238E27FC236}">
                <a16:creationId xmlns:a16="http://schemas.microsoft.com/office/drawing/2014/main" id="{8B85FBB9-0CE9-015C-F441-157544218BC1}"/>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42" name="ZoneTexte 41">
            <a:extLst>
              <a:ext uri="{FF2B5EF4-FFF2-40B4-BE49-F238E27FC236}">
                <a16:creationId xmlns:a16="http://schemas.microsoft.com/office/drawing/2014/main" id="{3B3BF002-4B64-3C0F-E835-0DA5A56E5C80}"/>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Data pipeline</a:t>
            </a:r>
          </a:p>
        </p:txBody>
      </p:sp>
      <p:sp>
        <p:nvSpPr>
          <p:cNvPr id="45" name="ZoneTexte 44">
            <a:extLst>
              <a:ext uri="{FF2B5EF4-FFF2-40B4-BE49-F238E27FC236}">
                <a16:creationId xmlns:a16="http://schemas.microsoft.com/office/drawing/2014/main" id="{4BA9745A-F21A-96D6-8808-836370C539EC}"/>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6 / 36</a:t>
            </a:r>
          </a:p>
        </p:txBody>
      </p:sp>
      <p:pic>
        <p:nvPicPr>
          <p:cNvPr id="47" name="Image 46">
            <a:extLst>
              <a:ext uri="{FF2B5EF4-FFF2-40B4-BE49-F238E27FC236}">
                <a16:creationId xmlns:a16="http://schemas.microsoft.com/office/drawing/2014/main" id="{D849B5A7-4707-87DC-B29B-672326AEDB5F}"/>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339201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75597555-0A04-7B03-8F10-D38E79139D21}"/>
              </a:ext>
            </a:extLst>
          </p:cNvPr>
          <p:cNvSpPr/>
          <p:nvPr/>
        </p:nvSpPr>
        <p:spPr>
          <a:xfrm>
            <a:off x="546100" y="317500"/>
            <a:ext cx="18415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25F7905-34E8-97E9-2E1B-212E58ED5EE3}"/>
              </a:ext>
            </a:extLst>
          </p:cNvPr>
          <p:cNvSpPr txBox="1"/>
          <p:nvPr/>
        </p:nvSpPr>
        <p:spPr>
          <a:xfrm>
            <a:off x="546100" y="381000"/>
            <a:ext cx="1841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ANNOTATION ANALYSIS</a:t>
            </a:r>
          </a:p>
        </p:txBody>
      </p:sp>
      <p:sp>
        <p:nvSpPr>
          <p:cNvPr id="4" name="ZoneTexte 3">
            <a:extLst>
              <a:ext uri="{FF2B5EF4-FFF2-40B4-BE49-F238E27FC236}">
                <a16:creationId xmlns:a16="http://schemas.microsoft.com/office/drawing/2014/main" id="{FBFB3F40-25C1-E665-18B6-3EBBD2B478BB}"/>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Identity is the dominant gold transformation</a:t>
            </a:r>
            <a:endParaRPr lang="fr-FR" sz="1900" b="1">
              <a:solidFill>
                <a:srgbClr val="57658D"/>
              </a:solidFill>
              <a:latin typeface="Arial" panose="020B0604020202020204" pitchFamily="34" charset="0"/>
            </a:endParaRPr>
          </a:p>
        </p:txBody>
      </p:sp>
      <p:grpSp>
        <p:nvGrpSpPr>
          <p:cNvPr id="39" name="Groupe 38">
            <a:extLst>
              <a:ext uri="{FF2B5EF4-FFF2-40B4-BE49-F238E27FC236}">
                <a16:creationId xmlns:a16="http://schemas.microsoft.com/office/drawing/2014/main" id="{9EA470D0-9B86-1020-23E8-893413D52A43}"/>
              </a:ext>
            </a:extLst>
          </p:cNvPr>
          <p:cNvGrpSpPr/>
          <p:nvPr/>
        </p:nvGrpSpPr>
        <p:grpSpPr>
          <a:xfrm>
            <a:off x="685800" y="1460500"/>
            <a:ext cx="4666488" cy="2336344"/>
            <a:chOff x="685800" y="1460500"/>
            <a:chExt cx="4666488" cy="2336344"/>
          </a:xfrm>
        </p:grpSpPr>
        <p:sp>
          <p:nvSpPr>
            <p:cNvPr id="9" name="ZoneTexte 8">
              <a:extLst>
                <a:ext uri="{FF2B5EF4-FFF2-40B4-BE49-F238E27FC236}">
                  <a16:creationId xmlns:a16="http://schemas.microsoft.com/office/drawing/2014/main" id="{BB3CF6E0-E701-CB02-3A41-A566F4B847E3}"/>
                </a:ext>
              </a:extLst>
            </p:cNvPr>
            <p:cNvSpPr txBox="1"/>
            <p:nvPr/>
          </p:nvSpPr>
          <p:spPr>
            <a:xfrm>
              <a:off x="787400" y="1460500"/>
              <a:ext cx="4064000" cy="215444"/>
            </a:xfrm>
            <a:prstGeom prst="rect">
              <a:avLst/>
            </a:prstGeom>
            <a:noFill/>
          </p:spPr>
          <p:txBody>
            <a:bodyPr vert="horz" wrap="square" lIns="0" tIns="0" rIns="0" bIns="0" rtlCol="0">
              <a:noAutofit/>
            </a:bodyPr>
            <a:lstStyle/>
            <a:p>
              <a:pPr algn="ctr"/>
              <a:r>
                <a:rPr lang="fr-FR" sz="900" b="1">
                  <a:solidFill>
                    <a:srgbClr val="0E2F46"/>
                  </a:solidFill>
                  <a:latin typeface="Verdana" panose="020B0604030504040204" pitchFamily="34" charset="0"/>
                </a:rPr>
                <a:t>GOLD-TRAIN OPERATION SHARE</a:t>
              </a:r>
            </a:p>
          </p:txBody>
        </p:sp>
        <p:sp>
          <p:nvSpPr>
            <p:cNvPr id="10" name="ZoneTexte 9">
              <a:extLst>
                <a:ext uri="{FF2B5EF4-FFF2-40B4-BE49-F238E27FC236}">
                  <a16:creationId xmlns:a16="http://schemas.microsoft.com/office/drawing/2014/main" id="{E6500DDF-A975-8575-EFA2-D4C8F41F6F42}"/>
                </a:ext>
              </a:extLst>
            </p:cNvPr>
            <p:cNvSpPr txBox="1"/>
            <p:nvPr/>
          </p:nvSpPr>
          <p:spPr>
            <a:xfrm>
              <a:off x="685800" y="1943100"/>
              <a:ext cx="863600" cy="215444"/>
            </a:xfrm>
            <a:prstGeom prst="rect">
              <a:avLst/>
            </a:prstGeom>
            <a:noFill/>
          </p:spPr>
          <p:txBody>
            <a:bodyPr vert="horz" wrap="square" lIns="0" tIns="0" rIns="0" bIns="0" rtlCol="0">
              <a:noAutofit/>
            </a:bodyPr>
            <a:lstStyle/>
            <a:p>
              <a:pPr algn="r"/>
              <a:r>
                <a:rPr lang="fr-FR" sz="900" b="1">
                  <a:solidFill>
                    <a:srgbClr val="0E2F46"/>
                  </a:solidFill>
                  <a:latin typeface="Verdana" panose="020B0604030504040204" pitchFamily="34" charset="0"/>
                </a:rPr>
                <a:t>IDENTITY</a:t>
              </a:r>
            </a:p>
          </p:txBody>
        </p:sp>
        <p:sp>
          <p:nvSpPr>
            <p:cNvPr id="11" name="Rectangle 10">
              <a:extLst>
                <a:ext uri="{FF2B5EF4-FFF2-40B4-BE49-F238E27FC236}">
                  <a16:creationId xmlns:a16="http://schemas.microsoft.com/office/drawing/2014/main" id="{6090348A-0AAB-8D45-CC6C-5C0EEB51C554}"/>
                </a:ext>
              </a:extLst>
            </p:cNvPr>
            <p:cNvSpPr/>
            <p:nvPr/>
          </p:nvSpPr>
          <p:spPr>
            <a:xfrm>
              <a:off x="1625600" y="1917700"/>
              <a:ext cx="31496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B14C5529-38AE-1139-80E6-965E52248707}"/>
                </a:ext>
              </a:extLst>
            </p:cNvPr>
            <p:cNvSpPr/>
            <p:nvPr/>
          </p:nvSpPr>
          <p:spPr>
            <a:xfrm>
              <a:off x="1625600" y="1917700"/>
              <a:ext cx="2554325"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E71896DC-9222-5CF5-AA66-CCEC699F7835}"/>
                </a:ext>
              </a:extLst>
            </p:cNvPr>
            <p:cNvSpPr txBox="1"/>
            <p:nvPr/>
          </p:nvSpPr>
          <p:spPr>
            <a:xfrm>
              <a:off x="4876800" y="1943100"/>
              <a:ext cx="475488" cy="215444"/>
            </a:xfrm>
            <a:prstGeom prst="rect">
              <a:avLst/>
            </a:prstGeom>
            <a:noFill/>
          </p:spPr>
          <p:txBody>
            <a:bodyPr vert="horz" wrap="square" lIns="0" tIns="0" rIns="0" bIns="0" rtlCol="0">
              <a:noAutofit/>
            </a:bodyPr>
            <a:lstStyle/>
            <a:p>
              <a:r>
                <a:rPr lang="fr-FR" sz="900" b="1" dirty="0">
                  <a:solidFill>
                    <a:srgbClr val="1C1F25"/>
                  </a:solidFill>
                  <a:latin typeface="Verdana" panose="020B0604030504040204" pitchFamily="34" charset="0"/>
                </a:rPr>
                <a:t>81.1%</a:t>
              </a:r>
            </a:p>
          </p:txBody>
        </p:sp>
        <p:sp>
          <p:nvSpPr>
            <p:cNvPr id="14" name="ZoneTexte 13">
              <a:extLst>
                <a:ext uri="{FF2B5EF4-FFF2-40B4-BE49-F238E27FC236}">
                  <a16:creationId xmlns:a16="http://schemas.microsoft.com/office/drawing/2014/main" id="{B0FD9C63-093D-7517-0A00-CE197C1967A9}"/>
                </a:ext>
              </a:extLst>
            </p:cNvPr>
            <p:cNvSpPr txBox="1"/>
            <p:nvPr/>
          </p:nvSpPr>
          <p:spPr>
            <a:xfrm>
              <a:off x="685800" y="2489200"/>
              <a:ext cx="863600" cy="215444"/>
            </a:xfrm>
            <a:prstGeom prst="rect">
              <a:avLst/>
            </a:prstGeom>
            <a:noFill/>
          </p:spPr>
          <p:txBody>
            <a:bodyPr vert="horz" wrap="square" lIns="0" tIns="0" rIns="0" bIns="0" rtlCol="0">
              <a:noAutofit/>
            </a:bodyPr>
            <a:lstStyle/>
            <a:p>
              <a:pPr algn="r"/>
              <a:r>
                <a:rPr lang="fr-FR" sz="900" b="1">
                  <a:solidFill>
                    <a:srgbClr val="976F1D"/>
                  </a:solidFill>
                  <a:latin typeface="Verdana" panose="020B0604030504040204" pitchFamily="34" charset="0"/>
                </a:rPr>
                <a:t>SUBSTITUTE</a:t>
              </a:r>
            </a:p>
          </p:txBody>
        </p:sp>
        <p:sp>
          <p:nvSpPr>
            <p:cNvPr id="15" name="Rectangle 14">
              <a:extLst>
                <a:ext uri="{FF2B5EF4-FFF2-40B4-BE49-F238E27FC236}">
                  <a16:creationId xmlns:a16="http://schemas.microsoft.com/office/drawing/2014/main" id="{19D8A070-8FBB-614E-8478-E2EA175A883A}"/>
                </a:ext>
              </a:extLst>
            </p:cNvPr>
            <p:cNvSpPr/>
            <p:nvPr/>
          </p:nvSpPr>
          <p:spPr>
            <a:xfrm>
              <a:off x="1625600" y="2463800"/>
              <a:ext cx="31496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967C19EA-7519-7835-F731-0015C8021706}"/>
                </a:ext>
              </a:extLst>
            </p:cNvPr>
            <p:cNvSpPr/>
            <p:nvPr/>
          </p:nvSpPr>
          <p:spPr>
            <a:xfrm>
              <a:off x="1625600" y="2463800"/>
              <a:ext cx="292913" cy="1905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02E93D66-5D6F-CFF5-3D07-5E5B09ADFF1C}"/>
                </a:ext>
              </a:extLst>
            </p:cNvPr>
            <p:cNvSpPr txBox="1"/>
            <p:nvPr/>
          </p:nvSpPr>
          <p:spPr>
            <a:xfrm>
              <a:off x="4876800" y="2489200"/>
              <a:ext cx="408432" cy="215444"/>
            </a:xfrm>
            <a:prstGeom prst="rect">
              <a:avLst/>
            </a:prstGeom>
            <a:noFill/>
          </p:spPr>
          <p:txBody>
            <a:bodyPr vert="horz" wrap="square" lIns="0" tIns="0" rIns="0" bIns="0" rtlCol="0">
              <a:noAutofit/>
            </a:bodyPr>
            <a:lstStyle/>
            <a:p>
              <a:r>
                <a:rPr lang="fr-FR" sz="900" b="1" dirty="0">
                  <a:solidFill>
                    <a:srgbClr val="1C1F25"/>
                  </a:solidFill>
                  <a:latin typeface="Verdana" panose="020B0604030504040204" pitchFamily="34" charset="0"/>
                </a:rPr>
                <a:t>9.3%</a:t>
              </a:r>
            </a:p>
          </p:txBody>
        </p:sp>
        <p:sp>
          <p:nvSpPr>
            <p:cNvPr id="18" name="ZoneTexte 17">
              <a:extLst>
                <a:ext uri="{FF2B5EF4-FFF2-40B4-BE49-F238E27FC236}">
                  <a16:creationId xmlns:a16="http://schemas.microsoft.com/office/drawing/2014/main" id="{6EB54177-682A-3A85-DD89-2B47C19DBE51}"/>
                </a:ext>
              </a:extLst>
            </p:cNvPr>
            <p:cNvSpPr txBox="1"/>
            <p:nvPr/>
          </p:nvSpPr>
          <p:spPr>
            <a:xfrm>
              <a:off x="685800" y="3035300"/>
              <a:ext cx="863600" cy="215444"/>
            </a:xfrm>
            <a:prstGeom prst="rect">
              <a:avLst/>
            </a:prstGeom>
            <a:noFill/>
          </p:spPr>
          <p:txBody>
            <a:bodyPr vert="horz" wrap="square" lIns="0" tIns="0" rIns="0" bIns="0" rtlCol="0">
              <a:noAutofit/>
            </a:bodyPr>
            <a:lstStyle/>
            <a:p>
              <a:pPr algn="r"/>
              <a:r>
                <a:rPr lang="fr-FR" sz="900" b="1">
                  <a:solidFill>
                    <a:srgbClr val="58658B"/>
                  </a:solidFill>
                  <a:latin typeface="Verdana" panose="020B0604030504040204" pitchFamily="34" charset="0"/>
                </a:rPr>
                <a:t>DELETE</a:t>
              </a:r>
            </a:p>
          </p:txBody>
        </p:sp>
        <p:sp>
          <p:nvSpPr>
            <p:cNvPr id="19" name="Rectangle 18">
              <a:extLst>
                <a:ext uri="{FF2B5EF4-FFF2-40B4-BE49-F238E27FC236}">
                  <a16:creationId xmlns:a16="http://schemas.microsoft.com/office/drawing/2014/main" id="{8ECC1C30-E366-0411-982D-DA3E848D5704}"/>
                </a:ext>
              </a:extLst>
            </p:cNvPr>
            <p:cNvSpPr/>
            <p:nvPr/>
          </p:nvSpPr>
          <p:spPr>
            <a:xfrm>
              <a:off x="1625600" y="3009900"/>
              <a:ext cx="31496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D7312D45-F5D3-50A5-C95B-10E572F3A53D}"/>
                </a:ext>
              </a:extLst>
            </p:cNvPr>
            <p:cNvSpPr/>
            <p:nvPr/>
          </p:nvSpPr>
          <p:spPr>
            <a:xfrm>
              <a:off x="1625600" y="3009900"/>
              <a:ext cx="201574"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26454715-615C-2EA7-7406-C658F55D6061}"/>
                </a:ext>
              </a:extLst>
            </p:cNvPr>
            <p:cNvSpPr txBox="1"/>
            <p:nvPr/>
          </p:nvSpPr>
          <p:spPr>
            <a:xfrm>
              <a:off x="4876800" y="3035300"/>
              <a:ext cx="408432" cy="215444"/>
            </a:xfrm>
            <a:prstGeom prst="rect">
              <a:avLst/>
            </a:prstGeom>
            <a:noFill/>
          </p:spPr>
          <p:txBody>
            <a:bodyPr vert="horz" wrap="square" lIns="0" tIns="0" rIns="0" bIns="0" rtlCol="0">
              <a:noAutofit/>
            </a:bodyPr>
            <a:lstStyle/>
            <a:p>
              <a:r>
                <a:rPr lang="fr-FR" sz="900" b="1" dirty="0">
                  <a:solidFill>
                    <a:srgbClr val="1C1F25"/>
                  </a:solidFill>
                  <a:latin typeface="Verdana" panose="020B0604030504040204" pitchFamily="34" charset="0"/>
                </a:rPr>
                <a:t>6.4%</a:t>
              </a:r>
            </a:p>
          </p:txBody>
        </p:sp>
        <p:sp>
          <p:nvSpPr>
            <p:cNvPr id="22" name="ZoneTexte 21">
              <a:extLst>
                <a:ext uri="{FF2B5EF4-FFF2-40B4-BE49-F238E27FC236}">
                  <a16:creationId xmlns:a16="http://schemas.microsoft.com/office/drawing/2014/main" id="{82783288-14F3-B391-C0E4-BB2398ED7A3A}"/>
                </a:ext>
              </a:extLst>
            </p:cNvPr>
            <p:cNvSpPr txBox="1"/>
            <p:nvPr/>
          </p:nvSpPr>
          <p:spPr>
            <a:xfrm>
              <a:off x="685800" y="3581400"/>
              <a:ext cx="863600" cy="215444"/>
            </a:xfrm>
            <a:prstGeom prst="rect">
              <a:avLst/>
            </a:prstGeom>
            <a:noFill/>
          </p:spPr>
          <p:txBody>
            <a:bodyPr vert="horz" wrap="square" lIns="0" tIns="0" rIns="0" bIns="0" rtlCol="0">
              <a:noAutofit/>
            </a:bodyPr>
            <a:lstStyle/>
            <a:p>
              <a:pPr algn="r"/>
              <a:r>
                <a:rPr lang="fr-FR" sz="900" b="1">
                  <a:solidFill>
                    <a:srgbClr val="606774"/>
                  </a:solidFill>
                  <a:latin typeface="Verdana" panose="020B0604030504040204" pitchFamily="34" charset="0"/>
                </a:rPr>
                <a:t>EXPAND</a:t>
              </a:r>
            </a:p>
          </p:txBody>
        </p:sp>
        <p:sp>
          <p:nvSpPr>
            <p:cNvPr id="23" name="Rectangle 22">
              <a:extLst>
                <a:ext uri="{FF2B5EF4-FFF2-40B4-BE49-F238E27FC236}">
                  <a16:creationId xmlns:a16="http://schemas.microsoft.com/office/drawing/2014/main" id="{09E7297F-4C67-9DC1-2372-A60022748611}"/>
                </a:ext>
              </a:extLst>
            </p:cNvPr>
            <p:cNvSpPr/>
            <p:nvPr/>
          </p:nvSpPr>
          <p:spPr>
            <a:xfrm>
              <a:off x="1625600" y="3556000"/>
              <a:ext cx="31496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D8E75593-E673-43A1-E398-527EDDF87984}"/>
                </a:ext>
              </a:extLst>
            </p:cNvPr>
            <p:cNvSpPr/>
            <p:nvPr/>
          </p:nvSpPr>
          <p:spPr>
            <a:xfrm>
              <a:off x="1625600" y="3556000"/>
              <a:ext cx="103937" cy="190500"/>
            </a:xfrm>
            <a:prstGeom prst="rect">
              <a:avLst/>
            </a:prstGeom>
            <a:solidFill>
              <a:srgbClr val="606774"/>
            </a:solidFill>
            <a:ln w="0">
              <a:solidFill>
                <a:srgbClr val="6067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A5218565-6BCC-E75C-F536-2529E7720B39}"/>
                </a:ext>
              </a:extLst>
            </p:cNvPr>
            <p:cNvSpPr txBox="1"/>
            <p:nvPr/>
          </p:nvSpPr>
          <p:spPr>
            <a:xfrm>
              <a:off x="4876800" y="3581400"/>
              <a:ext cx="408432" cy="215444"/>
            </a:xfrm>
            <a:prstGeom prst="rect">
              <a:avLst/>
            </a:prstGeom>
            <a:noFill/>
          </p:spPr>
          <p:txBody>
            <a:bodyPr vert="horz" wrap="square" lIns="0" tIns="0" rIns="0" bIns="0" rtlCol="0">
              <a:noAutofit/>
            </a:bodyPr>
            <a:lstStyle/>
            <a:p>
              <a:r>
                <a:rPr lang="fr-FR" sz="900" b="1">
                  <a:solidFill>
                    <a:srgbClr val="1C1F25"/>
                  </a:solidFill>
                  <a:latin typeface="Verdana" panose="020B0604030504040204" pitchFamily="34" charset="0"/>
                </a:rPr>
                <a:t>3.3%</a:t>
              </a:r>
            </a:p>
          </p:txBody>
        </p:sp>
      </p:grpSp>
      <p:sp>
        <p:nvSpPr>
          <p:cNvPr id="26" name="ZoneTexte 25">
            <a:extLst>
              <a:ext uri="{FF2B5EF4-FFF2-40B4-BE49-F238E27FC236}">
                <a16:creationId xmlns:a16="http://schemas.microsoft.com/office/drawing/2014/main" id="{FB808A9F-034E-E04D-53AB-796C88368223}"/>
              </a:ext>
            </a:extLst>
          </p:cNvPr>
          <p:cNvSpPr txBox="1"/>
          <p:nvPr/>
        </p:nvSpPr>
        <p:spPr>
          <a:xfrm>
            <a:off x="1016000" y="4064000"/>
            <a:ext cx="4381500" cy="215444"/>
          </a:xfrm>
          <a:prstGeom prst="rect">
            <a:avLst/>
          </a:prstGeom>
          <a:noFill/>
        </p:spPr>
        <p:txBody>
          <a:bodyPr vert="horz" wrap="square" lIns="0" tIns="0" rIns="0" bIns="0" rtlCol="0">
            <a:noAutofit/>
          </a:bodyPr>
          <a:lstStyle/>
          <a:p>
            <a:pPr algn="ctr"/>
            <a:r>
              <a:rPr lang="en-US" sz="850" i="1" dirty="0">
                <a:solidFill>
                  <a:srgbClr val="606774"/>
                </a:solidFill>
                <a:latin typeface="Arial" panose="020B0604020202020204" pitchFamily="34" charset="0"/>
              </a:rPr>
              <a:t>Identity means KEEP: the source character is preserved.</a:t>
            </a:r>
            <a:endParaRPr lang="fr-FR" sz="850" i="1" dirty="0">
              <a:solidFill>
                <a:srgbClr val="606774"/>
              </a:solidFill>
              <a:latin typeface="Arial" panose="020B0604020202020204" pitchFamily="34" charset="0"/>
            </a:endParaRPr>
          </a:p>
        </p:txBody>
      </p:sp>
      <p:grpSp>
        <p:nvGrpSpPr>
          <p:cNvPr id="36" name="Groupe 35">
            <a:extLst>
              <a:ext uri="{FF2B5EF4-FFF2-40B4-BE49-F238E27FC236}">
                <a16:creationId xmlns:a16="http://schemas.microsoft.com/office/drawing/2014/main" id="{20237C68-4F89-82C6-9C14-E82A7AE91F2E}"/>
              </a:ext>
            </a:extLst>
          </p:cNvPr>
          <p:cNvGrpSpPr/>
          <p:nvPr/>
        </p:nvGrpSpPr>
        <p:grpSpPr>
          <a:xfrm>
            <a:off x="5664200" y="1816556"/>
            <a:ext cx="2794000" cy="494844"/>
            <a:chOff x="5638800" y="1422400"/>
            <a:chExt cx="2794000" cy="494844"/>
          </a:xfrm>
        </p:grpSpPr>
        <p:sp>
          <p:nvSpPr>
            <p:cNvPr id="27" name="ZoneTexte 26">
              <a:extLst>
                <a:ext uri="{FF2B5EF4-FFF2-40B4-BE49-F238E27FC236}">
                  <a16:creationId xmlns:a16="http://schemas.microsoft.com/office/drawing/2014/main" id="{2FF3A304-A846-B3F2-159C-D78313BCCA2B}"/>
                </a:ext>
              </a:extLst>
            </p:cNvPr>
            <p:cNvSpPr txBox="1"/>
            <p:nvPr/>
          </p:nvSpPr>
          <p:spPr>
            <a:xfrm>
              <a:off x="5638800" y="1422400"/>
              <a:ext cx="2794000" cy="215444"/>
            </a:xfrm>
            <a:prstGeom prst="rect">
              <a:avLst/>
            </a:prstGeom>
            <a:noFill/>
          </p:spPr>
          <p:txBody>
            <a:bodyPr vert="horz" wrap="square" lIns="0" tIns="0" rIns="0" bIns="0" rtlCol="0">
              <a:noAutofit/>
            </a:bodyPr>
            <a:lstStyle/>
            <a:p>
              <a:r>
                <a:rPr lang="fr-FR" sz="950" b="1" dirty="0">
                  <a:solidFill>
                    <a:srgbClr val="0E2F46"/>
                  </a:solidFill>
                  <a:latin typeface="Verdana" panose="020B0604030504040204" pitchFamily="34" charset="0"/>
                </a:rPr>
                <a:t>CODE-SWITCHING IN GOLD</a:t>
              </a:r>
            </a:p>
          </p:txBody>
        </p:sp>
        <p:sp>
          <p:nvSpPr>
            <p:cNvPr id="28" name="ZoneTexte 27">
              <a:extLst>
                <a:ext uri="{FF2B5EF4-FFF2-40B4-BE49-F238E27FC236}">
                  <a16:creationId xmlns:a16="http://schemas.microsoft.com/office/drawing/2014/main" id="{57D94ED1-EF98-F52D-762E-D7A3587D948A}"/>
                </a:ext>
              </a:extLst>
            </p:cNvPr>
            <p:cNvSpPr txBox="1"/>
            <p:nvPr/>
          </p:nvSpPr>
          <p:spPr>
            <a:xfrm>
              <a:off x="5638800" y="1701800"/>
              <a:ext cx="2794000" cy="215444"/>
            </a:xfrm>
            <a:prstGeom prst="rect">
              <a:avLst/>
            </a:prstGeom>
            <a:noFill/>
          </p:spPr>
          <p:txBody>
            <a:bodyPr vert="horz" wrap="square" lIns="0" tIns="0" rIns="0" bIns="0" rtlCol="0">
              <a:noAutofit/>
            </a:bodyPr>
            <a:lstStyle/>
            <a:p>
              <a:r>
                <a:rPr lang="en-US" sz="820" dirty="0">
                  <a:solidFill>
                    <a:srgbClr val="1C1F25"/>
                  </a:solidFill>
                  <a:latin typeface="Verdana" panose="020B0604030504040204" pitchFamily="34" charset="0"/>
                </a:rPr>
                <a:t>62.0% of sentences contain French.
</a:t>
              </a:r>
              <a:endParaRPr lang="fr-FR" sz="820" dirty="0">
                <a:solidFill>
                  <a:srgbClr val="1C1F25"/>
                </a:solidFill>
                <a:latin typeface="Verdana" panose="020B0604030504040204" pitchFamily="34" charset="0"/>
              </a:endParaRPr>
            </a:p>
          </p:txBody>
        </p:sp>
      </p:grpSp>
      <p:cxnSp>
        <p:nvCxnSpPr>
          <p:cNvPr id="29" name="Connecteur droit 28">
            <a:extLst>
              <a:ext uri="{FF2B5EF4-FFF2-40B4-BE49-F238E27FC236}">
                <a16:creationId xmlns:a16="http://schemas.microsoft.com/office/drawing/2014/main" id="{DE63B318-EF18-E97C-D339-A28F38844147}"/>
              </a:ext>
            </a:extLst>
          </p:cNvPr>
          <p:cNvCxnSpPr/>
          <p:nvPr/>
        </p:nvCxnSpPr>
        <p:spPr>
          <a:xfrm>
            <a:off x="5638800" y="2413000"/>
            <a:ext cx="2794000" cy="0"/>
          </a:xfrm>
          <a:prstGeom prst="line">
            <a:avLst/>
          </a:prstGeom>
          <a:ln w="10160">
            <a:solidFill>
              <a:srgbClr val="C7CCD6"/>
            </a:solidFill>
          </a:ln>
        </p:spPr>
        <p:style>
          <a:lnRef idx="1">
            <a:schemeClr val="accent1"/>
          </a:lnRef>
          <a:fillRef idx="0">
            <a:schemeClr val="accent1"/>
          </a:fillRef>
          <a:effectRef idx="0">
            <a:schemeClr val="accent1"/>
          </a:effectRef>
          <a:fontRef idx="minor">
            <a:schemeClr val="tx1"/>
          </a:fontRef>
        </p:style>
      </p:cxnSp>
      <p:grpSp>
        <p:nvGrpSpPr>
          <p:cNvPr id="37" name="Groupe 36">
            <a:extLst>
              <a:ext uri="{FF2B5EF4-FFF2-40B4-BE49-F238E27FC236}">
                <a16:creationId xmlns:a16="http://schemas.microsoft.com/office/drawing/2014/main" id="{082B3576-090D-5EF5-8DE5-967E712A106A}"/>
              </a:ext>
            </a:extLst>
          </p:cNvPr>
          <p:cNvGrpSpPr/>
          <p:nvPr/>
        </p:nvGrpSpPr>
        <p:grpSpPr>
          <a:xfrm>
            <a:off x="5638800" y="2590800"/>
            <a:ext cx="2794000" cy="494844"/>
            <a:chOff x="5638800" y="2590800"/>
            <a:chExt cx="2794000" cy="494844"/>
          </a:xfrm>
        </p:grpSpPr>
        <p:sp>
          <p:nvSpPr>
            <p:cNvPr id="30" name="ZoneTexte 29">
              <a:extLst>
                <a:ext uri="{FF2B5EF4-FFF2-40B4-BE49-F238E27FC236}">
                  <a16:creationId xmlns:a16="http://schemas.microsoft.com/office/drawing/2014/main" id="{D7EB9EBE-E8C3-9CA3-C65D-FE7D0C34DFBA}"/>
                </a:ext>
              </a:extLst>
            </p:cNvPr>
            <p:cNvSpPr txBox="1"/>
            <p:nvPr/>
          </p:nvSpPr>
          <p:spPr>
            <a:xfrm>
              <a:off x="5638800" y="2590800"/>
              <a:ext cx="2794000" cy="215444"/>
            </a:xfrm>
            <a:prstGeom prst="rect">
              <a:avLst/>
            </a:prstGeom>
            <a:noFill/>
          </p:spPr>
          <p:txBody>
            <a:bodyPr vert="horz" wrap="square" lIns="0" tIns="0" rIns="0" bIns="0" rtlCol="0">
              <a:noAutofit/>
            </a:bodyPr>
            <a:lstStyle/>
            <a:p>
              <a:r>
                <a:rPr lang="fr-FR" sz="950" b="1">
                  <a:solidFill>
                    <a:srgbClr val="0E2F46"/>
                  </a:solidFill>
                  <a:latin typeface="Verdana" panose="020B0604030504040204" pitchFamily="34" charset="0"/>
                </a:rPr>
                <a:t>PROTECTION</a:t>
              </a:r>
            </a:p>
          </p:txBody>
        </p:sp>
        <p:sp>
          <p:nvSpPr>
            <p:cNvPr id="31" name="ZoneTexte 30">
              <a:extLst>
                <a:ext uri="{FF2B5EF4-FFF2-40B4-BE49-F238E27FC236}">
                  <a16:creationId xmlns:a16="http://schemas.microsoft.com/office/drawing/2014/main" id="{249262D8-EEF4-012F-CBCD-9F7A42FD8835}"/>
                </a:ext>
              </a:extLst>
            </p:cNvPr>
            <p:cNvSpPr txBox="1"/>
            <p:nvPr/>
          </p:nvSpPr>
          <p:spPr>
            <a:xfrm>
              <a:off x="5638800" y="2870200"/>
              <a:ext cx="2794000" cy="215444"/>
            </a:xfrm>
            <a:prstGeom prst="rect">
              <a:avLst/>
            </a:prstGeom>
            <a:noFill/>
          </p:spPr>
          <p:txBody>
            <a:bodyPr vert="horz" wrap="square" lIns="0" tIns="0" rIns="0" bIns="0" rtlCol="0">
              <a:noAutofit/>
            </a:bodyPr>
            <a:lstStyle/>
            <a:p>
              <a:r>
                <a:rPr lang="en-US" sz="850" dirty="0">
                  <a:solidFill>
                    <a:srgbClr val="1C1F25"/>
                  </a:solidFill>
                  <a:latin typeface="Verdana" panose="020B0604030504040204" pitchFamily="34" charset="0"/>
                </a:rPr>
                <a:t>31.0% of tokens are protected</a:t>
              </a:r>
              <a:endParaRPr lang="fr-FR" sz="850" dirty="0">
                <a:solidFill>
                  <a:srgbClr val="1C1F25"/>
                </a:solidFill>
                <a:latin typeface="Verdana" panose="020B0604030504040204" pitchFamily="34" charset="0"/>
              </a:endParaRPr>
            </a:p>
          </p:txBody>
        </p:sp>
      </p:grpSp>
      <p:cxnSp>
        <p:nvCxnSpPr>
          <p:cNvPr id="32" name="Connecteur droit 31">
            <a:extLst>
              <a:ext uri="{FF2B5EF4-FFF2-40B4-BE49-F238E27FC236}">
                <a16:creationId xmlns:a16="http://schemas.microsoft.com/office/drawing/2014/main" id="{77911A06-4D6D-D939-8AB9-6838AEE2C868}"/>
              </a:ext>
            </a:extLst>
          </p:cNvPr>
          <p:cNvCxnSpPr/>
          <p:nvPr/>
        </p:nvCxnSpPr>
        <p:spPr>
          <a:xfrm>
            <a:off x="5638800" y="3416300"/>
            <a:ext cx="2794000" cy="0"/>
          </a:xfrm>
          <a:prstGeom prst="line">
            <a:avLst/>
          </a:prstGeom>
          <a:ln w="10160">
            <a:solidFill>
              <a:srgbClr val="C7CCD6"/>
            </a:solidFill>
          </a:ln>
        </p:spPr>
        <p:style>
          <a:lnRef idx="1">
            <a:schemeClr val="accent1"/>
          </a:lnRef>
          <a:fillRef idx="0">
            <a:schemeClr val="accent1"/>
          </a:fillRef>
          <a:effectRef idx="0">
            <a:schemeClr val="accent1"/>
          </a:effectRef>
          <a:fontRef idx="minor">
            <a:schemeClr val="tx1"/>
          </a:fontRef>
        </p:style>
      </p:cxnSp>
      <p:grpSp>
        <p:nvGrpSpPr>
          <p:cNvPr id="38" name="Groupe 37">
            <a:extLst>
              <a:ext uri="{FF2B5EF4-FFF2-40B4-BE49-F238E27FC236}">
                <a16:creationId xmlns:a16="http://schemas.microsoft.com/office/drawing/2014/main" id="{9F130342-116D-D9DA-C47C-317AD4B834E8}"/>
              </a:ext>
            </a:extLst>
          </p:cNvPr>
          <p:cNvGrpSpPr/>
          <p:nvPr/>
        </p:nvGrpSpPr>
        <p:grpSpPr>
          <a:xfrm>
            <a:off x="5638800" y="3606800"/>
            <a:ext cx="2794000" cy="494844"/>
            <a:chOff x="5638800" y="3606800"/>
            <a:chExt cx="2794000" cy="494844"/>
          </a:xfrm>
        </p:grpSpPr>
        <p:sp>
          <p:nvSpPr>
            <p:cNvPr id="33" name="ZoneTexte 32">
              <a:extLst>
                <a:ext uri="{FF2B5EF4-FFF2-40B4-BE49-F238E27FC236}">
                  <a16:creationId xmlns:a16="http://schemas.microsoft.com/office/drawing/2014/main" id="{D83B4886-C80A-E2AC-38F3-EB32543F6C80}"/>
                </a:ext>
              </a:extLst>
            </p:cNvPr>
            <p:cNvSpPr txBox="1"/>
            <p:nvPr/>
          </p:nvSpPr>
          <p:spPr>
            <a:xfrm>
              <a:off x="5638800" y="3606800"/>
              <a:ext cx="2794000" cy="215444"/>
            </a:xfrm>
            <a:prstGeom prst="rect">
              <a:avLst/>
            </a:prstGeom>
            <a:noFill/>
          </p:spPr>
          <p:txBody>
            <a:bodyPr vert="horz" wrap="square" lIns="0" tIns="0" rIns="0" bIns="0" rtlCol="0">
              <a:noAutofit/>
            </a:bodyPr>
            <a:lstStyle/>
            <a:p>
              <a:r>
                <a:rPr lang="fr-FR" sz="950" b="1" dirty="0">
                  <a:solidFill>
                    <a:srgbClr val="0E2F46"/>
                  </a:solidFill>
                  <a:latin typeface="Verdana" panose="020B0604030504040204" pitchFamily="34" charset="0"/>
                </a:rPr>
                <a:t>GRAMMATICAL CONTEXT</a:t>
              </a:r>
            </a:p>
          </p:txBody>
        </p:sp>
        <p:sp>
          <p:nvSpPr>
            <p:cNvPr id="34" name="ZoneTexte 33">
              <a:extLst>
                <a:ext uri="{FF2B5EF4-FFF2-40B4-BE49-F238E27FC236}">
                  <a16:creationId xmlns:a16="http://schemas.microsoft.com/office/drawing/2014/main" id="{C338D1BC-7971-4BFB-5BBF-D51B5DA9D4BC}"/>
                </a:ext>
              </a:extLst>
            </p:cNvPr>
            <p:cNvSpPr txBox="1"/>
            <p:nvPr/>
          </p:nvSpPr>
          <p:spPr>
            <a:xfrm>
              <a:off x="5638800" y="3886200"/>
              <a:ext cx="2794000" cy="215444"/>
            </a:xfrm>
            <a:prstGeom prst="rect">
              <a:avLst/>
            </a:prstGeom>
            <a:noFill/>
          </p:spPr>
          <p:txBody>
            <a:bodyPr vert="horz" wrap="square" lIns="0" tIns="0" rIns="0" bIns="0" rtlCol="0">
              <a:noAutofit/>
            </a:bodyPr>
            <a:lstStyle/>
            <a:p>
              <a:r>
                <a:rPr lang="fr-FR" sz="850" dirty="0">
                  <a:solidFill>
                    <a:srgbClr val="1C1F25"/>
                  </a:solidFill>
                  <a:latin typeface="Verdana" panose="020B0604030504040204" pitchFamily="34" charset="0"/>
                </a:rPr>
                <a:t>Change rate by POS : </a:t>
              </a:r>
              <a:r>
                <a:rPr lang="fr-FR" sz="850" dirty="0" err="1">
                  <a:solidFill>
                    <a:srgbClr val="1C1F25"/>
                  </a:solidFill>
                  <a:latin typeface="Verdana" panose="020B0604030504040204" pitchFamily="34" charset="0"/>
                </a:rPr>
                <a:t>verbs</a:t>
              </a:r>
              <a:r>
                <a:rPr lang="fr-FR" sz="850" dirty="0">
                  <a:solidFill>
                    <a:srgbClr val="1C1F25"/>
                  </a:solidFill>
                  <a:latin typeface="Verdana" panose="020B0604030504040204" pitchFamily="34" charset="0"/>
                </a:rPr>
                <a:t> 77.2%, </a:t>
              </a:r>
              <a:r>
                <a:rPr lang="fr-FR" sz="850" dirty="0" err="1">
                  <a:solidFill>
                    <a:srgbClr val="1C1F25"/>
                  </a:solidFill>
                  <a:latin typeface="Verdana" panose="020B0604030504040204" pitchFamily="34" charset="0"/>
                </a:rPr>
                <a:t>pronouns</a:t>
              </a:r>
              <a:r>
                <a:rPr lang="fr-FR" sz="850" dirty="0">
                  <a:solidFill>
                    <a:srgbClr val="1C1F25"/>
                  </a:solidFill>
                  <a:latin typeface="Verdana" panose="020B0604030504040204" pitchFamily="34" charset="0"/>
                </a:rPr>
                <a:t> 57.1%, </a:t>
              </a:r>
              <a:r>
                <a:rPr lang="fr-FR" sz="850" dirty="0" err="1">
                  <a:solidFill>
                    <a:srgbClr val="1C1F25"/>
                  </a:solidFill>
                  <a:latin typeface="Verdana" panose="020B0604030504040204" pitchFamily="34" charset="0"/>
                </a:rPr>
                <a:t>nouns</a:t>
              </a:r>
              <a:r>
                <a:rPr lang="fr-FR" sz="850" dirty="0">
                  <a:solidFill>
                    <a:srgbClr val="1C1F25"/>
                  </a:solidFill>
                  <a:latin typeface="Verdana" panose="020B0604030504040204" pitchFamily="34" charset="0"/>
                </a:rPr>
                <a:t> 48.9%, </a:t>
              </a:r>
              <a:r>
                <a:rPr lang="fr-FR" sz="850" dirty="0" err="1">
                  <a:solidFill>
                    <a:srgbClr val="1C1F25"/>
                  </a:solidFill>
                  <a:latin typeface="Verdana" panose="020B0604030504040204" pitchFamily="34" charset="0"/>
                </a:rPr>
                <a:t>determiners</a:t>
              </a:r>
              <a:r>
                <a:rPr lang="fr-FR" sz="850" dirty="0">
                  <a:solidFill>
                    <a:srgbClr val="1C1F25"/>
                  </a:solidFill>
                  <a:latin typeface="Verdana" panose="020B0604030504040204" pitchFamily="34" charset="0"/>
                </a:rPr>
                <a:t> 24.8%.</a:t>
              </a:r>
            </a:p>
          </p:txBody>
        </p:sp>
      </p:grpSp>
      <p:sp>
        <p:nvSpPr>
          <p:cNvPr id="35" name="ZoneTexte 34">
            <a:extLst>
              <a:ext uri="{FF2B5EF4-FFF2-40B4-BE49-F238E27FC236}">
                <a16:creationId xmlns:a16="http://schemas.microsoft.com/office/drawing/2014/main" id="{07028B3A-C572-65EF-FD1F-6794080638D0}"/>
              </a:ext>
            </a:extLst>
          </p:cNvPr>
          <p:cNvSpPr txBox="1"/>
          <p:nvPr/>
        </p:nvSpPr>
        <p:spPr>
          <a:xfrm>
            <a:off x="1079500" y="4432300"/>
            <a:ext cx="6985000" cy="215444"/>
          </a:xfrm>
          <a:prstGeom prst="rect">
            <a:avLst/>
          </a:prstGeom>
          <a:noFill/>
        </p:spPr>
        <p:txBody>
          <a:bodyPr vert="horz" wrap="square" lIns="0" tIns="0" rIns="0" bIns="0" rtlCol="0">
            <a:noAutofit/>
          </a:bodyPr>
          <a:lstStyle/>
          <a:p>
            <a:pPr algn="ctr"/>
            <a:r>
              <a:rPr lang="en-US" sz="950" b="1" i="1" dirty="0">
                <a:solidFill>
                  <a:srgbClr val="0E2F46"/>
                </a:solidFill>
                <a:latin typeface="Arial" panose="020B0604020202020204" pitchFamily="34" charset="0"/>
              </a:rPr>
              <a:t>Realistic noise requires many preserved positions and a small number of targeted edits.</a:t>
            </a:r>
            <a:endParaRPr lang="fr-FR" sz="950" b="1" i="1" dirty="0">
              <a:solidFill>
                <a:srgbClr val="0E2F46"/>
              </a:solidFill>
              <a:latin typeface="Arial" panose="020B0604020202020204" pitchFamily="34" charset="0"/>
            </a:endParaRPr>
          </a:p>
        </p:txBody>
      </p:sp>
      <p:sp>
        <p:nvSpPr>
          <p:cNvPr id="6" name="Rectangle 5">
            <a:extLst>
              <a:ext uri="{FF2B5EF4-FFF2-40B4-BE49-F238E27FC236}">
                <a16:creationId xmlns:a16="http://schemas.microsoft.com/office/drawing/2014/main" id="{51C4BEE0-CB4C-E138-0531-EBF672094613}"/>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F6672015-72B4-81DA-11E3-42060708B085}"/>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5857656B-5BBD-4488-2AA3-EAFCA560600B}"/>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42" name="ZoneTexte 41">
            <a:extLst>
              <a:ext uri="{FF2B5EF4-FFF2-40B4-BE49-F238E27FC236}">
                <a16:creationId xmlns:a16="http://schemas.microsoft.com/office/drawing/2014/main" id="{FE38422E-7135-DA88-FBCA-7E2762AA3B3B}"/>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43" name="ZoneTexte 42">
            <a:extLst>
              <a:ext uri="{FF2B5EF4-FFF2-40B4-BE49-F238E27FC236}">
                <a16:creationId xmlns:a16="http://schemas.microsoft.com/office/drawing/2014/main" id="{957474B0-E935-3724-B895-547FA617F6F5}"/>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Gold analysis</a:t>
            </a:r>
          </a:p>
        </p:txBody>
      </p:sp>
      <p:sp>
        <p:nvSpPr>
          <p:cNvPr id="44" name="ZoneTexte 43">
            <a:extLst>
              <a:ext uri="{FF2B5EF4-FFF2-40B4-BE49-F238E27FC236}">
                <a16:creationId xmlns:a16="http://schemas.microsoft.com/office/drawing/2014/main" id="{7A55E139-23F9-2C05-AE2D-6D583D22151B}"/>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7 / 36</a:t>
            </a:r>
          </a:p>
        </p:txBody>
      </p:sp>
      <p:pic>
        <p:nvPicPr>
          <p:cNvPr id="46" name="Image 45">
            <a:extLst>
              <a:ext uri="{FF2B5EF4-FFF2-40B4-BE49-F238E27FC236}">
                <a16:creationId xmlns:a16="http://schemas.microsoft.com/office/drawing/2014/main" id="{BC88A66A-248A-D33D-81B8-8475B3BB2F5B}"/>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41939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10A72453-067B-D2A0-6CC1-0EC2818D6A20}"/>
              </a:ext>
            </a:extLst>
          </p:cNvPr>
          <p:cNvSpPr/>
          <p:nvPr/>
        </p:nvSpPr>
        <p:spPr>
          <a:xfrm>
            <a:off x="546100" y="317500"/>
            <a:ext cx="1308100" cy="292100"/>
          </a:xfrm>
          <a:prstGeom prst="round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C9D7350-0E06-2AE6-17A7-943495CB331F}"/>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BENCHMARK</a:t>
            </a:r>
          </a:p>
        </p:txBody>
      </p:sp>
      <p:sp>
        <p:nvSpPr>
          <p:cNvPr id="4" name="ZoneTexte 3">
            <a:extLst>
              <a:ext uri="{FF2B5EF4-FFF2-40B4-BE49-F238E27FC236}">
                <a16:creationId xmlns:a16="http://schemas.microsoft.com/office/drawing/2014/main" id="{8EA85690-A349-224D-0CF2-09C0CCE622B6}"/>
              </a:ext>
            </a:extLst>
          </p:cNvPr>
          <p:cNvSpPr txBox="1"/>
          <p:nvPr/>
        </p:nvSpPr>
        <p:spPr>
          <a:xfrm>
            <a:off x="546100" y="749300"/>
            <a:ext cx="8064500" cy="457200"/>
          </a:xfrm>
          <a:prstGeom prst="rect">
            <a:avLst/>
          </a:prstGeom>
          <a:noFill/>
        </p:spPr>
        <p:txBody>
          <a:bodyPr vert="horz" wrap="square" lIns="0" tIns="0" rIns="0" bIns="0" rtlCol="0">
            <a:noAutofit/>
          </a:bodyPr>
          <a:lstStyle/>
          <a:p>
            <a:r>
              <a:rPr lang="fr-FR" sz="2100" b="1">
                <a:solidFill>
                  <a:srgbClr val="57658D"/>
                </a:solidFill>
                <a:latin typeface="Arial" panose="020B0604020202020204" pitchFamily="34" charset="0"/>
              </a:rPr>
              <a:t>Five synthetic generation methods</a:t>
            </a:r>
          </a:p>
        </p:txBody>
      </p:sp>
      <p:sp>
        <p:nvSpPr>
          <p:cNvPr id="9" name="ZoneTexte 8">
            <a:extLst>
              <a:ext uri="{FF2B5EF4-FFF2-40B4-BE49-F238E27FC236}">
                <a16:creationId xmlns:a16="http://schemas.microsoft.com/office/drawing/2014/main" id="{CEF9B50E-7C93-A22F-D896-9E9B7B4D9041}"/>
              </a:ext>
            </a:extLst>
          </p:cNvPr>
          <p:cNvSpPr txBox="1"/>
          <p:nvPr/>
        </p:nvSpPr>
        <p:spPr>
          <a:xfrm>
            <a:off x="571500" y="1409700"/>
            <a:ext cx="4775200" cy="215444"/>
          </a:xfrm>
          <a:prstGeom prst="rect">
            <a:avLst/>
          </a:prstGeom>
          <a:noFill/>
        </p:spPr>
        <p:txBody>
          <a:bodyPr vert="horz" wrap="square" lIns="0" tIns="0" rIns="0" bIns="0" rtlCol="0">
            <a:noAutofit/>
          </a:bodyPr>
          <a:lstStyle/>
          <a:p>
            <a:pPr algn="ctr"/>
            <a:r>
              <a:rPr lang="fr-FR" sz="850" b="1">
                <a:solidFill>
                  <a:srgbClr val="0E2F46"/>
                </a:solidFill>
                <a:latin typeface="Arial" panose="020B0604020202020204" pitchFamily="34" charset="0"/>
              </a:rPr>
              <a:t>M1 FAMILY</a:t>
            </a:r>
          </a:p>
        </p:txBody>
      </p:sp>
      <p:sp>
        <p:nvSpPr>
          <p:cNvPr id="10" name="ZoneTexte 9">
            <a:extLst>
              <a:ext uri="{FF2B5EF4-FFF2-40B4-BE49-F238E27FC236}">
                <a16:creationId xmlns:a16="http://schemas.microsoft.com/office/drawing/2014/main" id="{3669524A-1B98-217C-8C83-A89AFC07111A}"/>
              </a:ext>
            </a:extLst>
          </p:cNvPr>
          <p:cNvSpPr txBox="1"/>
          <p:nvPr/>
        </p:nvSpPr>
        <p:spPr>
          <a:xfrm>
            <a:off x="5486400" y="1409700"/>
            <a:ext cx="3136900" cy="215444"/>
          </a:xfrm>
          <a:prstGeom prst="rect">
            <a:avLst/>
          </a:prstGeom>
          <a:noFill/>
        </p:spPr>
        <p:txBody>
          <a:bodyPr vert="horz" wrap="square" lIns="0" tIns="0" rIns="0" bIns="0" rtlCol="0">
            <a:noAutofit/>
          </a:bodyPr>
          <a:lstStyle/>
          <a:p>
            <a:pPr algn="ctr"/>
            <a:r>
              <a:rPr lang="fr-FR" sz="850" b="1">
                <a:solidFill>
                  <a:srgbClr val="976F1D"/>
                </a:solidFill>
                <a:latin typeface="Arial" panose="020B0604020202020204" pitchFamily="34" charset="0"/>
              </a:rPr>
              <a:t>INDEPENDENT METHODS</a:t>
            </a:r>
          </a:p>
        </p:txBody>
      </p:sp>
      <p:sp>
        <p:nvSpPr>
          <p:cNvPr id="11" name="Rectangle 10">
            <a:extLst>
              <a:ext uri="{FF2B5EF4-FFF2-40B4-BE49-F238E27FC236}">
                <a16:creationId xmlns:a16="http://schemas.microsoft.com/office/drawing/2014/main" id="{A3FDEAB5-5CCE-7A58-BC1B-1455A0144980}"/>
              </a:ext>
            </a:extLst>
          </p:cNvPr>
          <p:cNvSpPr/>
          <p:nvPr/>
        </p:nvSpPr>
        <p:spPr>
          <a:xfrm>
            <a:off x="571500" y="1689100"/>
            <a:ext cx="1498600" cy="124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4F74BEC6-B36C-3DD6-5E73-582C3B3559C5}"/>
              </a:ext>
            </a:extLst>
          </p:cNvPr>
          <p:cNvSpPr/>
          <p:nvPr/>
        </p:nvSpPr>
        <p:spPr>
          <a:xfrm>
            <a:off x="571500" y="1689100"/>
            <a:ext cx="1498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58F65ADD-9EC1-DDC6-D7B7-56D592E5EAB2}"/>
              </a:ext>
            </a:extLst>
          </p:cNvPr>
          <p:cNvSpPr txBox="1"/>
          <p:nvPr/>
        </p:nvSpPr>
        <p:spPr>
          <a:xfrm>
            <a:off x="685800" y="1892300"/>
            <a:ext cx="12700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M1
RULES</a:t>
            </a:r>
          </a:p>
        </p:txBody>
      </p:sp>
      <p:sp>
        <p:nvSpPr>
          <p:cNvPr id="14" name="ZoneTexte 13">
            <a:extLst>
              <a:ext uri="{FF2B5EF4-FFF2-40B4-BE49-F238E27FC236}">
                <a16:creationId xmlns:a16="http://schemas.microsoft.com/office/drawing/2014/main" id="{DB1DC394-5069-C938-2061-AC05B34FB717}"/>
              </a:ext>
            </a:extLst>
          </p:cNvPr>
          <p:cNvSpPr txBox="1"/>
          <p:nvPr/>
        </p:nvSpPr>
        <p:spPr>
          <a:xfrm>
            <a:off x="685800" y="2451100"/>
            <a:ext cx="1270000" cy="215444"/>
          </a:xfrm>
          <a:prstGeom prst="rect">
            <a:avLst/>
          </a:prstGeom>
          <a:noFill/>
        </p:spPr>
        <p:txBody>
          <a:bodyPr vert="horz" wrap="square" lIns="0" tIns="0" rIns="0" bIns="0" rtlCol="0">
            <a:noAutofit/>
          </a:bodyPr>
          <a:lstStyle/>
          <a:p>
            <a:pPr algn="ctr"/>
            <a:r>
              <a:rPr lang="fr-FR" sz="800">
                <a:solidFill>
                  <a:srgbClr val="606774"/>
                </a:solidFill>
                <a:latin typeface="Arial" panose="020B0604020202020204" pitchFamily="34" charset="0"/>
              </a:rPr>
              <a:t>Beqi-inspired
regex rules</a:t>
            </a:r>
          </a:p>
        </p:txBody>
      </p:sp>
      <p:sp>
        <p:nvSpPr>
          <p:cNvPr id="15" name="Rectangle 14">
            <a:extLst>
              <a:ext uri="{FF2B5EF4-FFF2-40B4-BE49-F238E27FC236}">
                <a16:creationId xmlns:a16="http://schemas.microsoft.com/office/drawing/2014/main" id="{52B3E480-95E9-5CA7-8571-A58F407BA2FD}"/>
              </a:ext>
            </a:extLst>
          </p:cNvPr>
          <p:cNvSpPr/>
          <p:nvPr/>
        </p:nvSpPr>
        <p:spPr>
          <a:xfrm>
            <a:off x="2209800" y="1689100"/>
            <a:ext cx="1498600" cy="124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F12AE3E-B00E-0AD1-40D4-2EAB659EEE8C}"/>
              </a:ext>
            </a:extLst>
          </p:cNvPr>
          <p:cNvSpPr/>
          <p:nvPr/>
        </p:nvSpPr>
        <p:spPr>
          <a:xfrm>
            <a:off x="2209800" y="1689100"/>
            <a:ext cx="1498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1E136B7D-F17B-D005-57BF-33BF93F261A1}"/>
              </a:ext>
            </a:extLst>
          </p:cNvPr>
          <p:cNvSpPr txBox="1"/>
          <p:nvPr/>
        </p:nvSpPr>
        <p:spPr>
          <a:xfrm>
            <a:off x="2324100" y="1892300"/>
            <a:ext cx="12700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M2
ALIGNMENT</a:t>
            </a:r>
          </a:p>
        </p:txBody>
      </p:sp>
      <p:sp>
        <p:nvSpPr>
          <p:cNvPr id="18" name="ZoneTexte 17">
            <a:extLst>
              <a:ext uri="{FF2B5EF4-FFF2-40B4-BE49-F238E27FC236}">
                <a16:creationId xmlns:a16="http://schemas.microsoft.com/office/drawing/2014/main" id="{1B554DC3-82A2-C163-FCDC-335ACE4C36EF}"/>
              </a:ext>
            </a:extLst>
          </p:cNvPr>
          <p:cNvSpPr txBox="1"/>
          <p:nvPr/>
        </p:nvSpPr>
        <p:spPr>
          <a:xfrm>
            <a:off x="2324100" y="2451100"/>
            <a:ext cx="1270000" cy="215444"/>
          </a:xfrm>
          <a:prstGeom prst="rect">
            <a:avLst/>
          </a:prstGeom>
          <a:noFill/>
        </p:spPr>
        <p:txBody>
          <a:bodyPr vert="horz" wrap="square" lIns="0" tIns="0" rIns="0" bIns="0" rtlCol="0">
            <a:noAutofit/>
          </a:bodyPr>
          <a:lstStyle/>
          <a:p>
            <a:pPr algn="ctr"/>
            <a:r>
              <a:rPr lang="fr-FR" sz="800">
                <a:solidFill>
                  <a:srgbClr val="606774"/>
                </a:solidFill>
                <a:latin typeface="Arial" panose="020B0604020202020204" pitchFamily="34" charset="0"/>
              </a:rPr>
              <a:t>French substitutions
then M1</a:t>
            </a:r>
          </a:p>
        </p:txBody>
      </p:sp>
      <p:sp>
        <p:nvSpPr>
          <p:cNvPr id="19" name="Rectangle 18">
            <a:extLst>
              <a:ext uri="{FF2B5EF4-FFF2-40B4-BE49-F238E27FC236}">
                <a16:creationId xmlns:a16="http://schemas.microsoft.com/office/drawing/2014/main" id="{E8DC4BE5-1E49-7634-0F88-0C13E00D2746}"/>
              </a:ext>
            </a:extLst>
          </p:cNvPr>
          <p:cNvSpPr/>
          <p:nvPr/>
        </p:nvSpPr>
        <p:spPr>
          <a:xfrm>
            <a:off x="3848100" y="1689100"/>
            <a:ext cx="1498600" cy="124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9E6647AF-4D90-E452-DE7D-EFAA7A0148DC}"/>
              </a:ext>
            </a:extLst>
          </p:cNvPr>
          <p:cNvSpPr/>
          <p:nvPr/>
        </p:nvSpPr>
        <p:spPr>
          <a:xfrm>
            <a:off x="3848100" y="1689100"/>
            <a:ext cx="1498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C1140A73-05DF-2C84-8836-07271483A0BD}"/>
              </a:ext>
            </a:extLst>
          </p:cNvPr>
          <p:cNvSpPr txBox="1"/>
          <p:nvPr/>
        </p:nvSpPr>
        <p:spPr>
          <a:xfrm>
            <a:off x="3962400" y="1892300"/>
            <a:ext cx="12700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M3
CMDR</a:t>
            </a:r>
          </a:p>
        </p:txBody>
      </p:sp>
      <p:sp>
        <p:nvSpPr>
          <p:cNvPr id="22" name="ZoneTexte 21">
            <a:extLst>
              <a:ext uri="{FF2B5EF4-FFF2-40B4-BE49-F238E27FC236}">
                <a16:creationId xmlns:a16="http://schemas.microsoft.com/office/drawing/2014/main" id="{E678DCDB-19F6-482F-2822-1070E7AB735D}"/>
              </a:ext>
            </a:extLst>
          </p:cNvPr>
          <p:cNvSpPr txBox="1"/>
          <p:nvPr/>
        </p:nvSpPr>
        <p:spPr>
          <a:xfrm>
            <a:off x="3962400" y="2451100"/>
            <a:ext cx="1270000" cy="215444"/>
          </a:xfrm>
          <a:prstGeom prst="rect">
            <a:avLst/>
          </a:prstGeom>
          <a:noFill/>
        </p:spPr>
        <p:txBody>
          <a:bodyPr vert="horz" wrap="square" lIns="0" tIns="0" rIns="0" bIns="0" rtlCol="0">
            <a:noAutofit/>
          </a:bodyPr>
          <a:lstStyle/>
          <a:p>
            <a:pPr algn="ctr"/>
            <a:r>
              <a:rPr lang="fr-FR" sz="800" dirty="0">
                <a:solidFill>
                  <a:srgbClr val="606774"/>
                </a:solidFill>
                <a:latin typeface="Arial" panose="020B0604020202020204" pitchFamily="34" charset="0"/>
              </a:rPr>
              <a:t>Code </a:t>
            </a:r>
            <a:r>
              <a:rPr lang="fr-FR" sz="800" dirty="0" err="1">
                <a:solidFill>
                  <a:srgbClr val="606774"/>
                </a:solidFill>
                <a:latin typeface="Arial" panose="020B0604020202020204" pitchFamily="34" charset="0"/>
              </a:rPr>
              <a:t>Mixing</a:t>
            </a:r>
            <a:r>
              <a:rPr lang="fr-FR" sz="800" dirty="0">
                <a:solidFill>
                  <a:srgbClr val="606774"/>
                </a:solidFill>
                <a:latin typeface="Arial" panose="020B0604020202020204" pitchFamily="34" charset="0"/>
              </a:rPr>
              <a:t> from </a:t>
            </a:r>
            <a:r>
              <a:rPr lang="fr-FR" sz="800" dirty="0" err="1">
                <a:solidFill>
                  <a:srgbClr val="606774"/>
                </a:solidFill>
                <a:latin typeface="Arial" panose="020B0604020202020204" pitchFamily="34" charset="0"/>
              </a:rPr>
              <a:t>Distributional</a:t>
            </a:r>
            <a:r>
              <a:rPr lang="fr-FR" sz="800" dirty="0">
                <a:solidFill>
                  <a:srgbClr val="606774"/>
                </a:solidFill>
                <a:latin typeface="Arial" panose="020B0604020202020204" pitchFamily="34" charset="0"/>
              </a:rPr>
              <a:t> </a:t>
            </a:r>
            <a:r>
              <a:rPr lang="fr-FR" sz="800" dirty="0" err="1">
                <a:solidFill>
                  <a:srgbClr val="606774"/>
                </a:solidFill>
                <a:latin typeface="Arial" panose="020B0604020202020204" pitchFamily="34" charset="0"/>
              </a:rPr>
              <a:t>Representations</a:t>
            </a:r>
            <a:r>
              <a:rPr lang="fr-FR" sz="800" dirty="0">
                <a:solidFill>
                  <a:srgbClr val="606774"/>
                </a:solidFill>
                <a:latin typeface="Arial" panose="020B0604020202020204" pitchFamily="34" charset="0"/>
              </a:rPr>
              <a:t>
then M1</a:t>
            </a:r>
          </a:p>
        </p:txBody>
      </p:sp>
      <p:sp>
        <p:nvSpPr>
          <p:cNvPr id="23" name="Rectangle 22">
            <a:extLst>
              <a:ext uri="{FF2B5EF4-FFF2-40B4-BE49-F238E27FC236}">
                <a16:creationId xmlns:a16="http://schemas.microsoft.com/office/drawing/2014/main" id="{FE21E290-6171-3F8D-AE7B-2788C6ABA566}"/>
              </a:ext>
            </a:extLst>
          </p:cNvPr>
          <p:cNvSpPr/>
          <p:nvPr/>
        </p:nvSpPr>
        <p:spPr>
          <a:xfrm>
            <a:off x="5486400" y="1689100"/>
            <a:ext cx="1498600" cy="124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AF04129E-770F-4BD8-26E8-51EDBE6C8A0C}"/>
              </a:ext>
            </a:extLst>
          </p:cNvPr>
          <p:cNvSpPr/>
          <p:nvPr/>
        </p:nvSpPr>
        <p:spPr>
          <a:xfrm>
            <a:off x="5486400" y="1689100"/>
            <a:ext cx="1498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F45D7371-8C16-D4A8-2DBD-BCAC5C5DE084}"/>
              </a:ext>
            </a:extLst>
          </p:cNvPr>
          <p:cNvSpPr txBox="1"/>
          <p:nvPr/>
        </p:nvSpPr>
        <p:spPr>
          <a:xfrm>
            <a:off x="5600700" y="1892300"/>
            <a:ext cx="1270000" cy="215444"/>
          </a:xfrm>
          <a:prstGeom prst="rect">
            <a:avLst/>
          </a:prstGeom>
          <a:noFill/>
        </p:spPr>
        <p:txBody>
          <a:bodyPr vert="horz" wrap="square" lIns="0" tIns="0" rIns="0" bIns="0" rtlCol="0">
            <a:noAutofit/>
          </a:bodyPr>
          <a:lstStyle/>
          <a:p>
            <a:pPr algn="ctr"/>
            <a:r>
              <a:rPr lang="fr-FR" sz="1000" b="1">
                <a:solidFill>
                  <a:srgbClr val="976F1D"/>
                </a:solidFill>
                <a:latin typeface="Arial" panose="020B0604020202020204" pitchFamily="34" charset="0"/>
              </a:rPr>
              <a:t>M4
OOLEL</a:t>
            </a:r>
          </a:p>
        </p:txBody>
      </p:sp>
      <p:sp>
        <p:nvSpPr>
          <p:cNvPr id="26" name="ZoneTexte 25">
            <a:extLst>
              <a:ext uri="{FF2B5EF4-FFF2-40B4-BE49-F238E27FC236}">
                <a16:creationId xmlns:a16="http://schemas.microsoft.com/office/drawing/2014/main" id="{E546BB14-BD49-1BA5-FDBF-9052F0A8F84C}"/>
              </a:ext>
            </a:extLst>
          </p:cNvPr>
          <p:cNvSpPr txBox="1"/>
          <p:nvPr/>
        </p:nvSpPr>
        <p:spPr>
          <a:xfrm>
            <a:off x="5600700" y="2451100"/>
            <a:ext cx="1270000" cy="215444"/>
          </a:xfrm>
          <a:prstGeom prst="rect">
            <a:avLst/>
          </a:prstGeom>
          <a:noFill/>
        </p:spPr>
        <p:txBody>
          <a:bodyPr vert="horz" wrap="square" lIns="0" tIns="0" rIns="0" bIns="0" rtlCol="0">
            <a:noAutofit/>
          </a:bodyPr>
          <a:lstStyle/>
          <a:p>
            <a:pPr algn="ctr"/>
            <a:r>
              <a:rPr lang="fr-FR" sz="800">
                <a:solidFill>
                  <a:srgbClr val="606774"/>
                </a:solidFill>
                <a:latin typeface="Arial" panose="020B0604020202020204" pitchFamily="34" charset="0"/>
              </a:rPr>
              <a:t>External LLM
pairs</a:t>
            </a:r>
          </a:p>
        </p:txBody>
      </p:sp>
      <p:sp>
        <p:nvSpPr>
          <p:cNvPr id="27" name="Rectangle 26">
            <a:extLst>
              <a:ext uri="{FF2B5EF4-FFF2-40B4-BE49-F238E27FC236}">
                <a16:creationId xmlns:a16="http://schemas.microsoft.com/office/drawing/2014/main" id="{DA744729-7CA6-352F-17C0-EA3091155D7E}"/>
              </a:ext>
            </a:extLst>
          </p:cNvPr>
          <p:cNvSpPr/>
          <p:nvPr/>
        </p:nvSpPr>
        <p:spPr>
          <a:xfrm>
            <a:off x="7124700" y="1689100"/>
            <a:ext cx="1498600" cy="124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1683B807-4FA4-7E0D-5420-319F0C681404}"/>
              </a:ext>
            </a:extLst>
          </p:cNvPr>
          <p:cNvSpPr/>
          <p:nvPr/>
        </p:nvSpPr>
        <p:spPr>
          <a:xfrm>
            <a:off x="7124700" y="1689100"/>
            <a:ext cx="1498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B0714AA-EB26-301B-9108-09610B7585DE}"/>
              </a:ext>
            </a:extLst>
          </p:cNvPr>
          <p:cNvSpPr txBox="1"/>
          <p:nvPr/>
        </p:nvSpPr>
        <p:spPr>
          <a:xfrm>
            <a:off x="7239000" y="1892300"/>
            <a:ext cx="1270000" cy="215444"/>
          </a:xfrm>
          <a:prstGeom prst="rect">
            <a:avLst/>
          </a:prstGeom>
          <a:noFill/>
        </p:spPr>
        <p:txBody>
          <a:bodyPr vert="horz" wrap="square" lIns="0" tIns="0" rIns="0" bIns="0" rtlCol="0">
            <a:noAutofit/>
          </a:bodyPr>
          <a:lstStyle/>
          <a:p>
            <a:pPr algn="ctr"/>
            <a:r>
              <a:rPr lang="fr-FR" sz="1000" b="1">
                <a:solidFill>
                  <a:srgbClr val="976F1D"/>
                </a:solidFill>
                <a:latin typeface="Arial" panose="020B0604020202020204" pitchFamily="34" charset="0"/>
              </a:rPr>
              <a:t>M6
PROPOSED</a:t>
            </a:r>
          </a:p>
        </p:txBody>
      </p:sp>
      <p:sp>
        <p:nvSpPr>
          <p:cNvPr id="30" name="ZoneTexte 29">
            <a:extLst>
              <a:ext uri="{FF2B5EF4-FFF2-40B4-BE49-F238E27FC236}">
                <a16:creationId xmlns:a16="http://schemas.microsoft.com/office/drawing/2014/main" id="{2C0E160B-0B49-B082-B8FC-ADE3E9A28514}"/>
              </a:ext>
            </a:extLst>
          </p:cNvPr>
          <p:cNvSpPr txBox="1"/>
          <p:nvPr/>
        </p:nvSpPr>
        <p:spPr>
          <a:xfrm>
            <a:off x="7239000" y="2451100"/>
            <a:ext cx="1270000" cy="215444"/>
          </a:xfrm>
          <a:prstGeom prst="rect">
            <a:avLst/>
          </a:prstGeom>
          <a:noFill/>
        </p:spPr>
        <p:txBody>
          <a:bodyPr vert="horz" wrap="square" lIns="0" tIns="0" rIns="0" bIns="0" rtlCol="0">
            <a:noAutofit/>
          </a:bodyPr>
          <a:lstStyle/>
          <a:p>
            <a:pPr algn="ctr"/>
            <a:r>
              <a:rPr lang="fr-FR" sz="800">
                <a:solidFill>
                  <a:srgbClr val="606774"/>
                </a:solidFill>
                <a:latin typeface="Arial" panose="020B0604020202020204" pitchFamily="34" charset="0"/>
              </a:rPr>
              <a:t>Gold-informed
engine</a:t>
            </a:r>
          </a:p>
        </p:txBody>
      </p:sp>
      <p:sp>
        <p:nvSpPr>
          <p:cNvPr id="32" name="Rectangle 31">
            <a:extLst>
              <a:ext uri="{FF2B5EF4-FFF2-40B4-BE49-F238E27FC236}">
                <a16:creationId xmlns:a16="http://schemas.microsoft.com/office/drawing/2014/main" id="{74175C53-994C-CB59-BF87-AF04520661A9}"/>
              </a:ext>
            </a:extLst>
          </p:cNvPr>
          <p:cNvSpPr/>
          <p:nvPr/>
        </p:nvSpPr>
        <p:spPr>
          <a:xfrm>
            <a:off x="1143000" y="3556000"/>
            <a:ext cx="6858000" cy="405944"/>
          </a:xfrm>
          <a:prstGeom prst="rect">
            <a:avLst/>
          </a:prstGeom>
          <a:solidFill>
            <a:srgbClr val="F6F7F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45968FD3-5FB5-0D7D-A490-90FBE7A40FD7}"/>
              </a:ext>
            </a:extLst>
          </p:cNvPr>
          <p:cNvSpPr txBox="1"/>
          <p:nvPr/>
        </p:nvSpPr>
        <p:spPr>
          <a:xfrm>
            <a:off x="1333500" y="3695700"/>
            <a:ext cx="1041400" cy="215444"/>
          </a:xfrm>
          <a:prstGeom prst="rect">
            <a:avLst/>
          </a:prstGeom>
          <a:noFill/>
        </p:spPr>
        <p:txBody>
          <a:bodyPr vert="horz" wrap="square" lIns="0" tIns="0" rIns="0" bIns="0" rtlCol="0">
            <a:noAutofit/>
          </a:bodyPr>
          <a:lstStyle/>
          <a:p>
            <a:r>
              <a:rPr lang="fr-FR" sz="850" b="1">
                <a:solidFill>
                  <a:srgbClr val="976F1D"/>
                </a:solidFill>
                <a:latin typeface="Arial" panose="020B0604020202020204" pitchFamily="34" charset="0"/>
              </a:rPr>
              <a:t>CONTROLS</a:t>
            </a:r>
          </a:p>
        </p:txBody>
      </p:sp>
      <p:sp>
        <p:nvSpPr>
          <p:cNvPr id="34" name="ZoneTexte 33">
            <a:extLst>
              <a:ext uri="{FF2B5EF4-FFF2-40B4-BE49-F238E27FC236}">
                <a16:creationId xmlns:a16="http://schemas.microsoft.com/office/drawing/2014/main" id="{674C988B-2658-9F74-75B0-15421E587DAB}"/>
              </a:ext>
            </a:extLst>
          </p:cNvPr>
          <p:cNvSpPr txBox="1"/>
          <p:nvPr/>
        </p:nvSpPr>
        <p:spPr>
          <a:xfrm>
            <a:off x="2425700" y="3695700"/>
            <a:ext cx="5384800" cy="215444"/>
          </a:xfrm>
          <a:prstGeom prst="rect">
            <a:avLst/>
          </a:prstGeom>
          <a:noFill/>
        </p:spPr>
        <p:txBody>
          <a:bodyPr vert="horz" wrap="square" lIns="0" tIns="0" rIns="0" bIns="0" rtlCol="0">
            <a:noAutofit/>
          </a:bodyPr>
          <a:lstStyle/>
          <a:p>
            <a:r>
              <a:rPr lang="en-US" sz="850" dirty="0">
                <a:solidFill>
                  <a:srgbClr val="1C1F25"/>
                </a:solidFill>
                <a:latin typeface="Arial" panose="020B0604020202020204" pitchFamily="34" charset="0"/>
              </a:rPr>
              <a:t>Identity: return the input unchanged   ·   Gold-only: train without synthetic pretraining</a:t>
            </a:r>
            <a:endParaRPr lang="fr-FR" sz="850" dirty="0">
              <a:solidFill>
                <a:srgbClr val="1C1F25"/>
              </a:solidFill>
              <a:latin typeface="Arial" panose="020B0604020202020204" pitchFamily="34" charset="0"/>
            </a:endParaRPr>
          </a:p>
        </p:txBody>
      </p:sp>
      <p:sp>
        <p:nvSpPr>
          <p:cNvPr id="6" name="Rectangle 5">
            <a:extLst>
              <a:ext uri="{FF2B5EF4-FFF2-40B4-BE49-F238E27FC236}">
                <a16:creationId xmlns:a16="http://schemas.microsoft.com/office/drawing/2014/main" id="{B02C3568-A89E-577C-A502-FABEAEB4CE4F}"/>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88CD5AD0-1FD5-7AFD-22F0-5A900F778F5D}"/>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8CB13727-AA21-E3FB-1E1F-28CFAF51B004}"/>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35" name="ZoneTexte 34">
            <a:extLst>
              <a:ext uri="{FF2B5EF4-FFF2-40B4-BE49-F238E27FC236}">
                <a16:creationId xmlns:a16="http://schemas.microsoft.com/office/drawing/2014/main" id="{94E6E6D0-B915-5AA8-FB76-3315F33E775E}"/>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36" name="ZoneTexte 35">
            <a:extLst>
              <a:ext uri="{FF2B5EF4-FFF2-40B4-BE49-F238E27FC236}">
                <a16:creationId xmlns:a16="http://schemas.microsoft.com/office/drawing/2014/main" id="{D3F14C1C-91BD-5D1D-BE34-AD1C95F41A6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Benchmark methods</a:t>
            </a:r>
          </a:p>
        </p:txBody>
      </p:sp>
      <p:sp>
        <p:nvSpPr>
          <p:cNvPr id="38" name="ZoneTexte 37">
            <a:extLst>
              <a:ext uri="{FF2B5EF4-FFF2-40B4-BE49-F238E27FC236}">
                <a16:creationId xmlns:a16="http://schemas.microsoft.com/office/drawing/2014/main" id="{B6B98BC0-E889-35CB-0B84-3B92E4487F52}"/>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8 / 36</a:t>
            </a:r>
          </a:p>
        </p:txBody>
      </p:sp>
      <p:pic>
        <p:nvPicPr>
          <p:cNvPr id="40" name="Image 39">
            <a:extLst>
              <a:ext uri="{FF2B5EF4-FFF2-40B4-BE49-F238E27FC236}">
                <a16:creationId xmlns:a16="http://schemas.microsoft.com/office/drawing/2014/main" id="{0C73412A-E751-1C1A-7399-BE70636AAF4D}"/>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35797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E9B27FD5-1701-9B0B-F9B2-68B0E555F1D3}"/>
              </a:ext>
            </a:extLst>
          </p:cNvPr>
          <p:cNvSpPr/>
          <p:nvPr/>
        </p:nvSpPr>
        <p:spPr>
          <a:xfrm>
            <a:off x="546100" y="317500"/>
            <a:ext cx="1587500" cy="292100"/>
          </a:xfrm>
          <a:prstGeom prst="roundRect">
            <a:avLst/>
          </a:prstGeom>
          <a:solidFill>
            <a:srgbClr val="002060"/>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6CF678F-163A-CA34-3607-326D40FB13D1}"/>
              </a:ext>
            </a:extLst>
          </p:cNvPr>
          <p:cNvSpPr txBox="1"/>
          <p:nvPr/>
        </p:nvSpPr>
        <p:spPr>
          <a:xfrm>
            <a:off x="546100" y="381000"/>
            <a:ext cx="1587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METHODS + EXAMPLES</a:t>
            </a:r>
          </a:p>
        </p:txBody>
      </p:sp>
      <p:sp>
        <p:nvSpPr>
          <p:cNvPr id="9" name="Rectangle 8">
            <a:extLst>
              <a:ext uri="{FF2B5EF4-FFF2-40B4-BE49-F238E27FC236}">
                <a16:creationId xmlns:a16="http://schemas.microsoft.com/office/drawing/2014/main" id="{F60FA097-E9FB-6C7E-2981-B8C3E8080F85}"/>
              </a:ext>
            </a:extLst>
          </p:cNvPr>
          <p:cNvSpPr/>
          <p:nvPr/>
        </p:nvSpPr>
        <p:spPr>
          <a:xfrm>
            <a:off x="533400" y="1371600"/>
            <a:ext cx="3886200" cy="27051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A87656D-F5D8-BF5F-AC4B-B287E69659D7}"/>
              </a:ext>
            </a:extLst>
          </p:cNvPr>
          <p:cNvSpPr/>
          <p:nvPr/>
        </p:nvSpPr>
        <p:spPr>
          <a:xfrm>
            <a:off x="533400" y="1371600"/>
            <a:ext cx="3886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4EF1088-8306-F5E2-65CC-12B2926D945C}"/>
              </a:ext>
            </a:extLst>
          </p:cNvPr>
          <p:cNvSpPr txBox="1"/>
          <p:nvPr/>
        </p:nvSpPr>
        <p:spPr>
          <a:xfrm>
            <a:off x="673100" y="1498600"/>
            <a:ext cx="3606800" cy="215444"/>
          </a:xfrm>
          <a:prstGeom prst="rect">
            <a:avLst/>
          </a:prstGeom>
          <a:noFill/>
        </p:spPr>
        <p:txBody>
          <a:bodyPr vert="horz" wrap="square" lIns="0" tIns="0" rIns="0" bIns="0" rtlCol="0">
            <a:noAutofit/>
          </a:bodyPr>
          <a:lstStyle>
            <a:defPPr marR="0" lvl="0" algn="l" rtl="0">
              <a:lnSpc>
                <a:spcPct val="100000"/>
              </a:lnSpc>
              <a:spcBef>
                <a:spcPts val="0"/>
              </a:spcBef>
              <a:spcAft>
                <a:spcPts val="0"/>
              </a:spcAft>
            </a:defPPr>
            <a:lvl1pPr>
              <a:defRPr sz="1150" b="1">
                <a:solidFill>
                  <a:srgbClr val="0E2F46"/>
                </a:solidFill>
                <a:latin typeface="Verdana" panose="020B0604030504040204" pitchFamily="34" charset="0"/>
              </a:defRPr>
            </a:lvl1pPr>
          </a:lstStyle>
          <a:p>
            <a:r>
              <a:rPr lang="fr-FR" dirty="0">
                <a:latin typeface="Arial" panose="020B0604020202020204" pitchFamily="34" charset="0"/>
              </a:rPr>
              <a:t>M1 · DETERMINISTIC RULES</a:t>
            </a:r>
          </a:p>
        </p:txBody>
      </p:sp>
      <p:sp>
        <p:nvSpPr>
          <p:cNvPr id="12" name="ZoneTexte 11">
            <a:extLst>
              <a:ext uri="{FF2B5EF4-FFF2-40B4-BE49-F238E27FC236}">
                <a16:creationId xmlns:a16="http://schemas.microsoft.com/office/drawing/2014/main" id="{EA34B178-FFDE-7F73-4A53-66ADED5AB6A4}"/>
              </a:ext>
            </a:extLst>
          </p:cNvPr>
          <p:cNvSpPr txBox="1"/>
          <p:nvPr/>
        </p:nvSpPr>
        <p:spPr>
          <a:xfrm>
            <a:off x="673100" y="1778000"/>
            <a:ext cx="3606800" cy="215444"/>
          </a:xfrm>
          <a:prstGeom prst="rect">
            <a:avLst/>
          </a:prstGeom>
          <a:noFill/>
        </p:spPr>
        <p:txBody>
          <a:bodyPr vert="horz" wrap="square" lIns="0" tIns="0" rIns="0" bIns="0" rtlCol="0">
            <a:noAutofit/>
          </a:bodyPr>
          <a:lstStyle/>
          <a:p>
            <a:r>
              <a:rPr lang="fr-FR" sz="920" dirty="0">
                <a:solidFill>
                  <a:srgbClr val="1C1F25"/>
                </a:solidFill>
                <a:latin typeface="Arial" panose="020B0604020202020204" pitchFamily="34" charset="0"/>
              </a:rPr>
              <a:t>Mask entities → </a:t>
            </a:r>
            <a:r>
              <a:rPr lang="fr-FR" sz="920" dirty="0" err="1">
                <a:solidFill>
                  <a:srgbClr val="1C1F25"/>
                </a:solidFill>
                <a:latin typeface="Arial" panose="020B0604020202020204" pitchFamily="34" charset="0"/>
              </a:rPr>
              <a:t>apply</a:t>
            </a:r>
            <a:r>
              <a:rPr lang="fr-FR" sz="920" dirty="0">
                <a:solidFill>
                  <a:srgbClr val="1C1F25"/>
                </a:solidFill>
                <a:latin typeface="Arial" panose="020B0604020202020204" pitchFamily="34" charset="0"/>
              </a:rPr>
              <a:t> 27 </a:t>
            </a:r>
            <a:r>
              <a:rPr lang="fr-FR" sz="920" dirty="0" err="1">
                <a:solidFill>
                  <a:srgbClr val="1C1F25"/>
                </a:solidFill>
                <a:latin typeface="Arial" panose="020B0604020202020204" pitchFamily="34" charset="0"/>
              </a:rPr>
              <a:t>ordered</a:t>
            </a:r>
            <a:r>
              <a:rPr lang="fr-FR" sz="920" dirty="0">
                <a:solidFill>
                  <a:srgbClr val="1C1F25"/>
                </a:solidFill>
                <a:latin typeface="Arial" panose="020B0604020202020204" pitchFamily="34" charset="0"/>
              </a:rPr>
              <a:t> regex rules → restore </a:t>
            </a:r>
            <a:r>
              <a:rPr lang="fr-FR" sz="920" dirty="0" err="1">
                <a:solidFill>
                  <a:srgbClr val="1C1F25"/>
                </a:solidFill>
                <a:latin typeface="Arial" panose="020B0604020202020204" pitchFamily="34" charset="0"/>
              </a:rPr>
              <a:t>protected</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spans</a:t>
            </a:r>
            <a:r>
              <a:rPr lang="fr-FR" sz="920" dirty="0">
                <a:solidFill>
                  <a:srgbClr val="1C1F25"/>
                </a:solidFill>
                <a:latin typeface="Arial" panose="020B0604020202020204" pitchFamily="34" charset="0"/>
              </a:rPr>
              <a:t>.
Rule </a:t>
            </a:r>
            <a:r>
              <a:rPr lang="fr-FR" sz="920" dirty="0" err="1">
                <a:solidFill>
                  <a:srgbClr val="1C1F25"/>
                </a:solidFill>
                <a:latin typeface="Arial" panose="020B0604020202020204" pitchFamily="34" charset="0"/>
              </a:rPr>
              <a:t>examples</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ñ→gn</a:t>
            </a:r>
            <a:r>
              <a:rPr lang="fr-FR" sz="920" dirty="0">
                <a:solidFill>
                  <a:srgbClr val="1C1F25"/>
                </a:solidFill>
                <a:latin typeface="Arial" panose="020B0604020202020204" pitchFamily="34" charset="0"/>
              </a:rPr>
              <a:t>   ·   </a:t>
            </a:r>
            <a:r>
              <a:rPr lang="fr-FR" sz="920" dirty="0" err="1">
                <a:solidFill>
                  <a:srgbClr val="1C1F25"/>
                </a:solidFill>
                <a:latin typeface="Arial" panose="020B0604020202020204" pitchFamily="34" charset="0"/>
              </a:rPr>
              <a:t>ë→eu</a:t>
            </a:r>
            <a:r>
              <a:rPr lang="fr-FR" sz="920" dirty="0">
                <a:solidFill>
                  <a:srgbClr val="1C1F25"/>
                </a:solidFill>
                <a:latin typeface="Arial" panose="020B0604020202020204" pitchFamily="34" charset="0"/>
              </a:rPr>
              <a:t>   ·   </a:t>
            </a:r>
            <a:r>
              <a:rPr lang="fr-FR" sz="920" dirty="0" err="1">
                <a:solidFill>
                  <a:srgbClr val="1C1F25"/>
                </a:solidFill>
                <a:latin typeface="Arial" panose="020B0604020202020204" pitchFamily="34" charset="0"/>
              </a:rPr>
              <a:t>u→ou</a:t>
            </a:r>
            <a:r>
              <a:rPr lang="fr-FR" sz="920" dirty="0">
                <a:solidFill>
                  <a:srgbClr val="1C1F25"/>
                </a:solidFill>
                <a:latin typeface="Arial" panose="020B0604020202020204" pitchFamily="34" charset="0"/>
              </a:rPr>
              <a:t>
x/</a:t>
            </a:r>
            <a:r>
              <a:rPr lang="fr-FR" sz="920" dirty="0" err="1">
                <a:solidFill>
                  <a:srgbClr val="1C1F25"/>
                </a:solidFill>
                <a:latin typeface="Arial" panose="020B0604020202020204" pitchFamily="34" charset="0"/>
              </a:rPr>
              <a:t>q→kh</a:t>
            </a:r>
            <a:r>
              <a:rPr lang="fr-FR" sz="920" dirty="0">
                <a:solidFill>
                  <a:srgbClr val="1C1F25"/>
                </a:solidFill>
                <a:latin typeface="Arial" panose="020B0604020202020204" pitchFamily="34" charset="0"/>
              </a:rPr>
              <a:t>   ·   </a:t>
            </a:r>
            <a:r>
              <a:rPr lang="fr-FR" sz="920" dirty="0" err="1">
                <a:solidFill>
                  <a:srgbClr val="1C1F25"/>
                </a:solidFill>
                <a:latin typeface="Arial" panose="020B0604020202020204" pitchFamily="34" charset="0"/>
              </a:rPr>
              <a:t>aa</a:t>
            </a:r>
            <a:r>
              <a:rPr lang="fr-FR" sz="920" dirty="0">
                <a:solidFill>
                  <a:srgbClr val="1C1F25"/>
                </a:solidFill>
                <a:latin typeface="Arial" panose="020B0604020202020204" pitchFamily="34" charset="0"/>
              </a:rPr>
              <a:t>/</a:t>
            </a:r>
            <a:r>
              <a:rPr lang="fr-FR" sz="920" dirty="0" err="1">
                <a:solidFill>
                  <a:srgbClr val="1C1F25"/>
                </a:solidFill>
                <a:latin typeface="Arial" panose="020B0604020202020204" pitchFamily="34" charset="0"/>
              </a:rPr>
              <a:t>ee</a:t>
            </a:r>
            <a:r>
              <a:rPr lang="fr-FR" sz="920" dirty="0">
                <a:solidFill>
                  <a:srgbClr val="1C1F25"/>
                </a:solidFill>
                <a:latin typeface="Arial" panose="020B0604020202020204" pitchFamily="34" charset="0"/>
              </a:rPr>
              <a:t>/</a:t>
            </a:r>
            <a:r>
              <a:rPr lang="fr-FR" sz="920" dirty="0" err="1">
                <a:solidFill>
                  <a:srgbClr val="1C1F25"/>
                </a:solidFill>
                <a:latin typeface="Arial" panose="020B0604020202020204" pitchFamily="34" charset="0"/>
              </a:rPr>
              <a:t>oo→a</a:t>
            </a:r>
            <a:r>
              <a:rPr lang="fr-FR" sz="920" dirty="0">
                <a:solidFill>
                  <a:srgbClr val="1C1F25"/>
                </a:solidFill>
                <a:latin typeface="Arial" panose="020B0604020202020204" pitchFamily="34" charset="0"/>
              </a:rPr>
              <a:t>/e/o
</a:t>
            </a:r>
          </a:p>
          <a:p>
            <a:endParaRPr lang="fr-FR" sz="920" dirty="0">
              <a:solidFill>
                <a:srgbClr val="1C1F25"/>
              </a:solidFill>
              <a:latin typeface="Arial" panose="020B0604020202020204" pitchFamily="34" charset="0"/>
            </a:endParaRPr>
          </a:p>
          <a:p>
            <a:r>
              <a:rPr lang="fr-FR" sz="920" dirty="0">
                <a:solidFill>
                  <a:srgbClr val="1C1F25"/>
                </a:solidFill>
                <a:latin typeface="Arial" panose="020B0604020202020204" pitchFamily="34" charset="0"/>
              </a:rPr>
              <a:t>Nit </a:t>
            </a:r>
            <a:r>
              <a:rPr lang="fr-FR" sz="920" dirty="0" err="1">
                <a:solidFill>
                  <a:srgbClr val="1C1F25"/>
                </a:solidFill>
                <a:latin typeface="Arial" panose="020B0604020202020204" pitchFamily="34" charset="0"/>
              </a:rPr>
              <a:t>ñi</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wéy</a:t>
            </a:r>
            <a:r>
              <a:rPr lang="fr-FR" sz="920" dirty="0">
                <a:solidFill>
                  <a:srgbClr val="1C1F25"/>
                </a:solidFill>
                <a:latin typeface="Arial" panose="020B0604020202020204" pitchFamily="34" charset="0"/>
              </a:rPr>
              <a:t> di way.
→ nit </a:t>
            </a:r>
            <a:r>
              <a:rPr lang="fr-FR" sz="920" dirty="0" err="1">
                <a:solidFill>
                  <a:srgbClr val="1C1F25"/>
                </a:solidFill>
                <a:latin typeface="Arial" panose="020B0604020202020204" pitchFamily="34" charset="0"/>
              </a:rPr>
              <a:t>gni</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wéy</a:t>
            </a:r>
            <a:r>
              <a:rPr lang="fr-FR" sz="920" dirty="0">
                <a:solidFill>
                  <a:srgbClr val="1C1F25"/>
                </a:solidFill>
                <a:latin typeface="Arial" panose="020B0604020202020204" pitchFamily="34" charset="0"/>
              </a:rPr>
              <a:t> di way.
Trace: </a:t>
            </a:r>
            <a:r>
              <a:rPr lang="fr-FR" sz="920" dirty="0" err="1">
                <a:solidFill>
                  <a:srgbClr val="1C1F25"/>
                </a:solidFill>
                <a:latin typeface="Arial" panose="020B0604020202020204" pitchFamily="34" charset="0"/>
              </a:rPr>
              <a:t>lowercase</a:t>
            </a:r>
            <a:r>
              <a:rPr lang="fr-FR" sz="920" dirty="0">
                <a:solidFill>
                  <a:srgbClr val="1C1F25"/>
                </a:solidFill>
                <a:latin typeface="Arial" panose="020B0604020202020204" pitchFamily="34" charset="0"/>
              </a:rPr>
              <a:t> + </a:t>
            </a:r>
            <a:r>
              <a:rPr lang="fr-FR" sz="920" dirty="0" err="1">
                <a:solidFill>
                  <a:srgbClr val="1C1F25"/>
                </a:solidFill>
                <a:latin typeface="Arial" panose="020B0604020202020204" pitchFamily="34" charset="0"/>
              </a:rPr>
              <a:t>ñ→gn</a:t>
            </a:r>
            <a:endParaRPr lang="fr-FR" sz="920" dirty="0">
              <a:solidFill>
                <a:srgbClr val="1C1F25"/>
              </a:solidFill>
              <a:latin typeface="Arial" panose="020B0604020202020204" pitchFamily="34" charset="0"/>
            </a:endParaRPr>
          </a:p>
        </p:txBody>
      </p:sp>
      <p:sp>
        <p:nvSpPr>
          <p:cNvPr id="13" name="Rectangle 12">
            <a:extLst>
              <a:ext uri="{FF2B5EF4-FFF2-40B4-BE49-F238E27FC236}">
                <a16:creationId xmlns:a16="http://schemas.microsoft.com/office/drawing/2014/main" id="{48F8484A-09B2-BCD5-D822-E6753F73940C}"/>
              </a:ext>
            </a:extLst>
          </p:cNvPr>
          <p:cNvSpPr/>
          <p:nvPr/>
        </p:nvSpPr>
        <p:spPr>
          <a:xfrm>
            <a:off x="4737100" y="1371600"/>
            <a:ext cx="3886200" cy="27051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F262DE6F-2FD9-39B4-697C-D20FF4F28E1C}"/>
              </a:ext>
            </a:extLst>
          </p:cNvPr>
          <p:cNvSpPr/>
          <p:nvPr/>
        </p:nvSpPr>
        <p:spPr>
          <a:xfrm>
            <a:off x="4737100" y="1371600"/>
            <a:ext cx="3886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B7A89221-381B-093F-C01D-55B43E334FA2}"/>
              </a:ext>
            </a:extLst>
          </p:cNvPr>
          <p:cNvSpPr txBox="1"/>
          <p:nvPr/>
        </p:nvSpPr>
        <p:spPr>
          <a:xfrm>
            <a:off x="4876800" y="1498600"/>
            <a:ext cx="3606800" cy="215444"/>
          </a:xfrm>
          <a:prstGeom prst="rect">
            <a:avLst/>
          </a:prstGeom>
          <a:noFill/>
        </p:spPr>
        <p:txBody>
          <a:bodyPr vert="horz" wrap="square" lIns="0" tIns="0" rIns="0" bIns="0" rtlCol="0">
            <a:noAutofit/>
          </a:bodyPr>
          <a:lstStyle/>
          <a:p>
            <a:r>
              <a:rPr lang="fr-FR" sz="1150" b="1" dirty="0">
                <a:solidFill>
                  <a:srgbClr val="0E2F46"/>
                </a:solidFill>
                <a:latin typeface="Arial" panose="020B0604020202020204" pitchFamily="34" charset="0"/>
              </a:rPr>
              <a:t>M2 · ALIGNMENT + M1</a:t>
            </a:r>
          </a:p>
        </p:txBody>
      </p:sp>
      <p:sp>
        <p:nvSpPr>
          <p:cNvPr id="16" name="ZoneTexte 15">
            <a:extLst>
              <a:ext uri="{FF2B5EF4-FFF2-40B4-BE49-F238E27FC236}">
                <a16:creationId xmlns:a16="http://schemas.microsoft.com/office/drawing/2014/main" id="{1754301D-5476-D852-A939-F336DA29F045}"/>
              </a:ext>
            </a:extLst>
          </p:cNvPr>
          <p:cNvSpPr txBox="1"/>
          <p:nvPr/>
        </p:nvSpPr>
        <p:spPr>
          <a:xfrm>
            <a:off x="4876800" y="1778000"/>
            <a:ext cx="3606800" cy="215444"/>
          </a:xfrm>
          <a:prstGeom prst="rect">
            <a:avLst/>
          </a:prstGeom>
          <a:noFill/>
        </p:spPr>
        <p:txBody>
          <a:bodyPr vert="horz" wrap="square" lIns="0" tIns="0" rIns="0" bIns="0" rtlCol="0">
            <a:noAutofit/>
          </a:bodyPr>
          <a:lstStyle/>
          <a:p>
            <a:r>
              <a:rPr lang="en-US" sz="920" dirty="0">
                <a:solidFill>
                  <a:srgbClr val="1C1F25"/>
                </a:solidFill>
                <a:latin typeface="Arial" panose="020B0604020202020204" pitchFamily="34" charset="0"/>
              </a:rPr>
              <a:t>Eflomal probabilities propose French words found in the paired French sentence; target ≈20% of eligible positions; protect insertion; apply M1.
</a:t>
            </a:r>
          </a:p>
          <a:p>
            <a:endParaRPr lang="en-US" sz="920" dirty="0">
              <a:solidFill>
                <a:srgbClr val="1C1F25"/>
              </a:solidFill>
              <a:latin typeface="Arial" panose="020B0604020202020204" pitchFamily="34" charset="0"/>
            </a:endParaRPr>
          </a:p>
          <a:p>
            <a:endParaRPr lang="en-US" sz="920" dirty="0">
              <a:solidFill>
                <a:srgbClr val="1C1F25"/>
              </a:solidFill>
              <a:latin typeface="Arial" panose="020B0604020202020204" pitchFamily="34" charset="0"/>
            </a:endParaRPr>
          </a:p>
          <a:p>
            <a:endParaRPr lang="en-US" sz="920" dirty="0">
              <a:solidFill>
                <a:srgbClr val="1C1F25"/>
              </a:solidFill>
              <a:latin typeface="Arial" panose="020B0604020202020204" pitchFamily="34" charset="0"/>
            </a:endParaRPr>
          </a:p>
          <a:p>
            <a:endParaRPr lang="en-US" sz="920" dirty="0">
              <a:solidFill>
                <a:srgbClr val="1C1F25"/>
              </a:solidFill>
              <a:latin typeface="Arial" panose="020B0604020202020204" pitchFamily="34" charset="0"/>
            </a:endParaRPr>
          </a:p>
          <a:p>
            <a:r>
              <a:rPr lang="en-US" sz="920" dirty="0">
                <a:solidFill>
                  <a:srgbClr val="1C1F25"/>
                </a:solidFill>
                <a:latin typeface="Arial" panose="020B0604020202020204" pitchFamily="34" charset="0"/>
              </a:rPr>
              <a:t>Nit </a:t>
            </a:r>
            <a:r>
              <a:rPr lang="en-US" sz="920" dirty="0" err="1">
                <a:solidFill>
                  <a:srgbClr val="1C1F25"/>
                </a:solidFill>
                <a:latin typeface="Arial" panose="020B0604020202020204" pitchFamily="34" charset="0"/>
              </a:rPr>
              <a:t>ñi</a:t>
            </a:r>
            <a:r>
              <a:rPr lang="en-US" sz="920" dirty="0">
                <a:solidFill>
                  <a:srgbClr val="1C1F25"/>
                </a:solidFill>
                <a:latin typeface="Arial" panose="020B0604020202020204" pitchFamily="34" charset="0"/>
              </a:rPr>
              <a:t> </a:t>
            </a:r>
            <a:r>
              <a:rPr lang="en-US" sz="920" dirty="0" err="1">
                <a:solidFill>
                  <a:srgbClr val="1C1F25"/>
                </a:solidFill>
                <a:latin typeface="Arial" panose="020B0604020202020204" pitchFamily="34" charset="0"/>
              </a:rPr>
              <a:t>wéy</a:t>
            </a:r>
            <a:r>
              <a:rPr lang="en-US" sz="920" dirty="0">
                <a:solidFill>
                  <a:srgbClr val="1C1F25"/>
                </a:solidFill>
                <a:latin typeface="Arial" panose="020B0604020202020204" pitchFamily="34" charset="0"/>
              </a:rPr>
              <a:t> di way.
→ nit les </a:t>
            </a:r>
            <a:r>
              <a:rPr lang="en-US" sz="920" dirty="0" err="1">
                <a:solidFill>
                  <a:srgbClr val="1C1F25"/>
                </a:solidFill>
                <a:latin typeface="Arial" panose="020B0604020202020204" pitchFamily="34" charset="0"/>
              </a:rPr>
              <a:t>wéy</a:t>
            </a:r>
            <a:r>
              <a:rPr lang="en-US" sz="920" dirty="0">
                <a:solidFill>
                  <a:srgbClr val="1C1F25"/>
                </a:solidFill>
                <a:latin typeface="Arial" panose="020B0604020202020204" pitchFamily="34" charset="0"/>
              </a:rPr>
              <a:t> di way.
Trace: </a:t>
            </a:r>
            <a:r>
              <a:rPr lang="en-US" sz="920" dirty="0" err="1">
                <a:solidFill>
                  <a:srgbClr val="1C1F25"/>
                </a:solidFill>
                <a:latin typeface="Arial" panose="020B0604020202020204" pitchFamily="34" charset="0"/>
              </a:rPr>
              <a:t>ñi→les</a:t>
            </a:r>
            <a:r>
              <a:rPr lang="en-US" sz="920" dirty="0">
                <a:solidFill>
                  <a:srgbClr val="1C1F25"/>
                </a:solidFill>
                <a:latin typeface="Arial" panose="020B0604020202020204" pitchFamily="34" charset="0"/>
              </a:rPr>
              <a:t> + M1</a:t>
            </a:r>
            <a:endParaRPr lang="fr-FR" sz="920" dirty="0">
              <a:solidFill>
                <a:srgbClr val="1C1F25"/>
              </a:solidFill>
              <a:latin typeface="Arial" panose="020B0604020202020204" pitchFamily="34" charset="0"/>
            </a:endParaRPr>
          </a:p>
        </p:txBody>
      </p:sp>
      <p:sp>
        <p:nvSpPr>
          <p:cNvPr id="17" name="ZoneTexte 16">
            <a:extLst>
              <a:ext uri="{FF2B5EF4-FFF2-40B4-BE49-F238E27FC236}">
                <a16:creationId xmlns:a16="http://schemas.microsoft.com/office/drawing/2014/main" id="{B8FBCC6B-D5C4-545E-556B-0F2784C4A7F0}"/>
              </a:ext>
            </a:extLst>
          </p:cNvPr>
          <p:cNvSpPr txBox="1"/>
          <p:nvPr/>
        </p:nvSpPr>
        <p:spPr>
          <a:xfrm>
            <a:off x="1054100" y="4254500"/>
            <a:ext cx="2921000" cy="215444"/>
          </a:xfrm>
          <a:prstGeom prst="rect">
            <a:avLst/>
          </a:prstGeom>
          <a:noFill/>
        </p:spPr>
        <p:txBody>
          <a:bodyPr vert="horz" wrap="square" lIns="0" tIns="0" rIns="0" bIns="0" rtlCol="0">
            <a:noAutofit/>
          </a:bodyPr>
          <a:lstStyle/>
          <a:p>
            <a:pPr algn="ctr"/>
            <a:r>
              <a:rPr lang="en-US" sz="1000" b="1">
                <a:solidFill>
                  <a:srgbClr val="976F1D"/>
                </a:solidFill>
                <a:latin typeface="Arial" panose="020B0604020202020204" pitchFamily="34" charset="0"/>
              </a:rPr>
              <a:t>M1 risk: broad frequency mismatch</a:t>
            </a:r>
            <a:endParaRPr lang="fr-FR" sz="1000" b="1">
              <a:solidFill>
                <a:srgbClr val="976F1D"/>
              </a:solidFill>
              <a:latin typeface="Arial" panose="020B0604020202020204" pitchFamily="34" charset="0"/>
            </a:endParaRPr>
          </a:p>
        </p:txBody>
      </p:sp>
      <p:sp>
        <p:nvSpPr>
          <p:cNvPr id="18" name="ZoneTexte 17">
            <a:extLst>
              <a:ext uri="{FF2B5EF4-FFF2-40B4-BE49-F238E27FC236}">
                <a16:creationId xmlns:a16="http://schemas.microsoft.com/office/drawing/2014/main" id="{9FB91220-9D87-D588-0B6C-37F39714E2CE}"/>
              </a:ext>
            </a:extLst>
          </p:cNvPr>
          <p:cNvSpPr txBox="1"/>
          <p:nvPr/>
        </p:nvSpPr>
        <p:spPr>
          <a:xfrm>
            <a:off x="5168900" y="4254500"/>
            <a:ext cx="31750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M2 risk: alignment ≠ contextual validity</a:t>
            </a:r>
          </a:p>
        </p:txBody>
      </p:sp>
      <p:sp>
        <p:nvSpPr>
          <p:cNvPr id="6" name="Rectangle 5">
            <a:extLst>
              <a:ext uri="{FF2B5EF4-FFF2-40B4-BE49-F238E27FC236}">
                <a16:creationId xmlns:a16="http://schemas.microsoft.com/office/drawing/2014/main" id="{5C28A2A2-5067-7268-A73B-08B27964BB9B}"/>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D33A80D-70D2-7D35-8E1C-9DD7AD45DD21}"/>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8FD308EC-63F4-9159-8CB0-C3ED9C46FDBB}"/>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4" name="ZoneTexte 3">
            <a:extLst>
              <a:ext uri="{FF2B5EF4-FFF2-40B4-BE49-F238E27FC236}">
                <a16:creationId xmlns:a16="http://schemas.microsoft.com/office/drawing/2014/main" id="{CBD93BE9-3229-BFE3-D588-FFE1AE19CFDD}"/>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M1 supplies spelling noise; M2 adds aligned French</a:t>
            </a:r>
            <a:endParaRPr lang="fr-FR" sz="1900" b="1">
              <a:solidFill>
                <a:srgbClr val="57658D"/>
              </a:solidFill>
              <a:latin typeface="Arial" panose="020B0604020202020204" pitchFamily="34" charset="0"/>
            </a:endParaRPr>
          </a:p>
        </p:txBody>
      </p:sp>
      <p:sp>
        <p:nvSpPr>
          <p:cNvPr id="21" name="ZoneTexte 20">
            <a:extLst>
              <a:ext uri="{FF2B5EF4-FFF2-40B4-BE49-F238E27FC236}">
                <a16:creationId xmlns:a16="http://schemas.microsoft.com/office/drawing/2014/main" id="{8FC4721C-D50C-7630-FDEA-FB86F338C52C}"/>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2" name="ZoneTexte 21">
            <a:extLst>
              <a:ext uri="{FF2B5EF4-FFF2-40B4-BE49-F238E27FC236}">
                <a16:creationId xmlns:a16="http://schemas.microsoft.com/office/drawing/2014/main" id="{E051D407-0F27-15A5-89F8-D5445DFFA3B9}"/>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M1 and M2</a:t>
            </a:r>
          </a:p>
        </p:txBody>
      </p:sp>
      <p:sp>
        <p:nvSpPr>
          <p:cNvPr id="23" name="ZoneTexte 22">
            <a:extLst>
              <a:ext uri="{FF2B5EF4-FFF2-40B4-BE49-F238E27FC236}">
                <a16:creationId xmlns:a16="http://schemas.microsoft.com/office/drawing/2014/main" id="{688045ED-EC61-23F8-607C-3C4314BB52FB}"/>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9 / 36</a:t>
            </a:r>
          </a:p>
        </p:txBody>
      </p:sp>
      <p:pic>
        <p:nvPicPr>
          <p:cNvPr id="25" name="Image 24">
            <a:extLst>
              <a:ext uri="{FF2B5EF4-FFF2-40B4-BE49-F238E27FC236}">
                <a16:creationId xmlns:a16="http://schemas.microsoft.com/office/drawing/2014/main" id="{2E797C59-D92B-65C1-8266-C86CF74718EC}"/>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664799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BD8139E7-5D88-5F2D-29A1-BC9DABA32433}"/>
              </a:ext>
            </a:extLst>
          </p:cNvPr>
          <p:cNvSpPr/>
          <p:nvPr/>
        </p:nvSpPr>
        <p:spPr>
          <a:xfrm>
            <a:off x="546100" y="317500"/>
            <a:ext cx="15875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3EE5249-0710-BBC7-D95C-2B83C2301B77}"/>
              </a:ext>
            </a:extLst>
          </p:cNvPr>
          <p:cNvSpPr txBox="1"/>
          <p:nvPr/>
        </p:nvSpPr>
        <p:spPr>
          <a:xfrm>
            <a:off x="546100" y="381000"/>
            <a:ext cx="1587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METHODS + EXAMPLES</a:t>
            </a:r>
          </a:p>
        </p:txBody>
      </p:sp>
      <p:sp>
        <p:nvSpPr>
          <p:cNvPr id="9" name="Rectangle 8">
            <a:extLst>
              <a:ext uri="{FF2B5EF4-FFF2-40B4-BE49-F238E27FC236}">
                <a16:creationId xmlns:a16="http://schemas.microsoft.com/office/drawing/2014/main" id="{4F89BE39-FF6F-ABD2-019D-24D477AE5660}"/>
              </a:ext>
            </a:extLst>
          </p:cNvPr>
          <p:cNvSpPr/>
          <p:nvPr/>
        </p:nvSpPr>
        <p:spPr>
          <a:xfrm>
            <a:off x="548884" y="1371600"/>
            <a:ext cx="3886200" cy="27051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A9084BD5-A4CA-04CD-7038-D6EEBA17C9D5}"/>
              </a:ext>
            </a:extLst>
          </p:cNvPr>
          <p:cNvSpPr/>
          <p:nvPr/>
        </p:nvSpPr>
        <p:spPr>
          <a:xfrm>
            <a:off x="533400" y="1371600"/>
            <a:ext cx="3886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E0A0B5FD-C00F-0DE5-E2EB-4ACF3A31FF1D}"/>
              </a:ext>
            </a:extLst>
          </p:cNvPr>
          <p:cNvSpPr txBox="1"/>
          <p:nvPr/>
        </p:nvSpPr>
        <p:spPr>
          <a:xfrm>
            <a:off x="673100" y="1498600"/>
            <a:ext cx="3606800" cy="215444"/>
          </a:xfrm>
          <a:prstGeom prst="rect">
            <a:avLst/>
          </a:prstGeom>
          <a:noFill/>
        </p:spPr>
        <p:txBody>
          <a:bodyPr vert="horz" wrap="square" lIns="0" tIns="0" rIns="0" bIns="0" rtlCol="0">
            <a:noAutofit/>
          </a:bodyPr>
          <a:lstStyle/>
          <a:p>
            <a:r>
              <a:rPr lang="fr-FR" sz="1150" b="1" dirty="0">
                <a:solidFill>
                  <a:srgbClr val="0E2F46"/>
                </a:solidFill>
                <a:latin typeface="Arial" panose="020B0604020202020204" pitchFamily="34" charset="0"/>
              </a:rPr>
              <a:t>M3 · CMDR + M1</a:t>
            </a:r>
          </a:p>
        </p:txBody>
      </p:sp>
      <p:sp>
        <p:nvSpPr>
          <p:cNvPr id="12" name="ZoneTexte 11">
            <a:extLst>
              <a:ext uri="{FF2B5EF4-FFF2-40B4-BE49-F238E27FC236}">
                <a16:creationId xmlns:a16="http://schemas.microsoft.com/office/drawing/2014/main" id="{C15F2A82-42FB-88E8-F3FB-4F70F6B0D447}"/>
              </a:ext>
            </a:extLst>
          </p:cNvPr>
          <p:cNvSpPr txBox="1"/>
          <p:nvPr/>
        </p:nvSpPr>
        <p:spPr>
          <a:xfrm>
            <a:off x="673100" y="1778000"/>
            <a:ext cx="3746500" cy="710744"/>
          </a:xfrm>
          <a:prstGeom prst="rect">
            <a:avLst/>
          </a:prstGeom>
          <a:noFill/>
        </p:spPr>
        <p:txBody>
          <a:bodyPr vert="horz" wrap="square" lIns="0" tIns="0" rIns="0" bIns="0" rtlCol="0">
            <a:noAutofit/>
          </a:bodyPr>
          <a:lstStyle/>
          <a:p>
            <a:pPr marL="171450" indent="-171450">
              <a:buFont typeface="Arial" panose="020B0604020202020204" pitchFamily="34" charset="0"/>
              <a:buChar char="•"/>
            </a:pPr>
            <a:r>
              <a:rPr lang="fr-FR" sz="920" dirty="0">
                <a:solidFill>
                  <a:srgbClr val="1C1F25"/>
                </a:solidFill>
                <a:latin typeface="Arial" panose="020B0604020202020204" pitchFamily="34" charset="0"/>
              </a:rPr>
              <a:t>Shared French-Wolof Word2Vec space</a:t>
            </a:r>
          </a:p>
          <a:p>
            <a:pPr marL="171450" indent="-171450">
              <a:buFont typeface="Arial" panose="020B0604020202020204" pitchFamily="34" charset="0"/>
              <a:buChar char="•"/>
            </a:pPr>
            <a:r>
              <a:rPr lang="fr-FR" sz="920" dirty="0">
                <a:solidFill>
                  <a:srgbClr val="1C1F25"/>
                </a:solidFill>
                <a:latin typeface="Arial" panose="020B0604020202020204" pitchFamily="34" charset="0"/>
              </a:rPr>
              <a:t>Score = </a:t>
            </a:r>
            <a:r>
              <a:rPr lang="fr-FR" sz="920" dirty="0" err="1">
                <a:solidFill>
                  <a:srgbClr val="1C1F25"/>
                </a:solidFill>
                <a:latin typeface="Arial" panose="020B0604020202020204" pitchFamily="34" charset="0"/>
              </a:rPr>
              <a:t>similarity</a:t>
            </a:r>
            <a:r>
              <a:rPr lang="fr-FR" sz="920" dirty="0">
                <a:solidFill>
                  <a:srgbClr val="1C1F25"/>
                </a:solidFill>
                <a:latin typeface="Arial" panose="020B0604020202020204" pitchFamily="34" charset="0"/>
              </a:rPr>
              <a:t> x </a:t>
            </a:r>
            <a:r>
              <a:rPr lang="fr-FR" sz="920" dirty="0" err="1">
                <a:solidFill>
                  <a:srgbClr val="1C1F25"/>
                </a:solidFill>
                <a:latin typeface="Arial" panose="020B0604020202020204" pitchFamily="34" charset="0"/>
              </a:rPr>
              <a:t>bilingual</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evidence</a:t>
            </a:r>
            <a:r>
              <a:rPr lang="fr-FR" sz="920" dirty="0">
                <a:solidFill>
                  <a:srgbClr val="1C1F25"/>
                </a:solidFill>
                <a:latin typeface="Arial" panose="020B0604020202020204" pitchFamily="34" charset="0"/>
              </a:rPr>
              <a:t> x position x n-gram penalty.</a:t>
            </a:r>
          </a:p>
          <a:p>
            <a:pPr marL="171450" indent="-171450">
              <a:buFont typeface="Arial" panose="020B0604020202020204" pitchFamily="34" charset="0"/>
              <a:buChar char="•"/>
            </a:pPr>
            <a:r>
              <a:rPr lang="fr-FR" sz="920" dirty="0" err="1">
                <a:solidFill>
                  <a:srgbClr val="1C1F25"/>
                </a:solidFill>
                <a:latin typeface="Arial" panose="020B0604020202020204" pitchFamily="34" charset="0"/>
              </a:rPr>
              <a:t>apply</a:t>
            </a:r>
            <a:r>
              <a:rPr lang="fr-FR" sz="920" dirty="0">
                <a:solidFill>
                  <a:srgbClr val="1C1F25"/>
                </a:solidFill>
                <a:latin typeface="Arial" panose="020B0604020202020204" pitchFamily="34" charset="0"/>
              </a:rPr>
              <a:t> M1.</a:t>
            </a:r>
          </a:p>
          <a:p>
            <a:endParaRPr lang="fr-FR" sz="920" dirty="0">
              <a:solidFill>
                <a:srgbClr val="1C1F25"/>
              </a:solidFill>
              <a:latin typeface="Arial" panose="020B0604020202020204" pitchFamily="34" charset="0"/>
            </a:endParaRPr>
          </a:p>
          <a:p>
            <a:endParaRPr lang="fr-FR" sz="920" dirty="0">
              <a:solidFill>
                <a:srgbClr val="1C1F25"/>
              </a:solidFill>
              <a:latin typeface="Arial" panose="020B0604020202020204" pitchFamily="34" charset="0"/>
            </a:endParaRPr>
          </a:p>
          <a:p>
            <a:endParaRPr lang="fr-FR" sz="920" dirty="0">
              <a:solidFill>
                <a:srgbClr val="1C1F25"/>
              </a:solidFill>
              <a:latin typeface="Arial" panose="020B0604020202020204" pitchFamily="34" charset="0"/>
            </a:endParaRPr>
          </a:p>
          <a:p>
            <a:r>
              <a:rPr lang="fr-FR" sz="920" dirty="0">
                <a:solidFill>
                  <a:srgbClr val="1C1F25"/>
                </a:solidFill>
                <a:latin typeface="Arial" panose="020B0604020202020204" pitchFamily="34" charset="0"/>
              </a:rPr>
              <a:t>Joseph: </a:t>
            </a:r>
            <a:r>
              <a:rPr lang="fr-FR" sz="920" dirty="0" err="1">
                <a:solidFill>
                  <a:srgbClr val="1C1F25"/>
                </a:solidFill>
                <a:latin typeface="Arial" panose="020B0604020202020204" pitchFamily="34" charset="0"/>
              </a:rPr>
              <a:t>Déet</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waay</a:t>
            </a:r>
            <a:r>
              <a:rPr lang="fr-FR" sz="920" dirty="0">
                <a:solidFill>
                  <a:srgbClr val="1C1F25"/>
                </a:solidFill>
                <a:latin typeface="Arial" panose="020B0604020202020204" pitchFamily="34" charset="0"/>
              </a:rPr>
              <a:t>, Jasmine.
→ </a:t>
            </a:r>
            <a:r>
              <a:rPr lang="fr-FR" sz="920" dirty="0" err="1">
                <a:solidFill>
                  <a:srgbClr val="1C1F25"/>
                </a:solidFill>
                <a:latin typeface="Arial" panose="020B0604020202020204" pitchFamily="34" charset="0"/>
              </a:rPr>
              <a:t>jasmine</a:t>
            </a:r>
            <a:r>
              <a:rPr lang="fr-FR" sz="920" dirty="0">
                <a:solidFill>
                  <a:srgbClr val="1C1F25"/>
                </a:solidFill>
                <a:latin typeface="Arial" panose="020B0604020202020204" pitchFamily="34" charset="0"/>
              </a:rPr>
              <a:t>: det way, joseph.</a:t>
            </a:r>
          </a:p>
        </p:txBody>
      </p:sp>
      <p:sp>
        <p:nvSpPr>
          <p:cNvPr id="13" name="Rectangle 12">
            <a:extLst>
              <a:ext uri="{FF2B5EF4-FFF2-40B4-BE49-F238E27FC236}">
                <a16:creationId xmlns:a16="http://schemas.microsoft.com/office/drawing/2014/main" id="{53B0FDF6-472A-C50D-CF3B-AC873BC0EBB7}"/>
              </a:ext>
            </a:extLst>
          </p:cNvPr>
          <p:cNvSpPr/>
          <p:nvPr/>
        </p:nvSpPr>
        <p:spPr>
          <a:xfrm>
            <a:off x="4737100" y="1371600"/>
            <a:ext cx="3886200" cy="27051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DCE9664-4651-92F8-16CA-E7C11F40A7A4}"/>
              </a:ext>
            </a:extLst>
          </p:cNvPr>
          <p:cNvSpPr/>
          <p:nvPr/>
        </p:nvSpPr>
        <p:spPr>
          <a:xfrm>
            <a:off x="4737100" y="1371600"/>
            <a:ext cx="3886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76A400FA-EE59-EEA9-42FA-78143F960BD9}"/>
              </a:ext>
            </a:extLst>
          </p:cNvPr>
          <p:cNvSpPr txBox="1"/>
          <p:nvPr/>
        </p:nvSpPr>
        <p:spPr>
          <a:xfrm>
            <a:off x="4876800" y="1498600"/>
            <a:ext cx="3606800" cy="215444"/>
          </a:xfrm>
          <a:prstGeom prst="rect">
            <a:avLst/>
          </a:prstGeom>
          <a:noFill/>
        </p:spPr>
        <p:txBody>
          <a:bodyPr vert="horz" wrap="square" lIns="0" tIns="0" rIns="0" bIns="0" rtlCol="0">
            <a:noAutofit/>
          </a:bodyPr>
          <a:lstStyle/>
          <a:p>
            <a:r>
              <a:rPr lang="fr-FR" sz="1150" b="1">
                <a:solidFill>
                  <a:srgbClr val="0E2F46"/>
                </a:solidFill>
                <a:latin typeface="Arial" panose="020B0604020202020204" pitchFamily="34" charset="0"/>
              </a:rPr>
              <a:t>M4 · OOLEL</a:t>
            </a:r>
          </a:p>
        </p:txBody>
      </p:sp>
      <p:sp>
        <p:nvSpPr>
          <p:cNvPr id="16" name="ZoneTexte 15">
            <a:extLst>
              <a:ext uri="{FF2B5EF4-FFF2-40B4-BE49-F238E27FC236}">
                <a16:creationId xmlns:a16="http://schemas.microsoft.com/office/drawing/2014/main" id="{A229CDC5-F1E5-089B-745F-C348D65BF45A}"/>
              </a:ext>
            </a:extLst>
          </p:cNvPr>
          <p:cNvSpPr txBox="1"/>
          <p:nvPr/>
        </p:nvSpPr>
        <p:spPr>
          <a:xfrm>
            <a:off x="4876800" y="1778000"/>
            <a:ext cx="3606800" cy="215444"/>
          </a:xfrm>
          <a:prstGeom prst="rect">
            <a:avLst/>
          </a:prstGeom>
          <a:noFill/>
        </p:spPr>
        <p:txBody>
          <a:bodyPr vert="horz" wrap="square" lIns="0" tIns="0" rIns="0" bIns="0" rtlCol="0">
            <a:noAutofit/>
          </a:bodyPr>
          <a:lstStyle/>
          <a:p>
            <a:r>
              <a:rPr lang="fr-FR" sz="920" dirty="0">
                <a:solidFill>
                  <a:srgbClr val="1C1F25"/>
                </a:solidFill>
                <a:latin typeface="Arial" panose="020B0604020202020204" pitchFamily="34" charset="0"/>
              </a:rPr>
              <a:t>Import 3,433 </a:t>
            </a:r>
            <a:r>
              <a:rPr lang="fr-FR" sz="920" dirty="0" err="1">
                <a:solidFill>
                  <a:srgbClr val="1C1F25"/>
                </a:solidFill>
                <a:latin typeface="Arial" panose="020B0604020202020204" pitchFamily="34" charset="0"/>
              </a:rPr>
              <a:t>valid</a:t>
            </a:r>
            <a:r>
              <a:rPr lang="fr-FR" sz="920" dirty="0">
                <a:solidFill>
                  <a:srgbClr val="1C1F25"/>
                </a:solidFill>
                <a:latin typeface="Arial" panose="020B0604020202020204" pitchFamily="34" charset="0"/>
              </a:rPr>
              <a:t> standard/non-standard pairs. All 3,430 unique formal </a:t>
            </a:r>
            <a:r>
              <a:rPr lang="fr-FR" sz="920" dirty="0" err="1">
                <a:solidFill>
                  <a:srgbClr val="1C1F25"/>
                </a:solidFill>
                <a:latin typeface="Arial" panose="020B0604020202020204" pitchFamily="34" charset="0"/>
              </a:rPr>
              <a:t>targets</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overlap</a:t>
            </a:r>
            <a:r>
              <a:rPr lang="fr-FR" sz="920" dirty="0">
                <a:solidFill>
                  <a:srgbClr val="1C1F25"/>
                </a:solidFill>
                <a:latin typeface="Arial" panose="020B0604020202020204" pitchFamily="34" charset="0"/>
              </a:rPr>
              <a:t> the formal pool.
</a:t>
            </a:r>
          </a:p>
          <a:p>
            <a:endParaRPr lang="fr-FR" sz="920" dirty="0">
              <a:solidFill>
                <a:srgbClr val="1C1F25"/>
              </a:solidFill>
              <a:latin typeface="Arial" panose="020B0604020202020204" pitchFamily="34" charset="0"/>
            </a:endParaRPr>
          </a:p>
          <a:p>
            <a:endParaRPr lang="fr-FR" sz="920" dirty="0">
              <a:solidFill>
                <a:srgbClr val="1C1F25"/>
              </a:solidFill>
              <a:latin typeface="Arial" panose="020B0604020202020204" pitchFamily="34" charset="0"/>
            </a:endParaRPr>
          </a:p>
          <a:p>
            <a:endParaRPr lang="fr-FR" sz="920" dirty="0">
              <a:solidFill>
                <a:srgbClr val="1C1F25"/>
              </a:solidFill>
              <a:latin typeface="Arial" panose="020B0604020202020204" pitchFamily="34" charset="0"/>
            </a:endParaRPr>
          </a:p>
          <a:p>
            <a:endParaRPr lang="fr-FR" sz="920" dirty="0">
              <a:solidFill>
                <a:srgbClr val="1C1F25"/>
              </a:solidFill>
              <a:latin typeface="Arial" panose="020B0604020202020204" pitchFamily="34" charset="0"/>
            </a:endParaRPr>
          </a:p>
          <a:p>
            <a:r>
              <a:rPr lang="fr-FR" sz="920" dirty="0">
                <a:solidFill>
                  <a:srgbClr val="1C1F25"/>
                </a:solidFill>
                <a:latin typeface="Arial" panose="020B0604020202020204" pitchFamily="34" charset="0"/>
              </a:rPr>
              <a:t>Joseph: </a:t>
            </a:r>
            <a:r>
              <a:rPr lang="fr-FR" sz="920" dirty="0" err="1">
                <a:solidFill>
                  <a:srgbClr val="1C1F25"/>
                </a:solidFill>
                <a:latin typeface="Arial" panose="020B0604020202020204" pitchFamily="34" charset="0"/>
              </a:rPr>
              <a:t>Déet</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waay</a:t>
            </a:r>
            <a:r>
              <a:rPr lang="fr-FR" sz="920" dirty="0">
                <a:solidFill>
                  <a:srgbClr val="1C1F25"/>
                </a:solidFill>
                <a:latin typeface="Arial" panose="020B0604020202020204" pitchFamily="34" charset="0"/>
              </a:rPr>
              <a:t>, Jasmine.
→ Joseph: </a:t>
            </a:r>
            <a:r>
              <a:rPr lang="fr-FR" sz="920" dirty="0" err="1">
                <a:solidFill>
                  <a:srgbClr val="1C1F25"/>
                </a:solidFill>
                <a:latin typeface="Arial" panose="020B0604020202020204" pitchFamily="34" charset="0"/>
              </a:rPr>
              <a:t>Déet</a:t>
            </a:r>
            <a:r>
              <a:rPr lang="fr-FR" sz="920" dirty="0">
                <a:solidFill>
                  <a:srgbClr val="1C1F25"/>
                </a:solidFill>
                <a:latin typeface="Arial" panose="020B0604020202020204" pitchFamily="34" charset="0"/>
              </a:rPr>
              <a:t> </a:t>
            </a:r>
            <a:r>
              <a:rPr lang="fr-FR" sz="920" dirty="0" err="1">
                <a:solidFill>
                  <a:srgbClr val="1C1F25"/>
                </a:solidFill>
                <a:latin typeface="Arial" panose="020B0604020202020204" pitchFamily="34" charset="0"/>
              </a:rPr>
              <a:t>waye</a:t>
            </a:r>
            <a:r>
              <a:rPr lang="fr-FR" sz="920" dirty="0">
                <a:solidFill>
                  <a:srgbClr val="1C1F25"/>
                </a:solidFill>
                <a:latin typeface="Arial" panose="020B0604020202020204" pitchFamily="34" charset="0"/>
              </a:rPr>
              <a:t> Jasmine</a:t>
            </a:r>
          </a:p>
        </p:txBody>
      </p:sp>
      <p:sp>
        <p:nvSpPr>
          <p:cNvPr id="17" name="ZoneTexte 16">
            <a:extLst>
              <a:ext uri="{FF2B5EF4-FFF2-40B4-BE49-F238E27FC236}">
                <a16:creationId xmlns:a16="http://schemas.microsoft.com/office/drawing/2014/main" id="{52CF0ECA-1344-0330-78D1-D0D2ACE76CB7}"/>
              </a:ext>
            </a:extLst>
          </p:cNvPr>
          <p:cNvSpPr txBox="1"/>
          <p:nvPr/>
        </p:nvSpPr>
        <p:spPr>
          <a:xfrm>
            <a:off x="1054100" y="4254500"/>
            <a:ext cx="2921000" cy="215444"/>
          </a:xfrm>
          <a:prstGeom prst="rect">
            <a:avLst/>
          </a:prstGeom>
          <a:noFill/>
        </p:spPr>
        <p:txBody>
          <a:bodyPr vert="horz" wrap="square" lIns="0" tIns="0" rIns="0" bIns="0" rtlCol="0">
            <a:noAutofit/>
          </a:bodyPr>
          <a:lstStyle/>
          <a:p>
            <a:pPr algn="ctr"/>
            <a:r>
              <a:rPr lang="en-US" sz="1000" b="1">
                <a:solidFill>
                  <a:srgbClr val="58658B"/>
                </a:solidFill>
                <a:latin typeface="Arial" panose="020B0604020202020204" pitchFamily="34" charset="0"/>
              </a:rPr>
              <a:t>M3: vector proximity can swap entities</a:t>
            </a:r>
            <a:endParaRPr lang="fr-FR" sz="1000" b="1">
              <a:solidFill>
                <a:srgbClr val="58658B"/>
              </a:solidFill>
              <a:latin typeface="Arial" panose="020B0604020202020204" pitchFamily="34" charset="0"/>
            </a:endParaRPr>
          </a:p>
        </p:txBody>
      </p:sp>
      <p:sp>
        <p:nvSpPr>
          <p:cNvPr id="18" name="ZoneTexte 17">
            <a:extLst>
              <a:ext uri="{FF2B5EF4-FFF2-40B4-BE49-F238E27FC236}">
                <a16:creationId xmlns:a16="http://schemas.microsoft.com/office/drawing/2014/main" id="{AA537E5B-43BC-BDCB-2F17-52508F0AF799}"/>
              </a:ext>
            </a:extLst>
          </p:cNvPr>
          <p:cNvSpPr txBox="1"/>
          <p:nvPr/>
        </p:nvSpPr>
        <p:spPr>
          <a:xfrm>
            <a:off x="5041900" y="4254500"/>
            <a:ext cx="3454400" cy="215444"/>
          </a:xfrm>
          <a:prstGeom prst="rect">
            <a:avLst/>
          </a:prstGeom>
          <a:noFill/>
        </p:spPr>
        <p:txBody>
          <a:bodyPr vert="horz" wrap="square" lIns="0" tIns="0" rIns="0" bIns="0" rtlCol="0">
            <a:noAutofit/>
          </a:bodyPr>
          <a:lstStyle/>
          <a:p>
            <a:pPr algn="ctr"/>
            <a:r>
              <a:rPr lang="it-IT" sz="1000" b="1">
                <a:solidFill>
                  <a:srgbClr val="0E2F46"/>
                </a:solidFill>
                <a:latin typeface="Arial" panose="020B0604020202020204" pitchFamily="34" charset="0"/>
              </a:rPr>
              <a:t>M4: useful data, opaque generation settings</a:t>
            </a:r>
            <a:endParaRPr lang="fr-FR" sz="1000" b="1">
              <a:solidFill>
                <a:srgbClr val="0E2F46"/>
              </a:solidFill>
              <a:latin typeface="Arial" panose="020B0604020202020204" pitchFamily="34" charset="0"/>
            </a:endParaRPr>
          </a:p>
        </p:txBody>
      </p:sp>
      <p:sp>
        <p:nvSpPr>
          <p:cNvPr id="6" name="Rectangle 5">
            <a:extLst>
              <a:ext uri="{FF2B5EF4-FFF2-40B4-BE49-F238E27FC236}">
                <a16:creationId xmlns:a16="http://schemas.microsoft.com/office/drawing/2014/main" id="{E6AC3AA2-40EB-5DA5-AF91-2BA86C85D532}"/>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AFA78752-EFA0-EAD2-2627-A691C7C2EFF5}"/>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68FF2701-2DC6-1C3B-C54C-16E4142543E6}"/>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4" name="ZoneTexte 3">
            <a:extLst>
              <a:ext uri="{FF2B5EF4-FFF2-40B4-BE49-F238E27FC236}">
                <a16:creationId xmlns:a16="http://schemas.microsoft.com/office/drawing/2014/main" id="{41C9E823-B889-7A22-A14E-CA75093751CF}"/>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M3 mixes by similarity; M4 imports LLM variation</a:t>
            </a:r>
            <a:endParaRPr lang="fr-FR" sz="1900" b="1">
              <a:solidFill>
                <a:srgbClr val="57658D"/>
              </a:solidFill>
              <a:latin typeface="Arial" panose="020B0604020202020204" pitchFamily="34" charset="0"/>
            </a:endParaRPr>
          </a:p>
        </p:txBody>
      </p:sp>
      <p:sp>
        <p:nvSpPr>
          <p:cNvPr id="21" name="ZoneTexte 20">
            <a:extLst>
              <a:ext uri="{FF2B5EF4-FFF2-40B4-BE49-F238E27FC236}">
                <a16:creationId xmlns:a16="http://schemas.microsoft.com/office/drawing/2014/main" id="{EAF3AE2F-C65D-D27B-D729-0D5D6F5D22DF}"/>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2" name="ZoneTexte 21">
            <a:extLst>
              <a:ext uri="{FF2B5EF4-FFF2-40B4-BE49-F238E27FC236}">
                <a16:creationId xmlns:a16="http://schemas.microsoft.com/office/drawing/2014/main" id="{C363B6C3-D5DB-57CC-F7C2-B70F54B60270}"/>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M3 and M4</a:t>
            </a:r>
          </a:p>
        </p:txBody>
      </p:sp>
      <p:sp>
        <p:nvSpPr>
          <p:cNvPr id="23" name="ZoneTexte 22">
            <a:extLst>
              <a:ext uri="{FF2B5EF4-FFF2-40B4-BE49-F238E27FC236}">
                <a16:creationId xmlns:a16="http://schemas.microsoft.com/office/drawing/2014/main" id="{311910BA-9A67-3D1E-CE5D-A8AA006C5D54}"/>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10 / 36</a:t>
            </a:r>
          </a:p>
        </p:txBody>
      </p:sp>
      <p:pic>
        <p:nvPicPr>
          <p:cNvPr id="25" name="Image 24">
            <a:extLst>
              <a:ext uri="{FF2B5EF4-FFF2-40B4-BE49-F238E27FC236}">
                <a16:creationId xmlns:a16="http://schemas.microsoft.com/office/drawing/2014/main" id="{06049119-9B18-8B28-FAF7-496F3FA3D4E4}"/>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338819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25C60AC1-0A47-CFB3-8660-1945B3737A9D}"/>
              </a:ext>
            </a:extLst>
          </p:cNvPr>
          <p:cNvSpPr/>
          <p:nvPr/>
        </p:nvSpPr>
        <p:spPr>
          <a:xfrm>
            <a:off x="546100" y="317500"/>
            <a:ext cx="1587500" cy="292100"/>
          </a:xfrm>
          <a:prstGeom prst="round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EF3286C0-2D41-9A2F-85A5-5E822AF4A41D}"/>
              </a:ext>
            </a:extLst>
          </p:cNvPr>
          <p:cNvSpPr txBox="1"/>
          <p:nvPr/>
        </p:nvSpPr>
        <p:spPr>
          <a:xfrm>
            <a:off x="546100" y="381000"/>
            <a:ext cx="1587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PROPOSED METHOD</a:t>
            </a:r>
          </a:p>
        </p:txBody>
      </p:sp>
      <p:sp>
        <p:nvSpPr>
          <p:cNvPr id="9" name="Rectangle 8">
            <a:extLst>
              <a:ext uri="{FF2B5EF4-FFF2-40B4-BE49-F238E27FC236}">
                <a16:creationId xmlns:a16="http://schemas.microsoft.com/office/drawing/2014/main" id="{35A2EB01-FA76-3F26-6A37-DF39A7338303}"/>
              </a:ext>
            </a:extLst>
          </p:cNvPr>
          <p:cNvSpPr/>
          <p:nvPr/>
        </p:nvSpPr>
        <p:spPr>
          <a:xfrm>
            <a:off x="546100" y="1384300"/>
            <a:ext cx="18923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04FF004-06DF-7DCE-1505-4184CD1F0153}"/>
              </a:ext>
            </a:extLst>
          </p:cNvPr>
          <p:cNvSpPr/>
          <p:nvPr/>
        </p:nvSpPr>
        <p:spPr>
          <a:xfrm>
            <a:off x="673100" y="15113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1D9621C7-237C-402D-D604-E394922987C2}"/>
              </a:ext>
            </a:extLst>
          </p:cNvPr>
          <p:cNvSpPr txBox="1"/>
          <p:nvPr/>
        </p:nvSpPr>
        <p:spPr>
          <a:xfrm>
            <a:off x="673100" y="15748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1</a:t>
            </a:r>
          </a:p>
        </p:txBody>
      </p:sp>
      <p:sp>
        <p:nvSpPr>
          <p:cNvPr id="12" name="ZoneTexte 11">
            <a:extLst>
              <a:ext uri="{FF2B5EF4-FFF2-40B4-BE49-F238E27FC236}">
                <a16:creationId xmlns:a16="http://schemas.microsoft.com/office/drawing/2014/main" id="{26654FBE-CA6D-9B7E-F1D4-0A25BF15C52B}"/>
              </a:ext>
            </a:extLst>
          </p:cNvPr>
          <p:cNvSpPr txBox="1"/>
          <p:nvPr/>
        </p:nvSpPr>
        <p:spPr>
          <a:xfrm>
            <a:off x="1092200" y="1524000"/>
            <a:ext cx="12319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FILTER</a:t>
            </a:r>
          </a:p>
        </p:txBody>
      </p:sp>
      <p:sp>
        <p:nvSpPr>
          <p:cNvPr id="13" name="ZoneTexte 12">
            <a:extLst>
              <a:ext uri="{FF2B5EF4-FFF2-40B4-BE49-F238E27FC236}">
                <a16:creationId xmlns:a16="http://schemas.microsoft.com/office/drawing/2014/main" id="{AF552217-C58B-F2F7-2A4B-D5EBF99CD4E0}"/>
              </a:ext>
            </a:extLst>
          </p:cNvPr>
          <p:cNvSpPr txBox="1"/>
          <p:nvPr/>
        </p:nvSpPr>
        <p:spPr>
          <a:xfrm>
            <a:off x="711200" y="1905000"/>
            <a:ext cx="1587500" cy="215444"/>
          </a:xfrm>
          <a:prstGeom prst="rect">
            <a:avLst/>
          </a:prstGeom>
          <a:noFill/>
        </p:spPr>
        <p:txBody>
          <a:bodyPr vert="horz" wrap="square" lIns="0" tIns="0" rIns="0" bIns="0" rtlCol="0">
            <a:noAutofit/>
          </a:bodyPr>
          <a:lstStyle/>
          <a:p>
            <a:r>
              <a:rPr lang="en-US" sz="850" dirty="0">
                <a:solidFill>
                  <a:srgbClr val="1C1F25"/>
                </a:solidFill>
                <a:latin typeface="Arial" panose="020B0604020202020204" pitchFamily="34" charset="0"/>
              </a:rPr>
              <a:t>Keep reviewed, eligible Wolof occurrences; protect French and entities.</a:t>
            </a:r>
            <a:endParaRPr lang="fr-FR" sz="850" dirty="0">
              <a:solidFill>
                <a:srgbClr val="1C1F25"/>
              </a:solidFill>
              <a:latin typeface="Arial" panose="020B0604020202020204" pitchFamily="34" charset="0"/>
            </a:endParaRPr>
          </a:p>
        </p:txBody>
      </p:sp>
      <p:sp>
        <p:nvSpPr>
          <p:cNvPr id="14" name="Rectangle 13">
            <a:extLst>
              <a:ext uri="{FF2B5EF4-FFF2-40B4-BE49-F238E27FC236}">
                <a16:creationId xmlns:a16="http://schemas.microsoft.com/office/drawing/2014/main" id="{4BAD1516-103A-3F24-B8A9-2DC92396DBB2}"/>
              </a:ext>
            </a:extLst>
          </p:cNvPr>
          <p:cNvSpPr/>
          <p:nvPr/>
        </p:nvSpPr>
        <p:spPr>
          <a:xfrm>
            <a:off x="2603500" y="1384300"/>
            <a:ext cx="18923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73EF2C48-3DDC-10A5-847C-F243103C5F37}"/>
              </a:ext>
            </a:extLst>
          </p:cNvPr>
          <p:cNvSpPr/>
          <p:nvPr/>
        </p:nvSpPr>
        <p:spPr>
          <a:xfrm>
            <a:off x="2730500" y="15113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6E8B97E0-972C-2674-B0A0-0FC79A4229A5}"/>
              </a:ext>
            </a:extLst>
          </p:cNvPr>
          <p:cNvSpPr txBox="1"/>
          <p:nvPr/>
        </p:nvSpPr>
        <p:spPr>
          <a:xfrm>
            <a:off x="2730500" y="15748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2</a:t>
            </a:r>
          </a:p>
        </p:txBody>
      </p:sp>
      <p:sp>
        <p:nvSpPr>
          <p:cNvPr id="17" name="ZoneTexte 16">
            <a:extLst>
              <a:ext uri="{FF2B5EF4-FFF2-40B4-BE49-F238E27FC236}">
                <a16:creationId xmlns:a16="http://schemas.microsoft.com/office/drawing/2014/main" id="{10CC69F8-C6D3-D61A-E647-710D19BAA207}"/>
              </a:ext>
            </a:extLst>
          </p:cNvPr>
          <p:cNvSpPr txBox="1"/>
          <p:nvPr/>
        </p:nvSpPr>
        <p:spPr>
          <a:xfrm>
            <a:off x="3149600" y="1524000"/>
            <a:ext cx="12319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MAP</a:t>
            </a:r>
          </a:p>
        </p:txBody>
      </p:sp>
      <p:sp>
        <p:nvSpPr>
          <p:cNvPr id="18" name="ZoneTexte 17">
            <a:extLst>
              <a:ext uri="{FF2B5EF4-FFF2-40B4-BE49-F238E27FC236}">
                <a16:creationId xmlns:a16="http://schemas.microsoft.com/office/drawing/2014/main" id="{CE001700-C4F4-E9B0-1068-79E5E60F11C8}"/>
              </a:ext>
            </a:extLst>
          </p:cNvPr>
          <p:cNvSpPr txBox="1"/>
          <p:nvPr/>
        </p:nvSpPr>
        <p:spPr>
          <a:xfrm>
            <a:off x="2768600" y="1905000"/>
            <a:ext cx="1587500" cy="215444"/>
          </a:xfrm>
          <a:prstGeom prst="rect">
            <a:avLst/>
          </a:prstGeom>
          <a:noFill/>
        </p:spPr>
        <p:txBody>
          <a:bodyPr vert="horz" wrap="square" lIns="0" tIns="0" rIns="0" bIns="0" rtlCol="0">
            <a:noAutofit/>
          </a:bodyPr>
          <a:lstStyle/>
          <a:p>
            <a:r>
              <a:rPr lang="en-US" sz="850">
                <a:solidFill>
                  <a:srgbClr val="1C1F25"/>
                </a:solidFill>
                <a:latin typeface="Arial" panose="020B0604020202020204" pitchFamily="34" charset="0"/>
              </a:rPr>
              <a:t>Learn 171 dominant formal→informal lexical mappings.</a:t>
            </a:r>
            <a:endParaRPr lang="fr-FR" sz="850">
              <a:solidFill>
                <a:srgbClr val="1C1F25"/>
              </a:solidFill>
              <a:latin typeface="Arial" panose="020B0604020202020204" pitchFamily="34" charset="0"/>
            </a:endParaRPr>
          </a:p>
        </p:txBody>
      </p:sp>
      <p:sp>
        <p:nvSpPr>
          <p:cNvPr id="19" name="Rectangle 18">
            <a:extLst>
              <a:ext uri="{FF2B5EF4-FFF2-40B4-BE49-F238E27FC236}">
                <a16:creationId xmlns:a16="http://schemas.microsoft.com/office/drawing/2014/main" id="{FAC123A4-542F-1A8E-4B82-1DEE5B8616B1}"/>
              </a:ext>
            </a:extLst>
          </p:cNvPr>
          <p:cNvSpPr/>
          <p:nvPr/>
        </p:nvSpPr>
        <p:spPr>
          <a:xfrm>
            <a:off x="4660900" y="1384300"/>
            <a:ext cx="18923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EF07BDD1-E389-1709-6EE4-B67EF8650AEF}"/>
              </a:ext>
            </a:extLst>
          </p:cNvPr>
          <p:cNvSpPr/>
          <p:nvPr/>
        </p:nvSpPr>
        <p:spPr>
          <a:xfrm>
            <a:off x="4787900" y="15113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C842B10F-B08C-6AA6-DCC5-5170C1C567E3}"/>
              </a:ext>
            </a:extLst>
          </p:cNvPr>
          <p:cNvSpPr txBox="1"/>
          <p:nvPr/>
        </p:nvSpPr>
        <p:spPr>
          <a:xfrm>
            <a:off x="4787900" y="1574800"/>
            <a:ext cx="317500" cy="215444"/>
          </a:xfrm>
          <a:prstGeom prst="rect">
            <a:avLst/>
          </a:prstGeom>
          <a:noFill/>
        </p:spPr>
        <p:txBody>
          <a:bodyPr vert="horz" wrap="square" lIns="0" tIns="0" rIns="0" bIns="0" rtlCol="0">
            <a:noAutofit/>
          </a:bodyPr>
          <a:lstStyle/>
          <a:p>
            <a:pPr algn="ctr"/>
            <a:r>
              <a:rPr lang="fr-FR" sz="900" b="1">
                <a:solidFill>
                  <a:srgbClr val="FFFFFF"/>
                </a:solidFill>
                <a:latin typeface="Arial" panose="020B0604020202020204" pitchFamily="34" charset="0"/>
              </a:rPr>
              <a:t>3</a:t>
            </a:r>
          </a:p>
        </p:txBody>
      </p:sp>
      <p:sp>
        <p:nvSpPr>
          <p:cNvPr id="22" name="ZoneTexte 21">
            <a:extLst>
              <a:ext uri="{FF2B5EF4-FFF2-40B4-BE49-F238E27FC236}">
                <a16:creationId xmlns:a16="http://schemas.microsoft.com/office/drawing/2014/main" id="{D3D0668F-7551-E3DC-06C5-558B95AC31F8}"/>
              </a:ext>
            </a:extLst>
          </p:cNvPr>
          <p:cNvSpPr txBox="1"/>
          <p:nvPr/>
        </p:nvSpPr>
        <p:spPr>
          <a:xfrm>
            <a:off x="5207000" y="1524000"/>
            <a:ext cx="12319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GENERALIZE</a:t>
            </a:r>
          </a:p>
        </p:txBody>
      </p:sp>
      <p:sp>
        <p:nvSpPr>
          <p:cNvPr id="23" name="ZoneTexte 22">
            <a:extLst>
              <a:ext uri="{FF2B5EF4-FFF2-40B4-BE49-F238E27FC236}">
                <a16:creationId xmlns:a16="http://schemas.microsoft.com/office/drawing/2014/main" id="{39389385-BAA0-6EE1-8DAB-4A1C4E8A2A5C}"/>
              </a:ext>
            </a:extLst>
          </p:cNvPr>
          <p:cNvSpPr txBox="1"/>
          <p:nvPr/>
        </p:nvSpPr>
        <p:spPr>
          <a:xfrm>
            <a:off x="4826000" y="1905000"/>
            <a:ext cx="1587500" cy="215444"/>
          </a:xfrm>
          <a:prstGeom prst="rect">
            <a:avLst/>
          </a:prstGeom>
          <a:noFill/>
        </p:spPr>
        <p:txBody>
          <a:bodyPr vert="horz" wrap="square" lIns="0" tIns="0" rIns="0" bIns="0" rtlCol="0">
            <a:noAutofit/>
          </a:bodyPr>
          <a:lstStyle/>
          <a:p>
            <a:r>
              <a:rPr lang="en-US" sz="850">
                <a:solidFill>
                  <a:srgbClr val="1C1F25"/>
                </a:solidFill>
                <a:latin typeface="Arial" panose="020B0604020202020204" pitchFamily="34" charset="0"/>
              </a:rPr>
              <a:t>Learn 105 POS/context-conditioned character templates.</a:t>
            </a:r>
            <a:endParaRPr lang="fr-FR" sz="850">
              <a:solidFill>
                <a:srgbClr val="1C1F25"/>
              </a:solidFill>
              <a:latin typeface="Arial" panose="020B0604020202020204" pitchFamily="34" charset="0"/>
            </a:endParaRPr>
          </a:p>
        </p:txBody>
      </p:sp>
      <p:sp>
        <p:nvSpPr>
          <p:cNvPr id="24" name="Rectangle 23">
            <a:extLst>
              <a:ext uri="{FF2B5EF4-FFF2-40B4-BE49-F238E27FC236}">
                <a16:creationId xmlns:a16="http://schemas.microsoft.com/office/drawing/2014/main" id="{9EA25A38-BBA7-AB0A-39E1-B31FC8BBCEAB}"/>
              </a:ext>
            </a:extLst>
          </p:cNvPr>
          <p:cNvSpPr/>
          <p:nvPr/>
        </p:nvSpPr>
        <p:spPr>
          <a:xfrm>
            <a:off x="6718300" y="1384300"/>
            <a:ext cx="1892300" cy="965200"/>
          </a:xfrm>
          <a:prstGeom prst="rect">
            <a:avLst/>
          </a:prstGeom>
          <a:solidFill>
            <a:srgbClr val="FFFFFF"/>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DC7D4D55-9A49-BE84-CA2D-9A69E1A243A1}"/>
              </a:ext>
            </a:extLst>
          </p:cNvPr>
          <p:cNvSpPr/>
          <p:nvPr/>
        </p:nvSpPr>
        <p:spPr>
          <a:xfrm>
            <a:off x="6845300" y="1511300"/>
            <a:ext cx="317500" cy="317500"/>
          </a:xfrm>
          <a:prstGeom prst="ellipse">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E58CE5E0-20F6-7FC4-75C8-DEFC59A32BC6}"/>
              </a:ext>
            </a:extLst>
          </p:cNvPr>
          <p:cNvSpPr txBox="1"/>
          <p:nvPr/>
        </p:nvSpPr>
        <p:spPr>
          <a:xfrm>
            <a:off x="6845300" y="1574800"/>
            <a:ext cx="317500" cy="215444"/>
          </a:xfrm>
          <a:prstGeom prst="rect">
            <a:avLst/>
          </a:prstGeom>
          <a:noFill/>
        </p:spPr>
        <p:txBody>
          <a:bodyPr vert="horz" wrap="square" lIns="0" tIns="0" rIns="0" bIns="0" rtlCol="0">
            <a:noAutofit/>
          </a:bodyPr>
          <a:lstStyle/>
          <a:p>
            <a:pPr algn="ctr"/>
            <a:r>
              <a:rPr lang="fr-FR" sz="900" b="1" dirty="0">
                <a:solidFill>
                  <a:srgbClr val="FFFFFF"/>
                </a:solidFill>
                <a:latin typeface="Arial" panose="020B0604020202020204" pitchFamily="34" charset="0"/>
              </a:rPr>
              <a:t>4</a:t>
            </a:r>
          </a:p>
        </p:txBody>
      </p:sp>
      <p:sp>
        <p:nvSpPr>
          <p:cNvPr id="27" name="ZoneTexte 26">
            <a:extLst>
              <a:ext uri="{FF2B5EF4-FFF2-40B4-BE49-F238E27FC236}">
                <a16:creationId xmlns:a16="http://schemas.microsoft.com/office/drawing/2014/main" id="{1BC2C75F-6360-0E99-946D-4B0A3627E5B4}"/>
              </a:ext>
            </a:extLst>
          </p:cNvPr>
          <p:cNvSpPr txBox="1"/>
          <p:nvPr/>
        </p:nvSpPr>
        <p:spPr>
          <a:xfrm>
            <a:off x="7264400" y="1524000"/>
            <a:ext cx="1231900" cy="215444"/>
          </a:xfrm>
          <a:prstGeom prst="rect">
            <a:avLst/>
          </a:prstGeom>
          <a:noFill/>
        </p:spPr>
        <p:txBody>
          <a:bodyPr vert="horz" wrap="square" lIns="0" tIns="0" rIns="0" bIns="0" rtlCol="0">
            <a:noAutofit/>
          </a:bodyPr>
          <a:lstStyle/>
          <a:p>
            <a:r>
              <a:rPr lang="fr-FR" sz="1100" b="1">
                <a:solidFill>
                  <a:srgbClr val="58658B"/>
                </a:solidFill>
                <a:latin typeface="Arial" panose="020B0604020202020204" pitchFamily="34" charset="0"/>
              </a:rPr>
              <a:t>SAMPLE</a:t>
            </a:r>
          </a:p>
        </p:txBody>
      </p:sp>
      <p:sp>
        <p:nvSpPr>
          <p:cNvPr id="28" name="ZoneTexte 27">
            <a:extLst>
              <a:ext uri="{FF2B5EF4-FFF2-40B4-BE49-F238E27FC236}">
                <a16:creationId xmlns:a16="http://schemas.microsoft.com/office/drawing/2014/main" id="{2EEDD913-E163-A6A9-4D2D-1A959FC91F8C}"/>
              </a:ext>
            </a:extLst>
          </p:cNvPr>
          <p:cNvSpPr txBox="1"/>
          <p:nvPr/>
        </p:nvSpPr>
        <p:spPr>
          <a:xfrm>
            <a:off x="6883400" y="1905000"/>
            <a:ext cx="1587500" cy="215444"/>
          </a:xfrm>
          <a:prstGeom prst="rect">
            <a:avLst/>
          </a:prstGeom>
          <a:noFill/>
        </p:spPr>
        <p:txBody>
          <a:bodyPr vert="horz" wrap="square" lIns="0" tIns="0" rIns="0" bIns="0" rtlCol="0">
            <a:noAutofit/>
          </a:bodyPr>
          <a:lstStyle/>
          <a:p>
            <a:r>
              <a:rPr lang="en-US" sz="850">
                <a:solidFill>
                  <a:srgbClr val="1C1F25"/>
                </a:solidFill>
                <a:latin typeface="Arial" panose="020B0604020202020204" pitchFamily="34" charset="0"/>
              </a:rPr>
              <a:t>Choose a deterministic edit budget; reject overlaps.</a:t>
            </a:r>
            <a:endParaRPr lang="fr-FR" sz="850">
              <a:solidFill>
                <a:srgbClr val="1C1F25"/>
              </a:solidFill>
              <a:latin typeface="Arial" panose="020B0604020202020204" pitchFamily="34" charset="0"/>
            </a:endParaRPr>
          </a:p>
        </p:txBody>
      </p:sp>
      <p:sp>
        <p:nvSpPr>
          <p:cNvPr id="6" name="ZoneTexte 5">
            <a:extLst>
              <a:ext uri="{FF2B5EF4-FFF2-40B4-BE49-F238E27FC236}">
                <a16:creationId xmlns:a16="http://schemas.microsoft.com/office/drawing/2014/main" id="{10161728-6E9F-406C-9DB1-DF812F708233}"/>
              </a:ext>
            </a:extLst>
          </p:cNvPr>
          <p:cNvSpPr txBox="1"/>
          <p:nvPr/>
        </p:nvSpPr>
        <p:spPr>
          <a:xfrm>
            <a:off x="546100" y="2527300"/>
            <a:ext cx="8051800" cy="215444"/>
          </a:xfrm>
          <a:prstGeom prst="rect">
            <a:avLst/>
          </a:prstGeom>
          <a:noFill/>
        </p:spPr>
        <p:txBody>
          <a:bodyPr vert="horz" wrap="square" lIns="0" tIns="0" rIns="0" bIns="0" rtlCol="0">
            <a:noAutofit/>
          </a:bodyPr>
          <a:lstStyle/>
          <a:p>
            <a:pPr algn="ctr"/>
            <a:r>
              <a:rPr lang="en-US" sz="900" b="1">
                <a:solidFill>
                  <a:srgbClr val="976F1D"/>
                </a:solidFill>
                <a:latin typeface="Arial" panose="020B0604020202020204" pitchFamily="34" charset="0"/>
              </a:rPr>
              <a:t>RECORDED M6 TRACE · exported row parallel:11883</a:t>
            </a:r>
            <a:endParaRPr lang="fr-FR" sz="900" b="1">
              <a:solidFill>
                <a:srgbClr val="976F1D"/>
              </a:solidFill>
              <a:latin typeface="Arial" panose="020B0604020202020204" pitchFamily="34" charset="0"/>
            </a:endParaRPr>
          </a:p>
        </p:txBody>
      </p:sp>
      <p:sp>
        <p:nvSpPr>
          <p:cNvPr id="7" name="Rectangle 6">
            <a:extLst>
              <a:ext uri="{FF2B5EF4-FFF2-40B4-BE49-F238E27FC236}">
                <a16:creationId xmlns:a16="http://schemas.microsoft.com/office/drawing/2014/main" id="{EDE72156-A56A-2002-5179-93176461DC8A}"/>
              </a:ext>
            </a:extLst>
          </p:cNvPr>
          <p:cNvSpPr/>
          <p:nvPr/>
        </p:nvSpPr>
        <p:spPr>
          <a:xfrm>
            <a:off x="546100" y="2819400"/>
            <a:ext cx="1714500" cy="1117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C6495D53-06CF-4BD7-B201-3F4F0DDDCB5E}"/>
              </a:ext>
            </a:extLst>
          </p:cNvPr>
          <p:cNvSpPr/>
          <p:nvPr/>
        </p:nvSpPr>
        <p:spPr>
          <a:xfrm>
            <a:off x="546100" y="2819400"/>
            <a:ext cx="17145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ZoneTexte 44">
            <a:extLst>
              <a:ext uri="{FF2B5EF4-FFF2-40B4-BE49-F238E27FC236}">
                <a16:creationId xmlns:a16="http://schemas.microsoft.com/office/drawing/2014/main" id="{F3BAFC43-1810-A876-F4F5-6D440AD93B34}"/>
              </a:ext>
            </a:extLst>
          </p:cNvPr>
          <p:cNvSpPr txBox="1"/>
          <p:nvPr/>
        </p:nvSpPr>
        <p:spPr>
          <a:xfrm>
            <a:off x="673100" y="2933700"/>
            <a:ext cx="1460500" cy="215444"/>
          </a:xfrm>
          <a:prstGeom prst="rect">
            <a:avLst/>
          </a:prstGeom>
          <a:noFill/>
        </p:spPr>
        <p:txBody>
          <a:bodyPr vert="horz" wrap="square" lIns="0" tIns="0" rIns="0" bIns="0" rtlCol="0">
            <a:noAutofit/>
          </a:bodyPr>
          <a:lstStyle/>
          <a:p>
            <a:r>
              <a:rPr lang="fr-FR" sz="870" b="1">
                <a:solidFill>
                  <a:srgbClr val="0E2F46"/>
                </a:solidFill>
                <a:latin typeface="Arial" panose="020B0604020202020204" pitchFamily="34" charset="0"/>
              </a:rPr>
              <a:t>1 · FORMAL INPUT</a:t>
            </a:r>
          </a:p>
        </p:txBody>
      </p:sp>
      <p:sp>
        <p:nvSpPr>
          <p:cNvPr id="46" name="ZoneTexte 45">
            <a:extLst>
              <a:ext uri="{FF2B5EF4-FFF2-40B4-BE49-F238E27FC236}">
                <a16:creationId xmlns:a16="http://schemas.microsoft.com/office/drawing/2014/main" id="{4FCFA0E9-E221-4F00-BCBE-8DF8272B7F54}"/>
              </a:ext>
            </a:extLst>
          </p:cNvPr>
          <p:cNvSpPr txBox="1"/>
          <p:nvPr/>
        </p:nvSpPr>
        <p:spPr>
          <a:xfrm>
            <a:off x="673100" y="3187700"/>
            <a:ext cx="1460500" cy="215444"/>
          </a:xfrm>
          <a:prstGeom prst="rect">
            <a:avLst/>
          </a:prstGeom>
          <a:noFill/>
        </p:spPr>
        <p:txBody>
          <a:bodyPr vert="horz" wrap="square" lIns="0" tIns="0" rIns="0" bIns="0" rtlCol="0">
            <a:noAutofit/>
          </a:bodyPr>
          <a:lstStyle/>
          <a:p>
            <a:r>
              <a:rPr lang="pl-PL" sz="820">
                <a:solidFill>
                  <a:srgbClr val="1C1F25"/>
                </a:solidFill>
                <a:latin typeface="Arial" panose="020B0604020202020204" pitchFamily="34" charset="0"/>
              </a:rPr>
              <a:t>na nga def
Eligible Wolof span</a:t>
            </a:r>
            <a:endParaRPr lang="fr-FR" sz="820">
              <a:solidFill>
                <a:srgbClr val="1C1F25"/>
              </a:solidFill>
              <a:latin typeface="Arial" panose="020B0604020202020204" pitchFamily="34" charset="0"/>
            </a:endParaRPr>
          </a:p>
        </p:txBody>
      </p:sp>
      <p:cxnSp>
        <p:nvCxnSpPr>
          <p:cNvPr id="47" name="Connecteur droit 46">
            <a:extLst>
              <a:ext uri="{FF2B5EF4-FFF2-40B4-BE49-F238E27FC236}">
                <a16:creationId xmlns:a16="http://schemas.microsoft.com/office/drawing/2014/main" id="{DF694EE7-871A-C9CA-14E6-25A5DDB08971}"/>
              </a:ext>
            </a:extLst>
          </p:cNvPr>
          <p:cNvCxnSpPr/>
          <p:nvPr/>
        </p:nvCxnSpPr>
        <p:spPr>
          <a:xfrm>
            <a:off x="2298700" y="3378200"/>
            <a:ext cx="1778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72993534-DCF3-F89E-6B6A-64C07F218A78}"/>
              </a:ext>
            </a:extLst>
          </p:cNvPr>
          <p:cNvSpPr/>
          <p:nvPr/>
        </p:nvSpPr>
        <p:spPr>
          <a:xfrm>
            <a:off x="2527300" y="2819400"/>
            <a:ext cx="1841500" cy="1117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27468300-ADEA-BF83-47B6-9632EB813246}"/>
              </a:ext>
            </a:extLst>
          </p:cNvPr>
          <p:cNvSpPr/>
          <p:nvPr/>
        </p:nvSpPr>
        <p:spPr>
          <a:xfrm>
            <a:off x="2527300" y="2819400"/>
            <a:ext cx="18415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C300C8E0-5409-0001-8DD9-9EB4F7160862}"/>
              </a:ext>
            </a:extLst>
          </p:cNvPr>
          <p:cNvSpPr txBox="1"/>
          <p:nvPr/>
        </p:nvSpPr>
        <p:spPr>
          <a:xfrm>
            <a:off x="2654300" y="2933700"/>
            <a:ext cx="1587500" cy="215444"/>
          </a:xfrm>
          <a:prstGeom prst="rect">
            <a:avLst/>
          </a:prstGeom>
          <a:noFill/>
        </p:spPr>
        <p:txBody>
          <a:bodyPr vert="horz" wrap="square" lIns="0" tIns="0" rIns="0" bIns="0" rtlCol="0">
            <a:noAutofit/>
          </a:bodyPr>
          <a:lstStyle/>
          <a:p>
            <a:r>
              <a:rPr lang="fr-FR" sz="870" b="1">
                <a:solidFill>
                  <a:srgbClr val="0E2F46"/>
                </a:solidFill>
                <a:latin typeface="Arial" panose="020B0604020202020204" pitchFamily="34" charset="0"/>
              </a:rPr>
              <a:t>2 · LEXICAL MAP</a:t>
            </a:r>
          </a:p>
        </p:txBody>
      </p:sp>
      <p:sp>
        <p:nvSpPr>
          <p:cNvPr id="51" name="ZoneTexte 50">
            <a:extLst>
              <a:ext uri="{FF2B5EF4-FFF2-40B4-BE49-F238E27FC236}">
                <a16:creationId xmlns:a16="http://schemas.microsoft.com/office/drawing/2014/main" id="{413C0C43-7039-0033-7B15-44209EB5D8A4}"/>
              </a:ext>
            </a:extLst>
          </p:cNvPr>
          <p:cNvSpPr txBox="1"/>
          <p:nvPr/>
        </p:nvSpPr>
        <p:spPr>
          <a:xfrm>
            <a:off x="2654300" y="3187700"/>
            <a:ext cx="1587500" cy="215444"/>
          </a:xfrm>
          <a:prstGeom prst="rect">
            <a:avLst/>
          </a:prstGeom>
          <a:noFill/>
        </p:spPr>
        <p:txBody>
          <a:bodyPr vert="horz" wrap="square" lIns="0" tIns="0" rIns="0" bIns="0" rtlCol="0">
            <a:noAutofit/>
          </a:bodyPr>
          <a:lstStyle/>
          <a:p>
            <a:r>
              <a:rPr lang="en-US" sz="750">
                <a:solidFill>
                  <a:srgbClr val="1C1F25"/>
                </a:solidFill>
                <a:latin typeface="Arial" panose="020B0604020202020204" pitchFamily="34" charset="0"/>
              </a:rPr>
              <a:t>na nga → nanga
spacing_merge + phonetic
1 gold occurrence</a:t>
            </a:r>
            <a:endParaRPr lang="fr-FR" sz="750">
              <a:solidFill>
                <a:srgbClr val="1C1F25"/>
              </a:solidFill>
              <a:latin typeface="Arial" panose="020B0604020202020204" pitchFamily="34" charset="0"/>
            </a:endParaRPr>
          </a:p>
        </p:txBody>
      </p:sp>
      <p:cxnSp>
        <p:nvCxnSpPr>
          <p:cNvPr id="52" name="Connecteur droit 51">
            <a:extLst>
              <a:ext uri="{FF2B5EF4-FFF2-40B4-BE49-F238E27FC236}">
                <a16:creationId xmlns:a16="http://schemas.microsoft.com/office/drawing/2014/main" id="{FD122B7E-FF94-C62F-F0D9-DEB3E4FE1DB8}"/>
              </a:ext>
            </a:extLst>
          </p:cNvPr>
          <p:cNvCxnSpPr/>
          <p:nvPr/>
        </p:nvCxnSpPr>
        <p:spPr>
          <a:xfrm>
            <a:off x="4406900" y="3378200"/>
            <a:ext cx="1651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8E26BFBA-912E-B897-E0BC-D418814F5D80}"/>
              </a:ext>
            </a:extLst>
          </p:cNvPr>
          <p:cNvSpPr/>
          <p:nvPr/>
        </p:nvSpPr>
        <p:spPr>
          <a:xfrm>
            <a:off x="4622800" y="2819400"/>
            <a:ext cx="1841500" cy="11176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FFFC720B-6F97-F4A2-F394-C676E2387872}"/>
              </a:ext>
            </a:extLst>
          </p:cNvPr>
          <p:cNvSpPr/>
          <p:nvPr/>
        </p:nvSpPr>
        <p:spPr>
          <a:xfrm>
            <a:off x="4622800" y="2819400"/>
            <a:ext cx="18415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C3E7BD72-815B-E555-DBEB-52BCE5125F78}"/>
              </a:ext>
            </a:extLst>
          </p:cNvPr>
          <p:cNvSpPr txBox="1"/>
          <p:nvPr/>
        </p:nvSpPr>
        <p:spPr>
          <a:xfrm>
            <a:off x="4749800" y="2933700"/>
            <a:ext cx="1587500" cy="215444"/>
          </a:xfrm>
          <a:prstGeom prst="rect">
            <a:avLst/>
          </a:prstGeom>
          <a:noFill/>
        </p:spPr>
        <p:txBody>
          <a:bodyPr vert="horz" wrap="square" lIns="0" tIns="0" rIns="0" bIns="0" rtlCol="0">
            <a:noAutofit/>
          </a:bodyPr>
          <a:lstStyle/>
          <a:p>
            <a:r>
              <a:rPr lang="fr-FR" sz="870" b="1">
                <a:solidFill>
                  <a:srgbClr val="976F1D"/>
                </a:solidFill>
                <a:latin typeface="Arial" panose="020B0604020202020204" pitchFamily="34" charset="0"/>
              </a:rPr>
              <a:t>3 · CONTEXT RULE</a:t>
            </a:r>
          </a:p>
        </p:txBody>
      </p:sp>
      <p:sp>
        <p:nvSpPr>
          <p:cNvPr id="56" name="ZoneTexte 55">
            <a:extLst>
              <a:ext uri="{FF2B5EF4-FFF2-40B4-BE49-F238E27FC236}">
                <a16:creationId xmlns:a16="http://schemas.microsoft.com/office/drawing/2014/main" id="{0B458220-D860-B1B9-65A7-A8FB16665A63}"/>
              </a:ext>
            </a:extLst>
          </p:cNvPr>
          <p:cNvSpPr txBox="1"/>
          <p:nvPr/>
        </p:nvSpPr>
        <p:spPr>
          <a:xfrm>
            <a:off x="4749800" y="3187700"/>
            <a:ext cx="1587500" cy="215444"/>
          </a:xfrm>
          <a:prstGeom prst="rect">
            <a:avLst/>
          </a:prstGeom>
          <a:noFill/>
        </p:spPr>
        <p:txBody>
          <a:bodyPr vert="horz" wrap="square" lIns="0" tIns="0" rIns="0" bIns="0" rtlCol="0">
            <a:noAutofit/>
          </a:bodyPr>
          <a:lstStyle/>
          <a:p>
            <a:r>
              <a:rPr lang="fr-FR" sz="750">
                <a:solidFill>
                  <a:srgbClr val="1C1F25"/>
                </a:solidFill>
                <a:latin typeface="Arial" panose="020B0604020202020204" pitchFamily="34" charset="0"/>
              </a:rPr>
              <a:t>def → deff
VERB · suffix repetition
3 gold occurrences</a:t>
            </a:r>
          </a:p>
        </p:txBody>
      </p:sp>
      <p:cxnSp>
        <p:nvCxnSpPr>
          <p:cNvPr id="57" name="Connecteur droit 56">
            <a:extLst>
              <a:ext uri="{FF2B5EF4-FFF2-40B4-BE49-F238E27FC236}">
                <a16:creationId xmlns:a16="http://schemas.microsoft.com/office/drawing/2014/main" id="{5F23168F-7602-5260-76C2-FD670C9B50CE}"/>
              </a:ext>
            </a:extLst>
          </p:cNvPr>
          <p:cNvCxnSpPr/>
          <p:nvPr/>
        </p:nvCxnSpPr>
        <p:spPr>
          <a:xfrm>
            <a:off x="6502400" y="3378200"/>
            <a:ext cx="1651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5ACF8B2B-2557-E4CF-25A5-B13AC8F26A6F}"/>
              </a:ext>
            </a:extLst>
          </p:cNvPr>
          <p:cNvSpPr/>
          <p:nvPr/>
        </p:nvSpPr>
        <p:spPr>
          <a:xfrm>
            <a:off x="6718300" y="2819400"/>
            <a:ext cx="1879600" cy="1117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4FC40DD-C12F-0A99-F2A1-96FA2C0A7B3A}"/>
              </a:ext>
            </a:extLst>
          </p:cNvPr>
          <p:cNvSpPr/>
          <p:nvPr/>
        </p:nvSpPr>
        <p:spPr>
          <a:xfrm>
            <a:off x="6718300" y="2819400"/>
            <a:ext cx="1879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ZoneTexte 59">
            <a:extLst>
              <a:ext uri="{FF2B5EF4-FFF2-40B4-BE49-F238E27FC236}">
                <a16:creationId xmlns:a16="http://schemas.microsoft.com/office/drawing/2014/main" id="{DF537610-2401-232A-EACC-BD6E270A94DC}"/>
              </a:ext>
            </a:extLst>
          </p:cNvPr>
          <p:cNvSpPr txBox="1"/>
          <p:nvPr/>
        </p:nvSpPr>
        <p:spPr>
          <a:xfrm>
            <a:off x="6845300" y="2933700"/>
            <a:ext cx="1625600" cy="215444"/>
          </a:xfrm>
          <a:prstGeom prst="rect">
            <a:avLst/>
          </a:prstGeom>
          <a:noFill/>
        </p:spPr>
        <p:txBody>
          <a:bodyPr vert="horz" wrap="square" lIns="0" tIns="0" rIns="0" bIns="0" rtlCol="0">
            <a:noAutofit/>
          </a:bodyPr>
          <a:lstStyle/>
          <a:p>
            <a:r>
              <a:rPr lang="fr-FR" sz="870" b="1">
                <a:solidFill>
                  <a:srgbClr val="976F1D"/>
                </a:solidFill>
                <a:latin typeface="Arial" panose="020B0604020202020204" pitchFamily="34" charset="0"/>
              </a:rPr>
              <a:t>4 · OUTPUT</a:t>
            </a:r>
          </a:p>
        </p:txBody>
      </p:sp>
      <p:sp>
        <p:nvSpPr>
          <p:cNvPr id="61" name="ZoneTexte 60">
            <a:extLst>
              <a:ext uri="{FF2B5EF4-FFF2-40B4-BE49-F238E27FC236}">
                <a16:creationId xmlns:a16="http://schemas.microsoft.com/office/drawing/2014/main" id="{3059942C-77B0-C227-DA1F-F0F5FFC4C8AA}"/>
              </a:ext>
            </a:extLst>
          </p:cNvPr>
          <p:cNvSpPr txBox="1"/>
          <p:nvPr/>
        </p:nvSpPr>
        <p:spPr>
          <a:xfrm>
            <a:off x="6845300" y="3187700"/>
            <a:ext cx="1625600" cy="215444"/>
          </a:xfrm>
          <a:prstGeom prst="rect">
            <a:avLst/>
          </a:prstGeom>
          <a:noFill/>
        </p:spPr>
        <p:txBody>
          <a:bodyPr vert="horz" wrap="square" lIns="0" tIns="0" rIns="0" bIns="0" rtlCol="0">
            <a:noAutofit/>
          </a:bodyPr>
          <a:lstStyle/>
          <a:p>
            <a:r>
              <a:rPr lang="fr-FR" sz="800">
                <a:solidFill>
                  <a:srgbClr val="1C1F25"/>
                </a:solidFill>
                <a:latin typeface="Arial" panose="020B0604020202020204" pitchFamily="34" charset="0"/>
              </a:rPr>
              <a:t>nanga deff
2 non-overlapping edits</a:t>
            </a:r>
          </a:p>
        </p:txBody>
      </p:sp>
      <p:sp>
        <p:nvSpPr>
          <p:cNvPr id="62" name="ZoneTexte 61">
            <a:extLst>
              <a:ext uri="{FF2B5EF4-FFF2-40B4-BE49-F238E27FC236}">
                <a16:creationId xmlns:a16="http://schemas.microsoft.com/office/drawing/2014/main" id="{96FB80D1-F53C-F8F8-55E3-8654D2B5F682}"/>
              </a:ext>
            </a:extLst>
          </p:cNvPr>
          <p:cNvSpPr txBox="1"/>
          <p:nvPr/>
        </p:nvSpPr>
        <p:spPr>
          <a:xfrm>
            <a:off x="990600" y="4038600"/>
            <a:ext cx="7162800" cy="215444"/>
          </a:xfrm>
          <a:prstGeom prst="rect">
            <a:avLst/>
          </a:prstGeom>
          <a:noFill/>
        </p:spPr>
        <p:txBody>
          <a:bodyPr vert="horz" wrap="square" lIns="0" tIns="0" rIns="0" bIns="0" rtlCol="0">
            <a:noAutofit/>
          </a:bodyPr>
          <a:lstStyle/>
          <a:p>
            <a:pPr algn="ctr"/>
            <a:r>
              <a:rPr lang="en-US" sz="840">
                <a:solidFill>
                  <a:srgbClr val="606774"/>
                </a:solidFill>
                <a:latin typeface="Arial" panose="020B0604020202020204" pitchFamily="34" charset="0"/>
              </a:rPr>
              <a:t>The sampler combines one dominant mapping with one POS/context template, then rejects overlaps.</a:t>
            </a:r>
            <a:endParaRPr lang="fr-FR" sz="840">
              <a:solidFill>
                <a:srgbClr val="606774"/>
              </a:solidFill>
              <a:latin typeface="Arial" panose="020B0604020202020204" pitchFamily="34" charset="0"/>
            </a:endParaRPr>
          </a:p>
        </p:txBody>
      </p:sp>
      <p:sp>
        <p:nvSpPr>
          <p:cNvPr id="63" name="ZoneTexte 62">
            <a:extLst>
              <a:ext uri="{FF2B5EF4-FFF2-40B4-BE49-F238E27FC236}">
                <a16:creationId xmlns:a16="http://schemas.microsoft.com/office/drawing/2014/main" id="{4CF2760D-232E-DBA9-65C6-5C9840D74EB6}"/>
              </a:ext>
            </a:extLst>
          </p:cNvPr>
          <p:cNvSpPr txBox="1"/>
          <p:nvPr/>
        </p:nvSpPr>
        <p:spPr>
          <a:xfrm>
            <a:off x="1308100" y="4343400"/>
            <a:ext cx="6527800" cy="215444"/>
          </a:xfrm>
          <a:prstGeom prst="rect">
            <a:avLst/>
          </a:prstGeom>
          <a:noFill/>
        </p:spPr>
        <p:txBody>
          <a:bodyPr vert="horz" wrap="square" lIns="0" tIns="0" rIns="0" bIns="0" rtlCol="0">
            <a:noAutofit/>
          </a:bodyPr>
          <a:lstStyle/>
          <a:p>
            <a:pPr algn="ctr"/>
            <a:r>
              <a:rPr lang="en-US" sz="920" b="1" i="1">
                <a:solidFill>
                  <a:srgbClr val="0E2F46"/>
                </a:solidFill>
                <a:latin typeface="Arial" panose="020B0604020202020204" pitchFamily="34" charset="0"/>
              </a:rPr>
              <a:t>Gold-train supervision only · no M1 rules · no development/test annotations</a:t>
            </a:r>
            <a:endParaRPr lang="fr-FR" sz="920" b="1" i="1">
              <a:solidFill>
                <a:srgbClr val="0E2F46"/>
              </a:solidFill>
              <a:latin typeface="Arial" panose="020B0604020202020204" pitchFamily="34" charset="0"/>
            </a:endParaRPr>
          </a:p>
        </p:txBody>
      </p:sp>
      <p:sp>
        <p:nvSpPr>
          <p:cNvPr id="29" name="Rectangle 28">
            <a:extLst>
              <a:ext uri="{FF2B5EF4-FFF2-40B4-BE49-F238E27FC236}">
                <a16:creationId xmlns:a16="http://schemas.microsoft.com/office/drawing/2014/main" id="{947353A7-F8B1-2B54-BB3A-F018A27CD980}"/>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CB60E9B8-4DB4-C228-0610-762732CF020D}"/>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4115A798-936F-A095-8E01-2C526CE34E80}"/>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4" name="ZoneTexte 3">
            <a:extLst>
              <a:ext uri="{FF2B5EF4-FFF2-40B4-BE49-F238E27FC236}">
                <a16:creationId xmlns:a16="http://schemas.microsoft.com/office/drawing/2014/main" id="{1CB5D766-84D5-DA93-FFE4-C2932A94102F}"/>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 M6 learns selective transformations from gold train</a:t>
            </a:r>
            <a:endParaRPr lang="fr-FR" sz="1900" b="1">
              <a:solidFill>
                <a:srgbClr val="57658D"/>
              </a:solidFill>
              <a:latin typeface="Arial" panose="020B0604020202020204" pitchFamily="34" charset="0"/>
            </a:endParaRPr>
          </a:p>
        </p:txBody>
      </p:sp>
      <p:sp>
        <p:nvSpPr>
          <p:cNvPr id="32" name="ZoneTexte 31">
            <a:extLst>
              <a:ext uri="{FF2B5EF4-FFF2-40B4-BE49-F238E27FC236}">
                <a16:creationId xmlns:a16="http://schemas.microsoft.com/office/drawing/2014/main" id="{15B55AFF-01D9-41C3-F966-3000F2656052}"/>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33" name="ZoneTexte 32">
            <a:extLst>
              <a:ext uri="{FF2B5EF4-FFF2-40B4-BE49-F238E27FC236}">
                <a16:creationId xmlns:a16="http://schemas.microsoft.com/office/drawing/2014/main" id="{21366723-B795-150E-DB24-13044AE0EC35}"/>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M6 method</a:t>
            </a:r>
          </a:p>
        </p:txBody>
      </p:sp>
      <p:sp>
        <p:nvSpPr>
          <p:cNvPr id="34" name="ZoneTexte 33">
            <a:extLst>
              <a:ext uri="{FF2B5EF4-FFF2-40B4-BE49-F238E27FC236}">
                <a16:creationId xmlns:a16="http://schemas.microsoft.com/office/drawing/2014/main" id="{9A8B0E97-FDC7-4AE0-B0BE-A4E93154BE11}"/>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11 / 36</a:t>
            </a:r>
          </a:p>
        </p:txBody>
      </p:sp>
      <p:pic>
        <p:nvPicPr>
          <p:cNvPr id="36" name="Image 35">
            <a:extLst>
              <a:ext uri="{FF2B5EF4-FFF2-40B4-BE49-F238E27FC236}">
                <a16:creationId xmlns:a16="http://schemas.microsoft.com/office/drawing/2014/main" id="{0505EA4E-334E-6BC2-CDD4-1C13A929A96B}"/>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611947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BAAC8703-BAC2-A78D-281A-BA87272C8674}"/>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360EC6F0-7D69-A2E4-E36E-A188DAB6E7DB}"/>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EVALUATOR</a:t>
            </a:r>
          </a:p>
        </p:txBody>
      </p:sp>
      <p:sp>
        <p:nvSpPr>
          <p:cNvPr id="4" name="ZoneTexte 3">
            <a:extLst>
              <a:ext uri="{FF2B5EF4-FFF2-40B4-BE49-F238E27FC236}">
                <a16:creationId xmlns:a16="http://schemas.microsoft.com/office/drawing/2014/main" id="{04A27BB5-8F22-36F2-0595-8B0031397CC1}"/>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700" b="1" dirty="0">
                <a:solidFill>
                  <a:srgbClr val="57658D"/>
                </a:solidFill>
                <a:latin typeface="Arial" panose="020B0604020202020204" pitchFamily="34" charset="0"/>
              </a:rPr>
              <a:t>TNT (Text Normalization based pre-training of Transformers) as the evaluator</a:t>
            </a:r>
            <a:endParaRPr lang="fr-FR" sz="1700" b="1" dirty="0">
              <a:solidFill>
                <a:srgbClr val="57658D"/>
              </a:solidFill>
              <a:latin typeface="Arial" panose="020B0604020202020204" pitchFamily="34" charset="0"/>
            </a:endParaRPr>
          </a:p>
        </p:txBody>
      </p:sp>
      <p:pic>
        <p:nvPicPr>
          <p:cNvPr id="10" name="Image 9">
            <a:extLst>
              <a:ext uri="{FF2B5EF4-FFF2-40B4-BE49-F238E27FC236}">
                <a16:creationId xmlns:a16="http://schemas.microsoft.com/office/drawing/2014/main" id="{28934F0F-6D42-A0AB-EFB5-C5013E164D51}"/>
              </a:ext>
            </a:extLst>
          </p:cNvPr>
          <p:cNvPicPr>
            <a:picLocks noChangeAspect="1"/>
          </p:cNvPicPr>
          <p:nvPr/>
        </p:nvPicPr>
        <p:blipFill>
          <a:blip r:embed="rId3"/>
          <a:stretch>
            <a:fillRect/>
          </a:stretch>
        </p:blipFill>
        <p:spPr>
          <a:xfrm>
            <a:off x="495300" y="1359054"/>
            <a:ext cx="5006117" cy="2909852"/>
          </a:xfrm>
          <a:prstGeom prst="rect">
            <a:avLst/>
          </a:prstGeom>
        </p:spPr>
      </p:pic>
      <p:sp>
        <p:nvSpPr>
          <p:cNvPr id="11" name="Rectangle 10">
            <a:extLst>
              <a:ext uri="{FF2B5EF4-FFF2-40B4-BE49-F238E27FC236}">
                <a16:creationId xmlns:a16="http://schemas.microsoft.com/office/drawing/2014/main" id="{B1A779D3-BBDF-8581-4C17-858C7524B72D}"/>
              </a:ext>
            </a:extLst>
          </p:cNvPr>
          <p:cNvSpPr/>
          <p:nvPr/>
        </p:nvSpPr>
        <p:spPr>
          <a:xfrm>
            <a:off x="5969000" y="1498600"/>
            <a:ext cx="2628900" cy="22098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E701163-124C-B65E-B98B-5419F3D72A2B}"/>
              </a:ext>
            </a:extLst>
          </p:cNvPr>
          <p:cNvSpPr/>
          <p:nvPr/>
        </p:nvSpPr>
        <p:spPr>
          <a:xfrm>
            <a:off x="5969000" y="1498600"/>
            <a:ext cx="26289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AA2D1921-43D6-2143-77CA-2A55339856B5}"/>
              </a:ext>
            </a:extLst>
          </p:cNvPr>
          <p:cNvSpPr txBox="1"/>
          <p:nvPr/>
        </p:nvSpPr>
        <p:spPr>
          <a:xfrm>
            <a:off x="6108700" y="1625600"/>
            <a:ext cx="2349500" cy="215444"/>
          </a:xfrm>
          <a:prstGeom prst="rect">
            <a:avLst/>
          </a:prstGeom>
          <a:noFill/>
        </p:spPr>
        <p:txBody>
          <a:bodyPr vert="horz" wrap="square" lIns="0" tIns="0" rIns="0" bIns="0" rtlCol="0">
            <a:noAutofit/>
          </a:bodyPr>
          <a:lstStyle/>
          <a:p>
            <a:r>
              <a:rPr lang="fr-FR" sz="1100" b="1">
                <a:solidFill>
                  <a:srgbClr val="0E2F46"/>
                </a:solidFill>
                <a:latin typeface="Arial" panose="020B0604020202020204" pitchFamily="34" charset="0"/>
              </a:rPr>
              <a:t>WHY THIS MODEL?</a:t>
            </a:r>
          </a:p>
        </p:txBody>
      </p:sp>
      <p:sp>
        <p:nvSpPr>
          <p:cNvPr id="14" name="ZoneTexte 13">
            <a:extLst>
              <a:ext uri="{FF2B5EF4-FFF2-40B4-BE49-F238E27FC236}">
                <a16:creationId xmlns:a16="http://schemas.microsoft.com/office/drawing/2014/main" id="{6F531B68-00A1-1226-528D-44CE73531011}"/>
              </a:ext>
            </a:extLst>
          </p:cNvPr>
          <p:cNvSpPr txBox="1"/>
          <p:nvPr/>
        </p:nvSpPr>
        <p:spPr>
          <a:xfrm>
            <a:off x="6108700" y="1905000"/>
            <a:ext cx="23495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 Character-level input handles unseen spellings.
• Predict KEEP / DELETE / SUBSTITUTE / EXPAND.
• 2.15M parameters: feasible for repeated conditions.
• No autoregressive decoding or exposure bias.</a:t>
            </a:r>
            <a:endParaRPr lang="fr-FR" sz="920">
              <a:solidFill>
                <a:srgbClr val="1C1F25"/>
              </a:solidFill>
              <a:latin typeface="Arial" panose="020B0604020202020204" pitchFamily="34" charset="0"/>
            </a:endParaRPr>
          </a:p>
        </p:txBody>
      </p:sp>
      <p:sp>
        <p:nvSpPr>
          <p:cNvPr id="6" name="Rectangle 5">
            <a:extLst>
              <a:ext uri="{FF2B5EF4-FFF2-40B4-BE49-F238E27FC236}">
                <a16:creationId xmlns:a16="http://schemas.microsoft.com/office/drawing/2014/main" id="{D09A0D91-8660-FB52-5A17-45F2E922B002}"/>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9B2642E4-0517-68F3-2D8F-929653A4C83E}"/>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8310C12-6EBE-E3F6-54C9-A151A97663C0}"/>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15" name="ZoneTexte 14">
            <a:extLst>
              <a:ext uri="{FF2B5EF4-FFF2-40B4-BE49-F238E27FC236}">
                <a16:creationId xmlns:a16="http://schemas.microsoft.com/office/drawing/2014/main" id="{55B839C2-CE85-8517-FC8A-156F31A0CEE6}"/>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17" name="ZoneTexte 16">
            <a:extLst>
              <a:ext uri="{FF2B5EF4-FFF2-40B4-BE49-F238E27FC236}">
                <a16:creationId xmlns:a16="http://schemas.microsoft.com/office/drawing/2014/main" id="{AA493591-E600-58DF-CD2D-DAE3E9597C15}"/>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Evaluator</a:t>
            </a:r>
          </a:p>
        </p:txBody>
      </p:sp>
      <p:sp>
        <p:nvSpPr>
          <p:cNvPr id="18" name="ZoneTexte 17">
            <a:extLst>
              <a:ext uri="{FF2B5EF4-FFF2-40B4-BE49-F238E27FC236}">
                <a16:creationId xmlns:a16="http://schemas.microsoft.com/office/drawing/2014/main" id="{05D93A2E-7359-583D-246A-34B0C8BCB38D}"/>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12 / 36</a:t>
            </a:r>
          </a:p>
        </p:txBody>
      </p:sp>
      <p:pic>
        <p:nvPicPr>
          <p:cNvPr id="20" name="Image 19">
            <a:extLst>
              <a:ext uri="{FF2B5EF4-FFF2-40B4-BE49-F238E27FC236}">
                <a16:creationId xmlns:a16="http://schemas.microsoft.com/office/drawing/2014/main" id="{C3092A8B-1BD3-0FAB-841E-8CF0BC0F2F21}"/>
              </a:ext>
            </a:extLst>
          </p:cNvPr>
          <p:cNvPicPr>
            <a:picLocks/>
          </p:cNvPicPr>
          <p:nvPr/>
        </p:nvPicPr>
        <p:blipFill>
          <a:blip r:embed="rId4"/>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4037137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BA3BC583-AE9D-5A16-8787-671F2BCE0FAF}"/>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AEA1028-2B58-060A-DF5F-16599593832E}"/>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EVALUATION</a:t>
            </a:r>
          </a:p>
        </p:txBody>
      </p:sp>
      <p:sp>
        <p:nvSpPr>
          <p:cNvPr id="4" name="ZoneTexte 3">
            <a:extLst>
              <a:ext uri="{FF2B5EF4-FFF2-40B4-BE49-F238E27FC236}">
                <a16:creationId xmlns:a16="http://schemas.microsoft.com/office/drawing/2014/main" id="{CDC4C936-6451-E94C-A650-5E761DE41800}"/>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No single metric captures a good correction</a:t>
            </a:r>
            <a:endParaRPr lang="fr-FR" sz="1900" b="1">
              <a:solidFill>
                <a:srgbClr val="57658D"/>
              </a:solidFill>
              <a:latin typeface="Arial" panose="020B0604020202020204" pitchFamily="34" charset="0"/>
            </a:endParaRPr>
          </a:p>
        </p:txBody>
      </p:sp>
      <p:sp>
        <p:nvSpPr>
          <p:cNvPr id="9" name="Rectangle 8">
            <a:extLst>
              <a:ext uri="{FF2B5EF4-FFF2-40B4-BE49-F238E27FC236}">
                <a16:creationId xmlns:a16="http://schemas.microsoft.com/office/drawing/2014/main" id="{E2D98E48-C3C8-D1C4-2F09-2C6036CE8C3E}"/>
              </a:ext>
            </a:extLst>
          </p:cNvPr>
          <p:cNvSpPr/>
          <p:nvPr/>
        </p:nvSpPr>
        <p:spPr>
          <a:xfrm>
            <a:off x="546100" y="1409700"/>
            <a:ext cx="2489200" cy="1092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555DCEA4-BB93-1303-FB97-2915659E30A4}"/>
              </a:ext>
            </a:extLst>
          </p:cNvPr>
          <p:cNvSpPr/>
          <p:nvPr/>
        </p:nvSpPr>
        <p:spPr>
          <a:xfrm>
            <a:off x="546100" y="14097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1731938C-5862-3480-0BBC-06260D987A3B}"/>
              </a:ext>
            </a:extLst>
          </p:cNvPr>
          <p:cNvSpPr txBox="1"/>
          <p:nvPr/>
        </p:nvSpPr>
        <p:spPr>
          <a:xfrm>
            <a:off x="685800" y="1536700"/>
            <a:ext cx="2209800" cy="215444"/>
          </a:xfrm>
          <a:prstGeom prst="rect">
            <a:avLst/>
          </a:prstGeom>
          <a:noFill/>
        </p:spPr>
        <p:txBody>
          <a:bodyPr vert="horz" wrap="square" lIns="0" tIns="0" rIns="0" bIns="0" rtlCol="0">
            <a:noAutofit/>
          </a:bodyPr>
          <a:lstStyle/>
          <a:p>
            <a:r>
              <a:rPr lang="fr-FR" sz="1150" b="1">
                <a:solidFill>
                  <a:srgbClr val="0E2F46"/>
                </a:solidFill>
                <a:latin typeface="Arial" panose="020B0604020202020204" pitchFamily="34" charset="0"/>
              </a:rPr>
              <a:t>CER ↓</a:t>
            </a:r>
          </a:p>
        </p:txBody>
      </p:sp>
      <p:sp>
        <p:nvSpPr>
          <p:cNvPr id="12" name="ZoneTexte 11">
            <a:extLst>
              <a:ext uri="{FF2B5EF4-FFF2-40B4-BE49-F238E27FC236}">
                <a16:creationId xmlns:a16="http://schemas.microsoft.com/office/drawing/2014/main" id="{0B8214C8-EA41-2DEB-D03C-16947A868D28}"/>
              </a:ext>
            </a:extLst>
          </p:cNvPr>
          <p:cNvSpPr txBox="1"/>
          <p:nvPr/>
        </p:nvSpPr>
        <p:spPr>
          <a:xfrm>
            <a:off x="685800" y="1816100"/>
            <a:ext cx="22098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Character edit distance. Sensitive to partial spelling repair.</a:t>
            </a:r>
            <a:endParaRPr lang="fr-FR" sz="920">
              <a:solidFill>
                <a:srgbClr val="1C1F25"/>
              </a:solidFill>
              <a:latin typeface="Arial" panose="020B0604020202020204" pitchFamily="34" charset="0"/>
            </a:endParaRPr>
          </a:p>
        </p:txBody>
      </p:sp>
      <p:sp>
        <p:nvSpPr>
          <p:cNvPr id="13" name="Rectangle 12">
            <a:extLst>
              <a:ext uri="{FF2B5EF4-FFF2-40B4-BE49-F238E27FC236}">
                <a16:creationId xmlns:a16="http://schemas.microsoft.com/office/drawing/2014/main" id="{F0FB8113-1D2B-3D39-8B1C-CAA99DC3A67F}"/>
              </a:ext>
            </a:extLst>
          </p:cNvPr>
          <p:cNvSpPr/>
          <p:nvPr/>
        </p:nvSpPr>
        <p:spPr>
          <a:xfrm>
            <a:off x="3327400" y="1409700"/>
            <a:ext cx="2489200" cy="1092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794378BB-A6CE-66F8-A129-E5A5C55F8428}"/>
              </a:ext>
            </a:extLst>
          </p:cNvPr>
          <p:cNvSpPr/>
          <p:nvPr/>
        </p:nvSpPr>
        <p:spPr>
          <a:xfrm>
            <a:off x="3327400" y="14097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BDD24752-4986-96E0-F15A-D3A5E786F147}"/>
              </a:ext>
            </a:extLst>
          </p:cNvPr>
          <p:cNvSpPr txBox="1"/>
          <p:nvPr/>
        </p:nvSpPr>
        <p:spPr>
          <a:xfrm>
            <a:off x="3467100" y="1536700"/>
            <a:ext cx="2209800" cy="215444"/>
          </a:xfrm>
          <a:prstGeom prst="rect">
            <a:avLst/>
          </a:prstGeom>
          <a:noFill/>
        </p:spPr>
        <p:txBody>
          <a:bodyPr vert="horz" wrap="square" lIns="0" tIns="0" rIns="0" bIns="0" rtlCol="0">
            <a:noAutofit/>
          </a:bodyPr>
          <a:lstStyle/>
          <a:p>
            <a:r>
              <a:rPr lang="fr-FR" sz="1150" b="1" dirty="0">
                <a:solidFill>
                  <a:srgbClr val="0E2F46"/>
                </a:solidFill>
                <a:latin typeface="Arial" panose="020B0604020202020204" pitchFamily="34" charset="0"/>
              </a:rPr>
              <a:t>WER ↓</a:t>
            </a:r>
          </a:p>
        </p:txBody>
      </p:sp>
      <p:sp>
        <p:nvSpPr>
          <p:cNvPr id="16" name="ZoneTexte 15">
            <a:extLst>
              <a:ext uri="{FF2B5EF4-FFF2-40B4-BE49-F238E27FC236}">
                <a16:creationId xmlns:a16="http://schemas.microsoft.com/office/drawing/2014/main" id="{02E881B3-A5FB-5A49-ED50-9BDE9ED8A643}"/>
              </a:ext>
            </a:extLst>
          </p:cNvPr>
          <p:cNvSpPr txBox="1"/>
          <p:nvPr/>
        </p:nvSpPr>
        <p:spPr>
          <a:xfrm>
            <a:off x="3467100" y="1816100"/>
            <a:ext cx="22098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Whole-word error. A partly repaired token is still wrong.</a:t>
            </a:r>
            <a:endParaRPr lang="fr-FR" sz="920">
              <a:solidFill>
                <a:srgbClr val="1C1F25"/>
              </a:solidFill>
              <a:latin typeface="Arial" panose="020B0604020202020204" pitchFamily="34" charset="0"/>
            </a:endParaRPr>
          </a:p>
        </p:txBody>
      </p:sp>
      <p:sp>
        <p:nvSpPr>
          <p:cNvPr id="17" name="Rectangle 16">
            <a:extLst>
              <a:ext uri="{FF2B5EF4-FFF2-40B4-BE49-F238E27FC236}">
                <a16:creationId xmlns:a16="http://schemas.microsoft.com/office/drawing/2014/main" id="{1D7D3AF8-9E6E-AD4E-1FB3-C8333F298795}"/>
              </a:ext>
            </a:extLst>
          </p:cNvPr>
          <p:cNvSpPr/>
          <p:nvPr/>
        </p:nvSpPr>
        <p:spPr>
          <a:xfrm>
            <a:off x="6108700" y="1409700"/>
            <a:ext cx="2489200" cy="1092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C2C6B0CA-048D-8CE8-8F11-92F24B2FBF71}"/>
              </a:ext>
            </a:extLst>
          </p:cNvPr>
          <p:cNvSpPr/>
          <p:nvPr/>
        </p:nvSpPr>
        <p:spPr>
          <a:xfrm>
            <a:off x="6108700" y="14097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8F010A97-4EA2-4E8A-BC7C-6F03F094A139}"/>
              </a:ext>
            </a:extLst>
          </p:cNvPr>
          <p:cNvSpPr txBox="1"/>
          <p:nvPr/>
        </p:nvSpPr>
        <p:spPr>
          <a:xfrm>
            <a:off x="6248400" y="1536700"/>
            <a:ext cx="2209800" cy="215444"/>
          </a:xfrm>
          <a:prstGeom prst="rect">
            <a:avLst/>
          </a:prstGeom>
          <a:noFill/>
        </p:spPr>
        <p:txBody>
          <a:bodyPr vert="horz" wrap="square" lIns="0" tIns="0" rIns="0" bIns="0" rtlCol="0">
            <a:noAutofit/>
          </a:bodyPr>
          <a:lstStyle>
            <a:defPPr marR="0" lvl="0" algn="l" rtl="0">
              <a:lnSpc>
                <a:spcPct val="100000"/>
              </a:lnSpc>
              <a:spcBef>
                <a:spcPts val="0"/>
              </a:spcBef>
              <a:spcAft>
                <a:spcPts val="0"/>
              </a:spcAft>
            </a:defPPr>
            <a:lvl1pPr>
              <a:defRPr sz="1150" b="1">
                <a:solidFill>
                  <a:srgbClr val="0E2F46"/>
                </a:solidFill>
                <a:latin typeface="Verdana" panose="020B0604030504040204" pitchFamily="34" charset="0"/>
              </a:defRPr>
            </a:lvl1pPr>
          </a:lstStyle>
          <a:p>
            <a:r>
              <a:rPr lang="fr-FR">
                <a:latin typeface="Arial" panose="020B0604020202020204" pitchFamily="34" charset="0"/>
              </a:rPr>
              <a:t>chrF ↑</a:t>
            </a:r>
          </a:p>
        </p:txBody>
      </p:sp>
      <p:sp>
        <p:nvSpPr>
          <p:cNvPr id="20" name="ZoneTexte 19">
            <a:extLst>
              <a:ext uri="{FF2B5EF4-FFF2-40B4-BE49-F238E27FC236}">
                <a16:creationId xmlns:a16="http://schemas.microsoft.com/office/drawing/2014/main" id="{4329B215-221B-E3C7-8E56-8C8A564C3B35}"/>
              </a:ext>
            </a:extLst>
          </p:cNvPr>
          <p:cNvSpPr txBox="1"/>
          <p:nvPr/>
        </p:nvSpPr>
        <p:spPr>
          <a:xfrm>
            <a:off x="6248400" y="1816100"/>
            <a:ext cx="22098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Character n-gram overlap. Graded surface similarity.</a:t>
            </a:r>
            <a:endParaRPr lang="fr-FR" sz="920">
              <a:solidFill>
                <a:srgbClr val="1C1F25"/>
              </a:solidFill>
              <a:latin typeface="Arial" panose="020B0604020202020204" pitchFamily="34" charset="0"/>
            </a:endParaRPr>
          </a:p>
        </p:txBody>
      </p:sp>
      <p:grpSp>
        <p:nvGrpSpPr>
          <p:cNvPr id="34" name="Groupe 33">
            <a:extLst>
              <a:ext uri="{FF2B5EF4-FFF2-40B4-BE49-F238E27FC236}">
                <a16:creationId xmlns:a16="http://schemas.microsoft.com/office/drawing/2014/main" id="{3BC60AE8-27DD-4FFD-57B6-C03A85218C15}"/>
              </a:ext>
            </a:extLst>
          </p:cNvPr>
          <p:cNvGrpSpPr/>
          <p:nvPr/>
        </p:nvGrpSpPr>
        <p:grpSpPr>
          <a:xfrm>
            <a:off x="1718056" y="2707640"/>
            <a:ext cx="2489200" cy="1092200"/>
            <a:chOff x="3327400" y="2768600"/>
            <a:chExt cx="2489200" cy="1092200"/>
          </a:xfrm>
        </p:grpSpPr>
        <p:sp>
          <p:nvSpPr>
            <p:cNvPr id="25" name="Rectangle 24">
              <a:extLst>
                <a:ext uri="{FF2B5EF4-FFF2-40B4-BE49-F238E27FC236}">
                  <a16:creationId xmlns:a16="http://schemas.microsoft.com/office/drawing/2014/main" id="{17B45398-EDF8-92E1-8868-31FB55F91F0B}"/>
                </a:ext>
              </a:extLst>
            </p:cNvPr>
            <p:cNvSpPr/>
            <p:nvPr/>
          </p:nvSpPr>
          <p:spPr>
            <a:xfrm>
              <a:off x="3327400" y="2768600"/>
              <a:ext cx="2489200" cy="10922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ABCEC815-32A6-1E2D-0FD3-65E2CF246BB7}"/>
                </a:ext>
              </a:extLst>
            </p:cNvPr>
            <p:cNvSpPr/>
            <p:nvPr/>
          </p:nvSpPr>
          <p:spPr>
            <a:xfrm>
              <a:off x="3327400" y="2768600"/>
              <a:ext cx="2489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3394D4B8-C311-3768-45A5-4496279EE6B4}"/>
                </a:ext>
              </a:extLst>
            </p:cNvPr>
            <p:cNvSpPr txBox="1"/>
            <p:nvPr/>
          </p:nvSpPr>
          <p:spPr>
            <a:xfrm>
              <a:off x="3467100" y="2895600"/>
              <a:ext cx="2209800" cy="215444"/>
            </a:xfrm>
            <a:prstGeom prst="rect">
              <a:avLst/>
            </a:prstGeom>
            <a:noFill/>
          </p:spPr>
          <p:txBody>
            <a:bodyPr vert="horz" wrap="square" lIns="0" tIns="0" rIns="0" bIns="0" rtlCol="0">
              <a:noAutofit/>
            </a:bodyPr>
            <a:lstStyle/>
            <a:p>
              <a:r>
                <a:rPr lang="fr-FR" sz="1150" b="1">
                  <a:solidFill>
                    <a:srgbClr val="976F1D"/>
                  </a:solidFill>
                  <a:latin typeface="Verdana" panose="020B0604030504040204" pitchFamily="34" charset="0"/>
                </a:rPr>
                <a:t>Overcorrection ↓</a:t>
              </a:r>
            </a:p>
          </p:txBody>
        </p:sp>
        <p:sp>
          <p:nvSpPr>
            <p:cNvPr id="28" name="ZoneTexte 27">
              <a:extLst>
                <a:ext uri="{FF2B5EF4-FFF2-40B4-BE49-F238E27FC236}">
                  <a16:creationId xmlns:a16="http://schemas.microsoft.com/office/drawing/2014/main" id="{9C40DEDA-0582-BA8F-03D7-E6671CE047A9}"/>
                </a:ext>
              </a:extLst>
            </p:cNvPr>
            <p:cNvSpPr txBox="1"/>
            <p:nvPr/>
          </p:nvSpPr>
          <p:spPr>
            <a:xfrm>
              <a:off x="3467100" y="3175000"/>
              <a:ext cx="2209800" cy="215444"/>
            </a:xfrm>
            <a:prstGeom prst="rect">
              <a:avLst/>
            </a:prstGeom>
            <a:noFill/>
          </p:spPr>
          <p:txBody>
            <a:bodyPr vert="horz" wrap="square" lIns="0" tIns="0" rIns="0" bIns="0" rtlCol="0">
              <a:noAutofit/>
            </a:bodyPr>
            <a:lstStyle/>
            <a:p>
              <a:r>
                <a:rPr lang="en-US" sz="900">
                  <a:solidFill>
                    <a:srgbClr val="1C1F25"/>
                  </a:solidFill>
                  <a:latin typeface="Verdana" panose="020B0604030504040204" pitchFamily="34" charset="0"/>
                </a:rPr>
                <a:t>False proposed edits / all proposed edits.</a:t>
              </a:r>
              <a:endParaRPr lang="fr-FR" sz="900">
                <a:solidFill>
                  <a:srgbClr val="1C1F25"/>
                </a:solidFill>
                <a:latin typeface="Verdana" panose="020B0604030504040204" pitchFamily="34" charset="0"/>
              </a:endParaRPr>
            </a:p>
          </p:txBody>
        </p:sp>
      </p:grpSp>
      <p:grpSp>
        <p:nvGrpSpPr>
          <p:cNvPr id="35" name="Groupe 34">
            <a:extLst>
              <a:ext uri="{FF2B5EF4-FFF2-40B4-BE49-F238E27FC236}">
                <a16:creationId xmlns:a16="http://schemas.microsoft.com/office/drawing/2014/main" id="{37A8A08B-88E0-9C71-72CB-7533DBF7D554}"/>
              </a:ext>
            </a:extLst>
          </p:cNvPr>
          <p:cNvGrpSpPr/>
          <p:nvPr/>
        </p:nvGrpSpPr>
        <p:grpSpPr>
          <a:xfrm>
            <a:off x="4864100" y="2713736"/>
            <a:ext cx="2489200" cy="1092200"/>
            <a:chOff x="5143500" y="2707640"/>
            <a:chExt cx="2489200" cy="1092200"/>
          </a:xfrm>
        </p:grpSpPr>
        <p:sp>
          <p:nvSpPr>
            <p:cNvPr id="29" name="Rectangle 28">
              <a:extLst>
                <a:ext uri="{FF2B5EF4-FFF2-40B4-BE49-F238E27FC236}">
                  <a16:creationId xmlns:a16="http://schemas.microsoft.com/office/drawing/2014/main" id="{33FAAFFB-2388-67AB-E1B3-A707C40DD386}"/>
                </a:ext>
              </a:extLst>
            </p:cNvPr>
            <p:cNvSpPr/>
            <p:nvPr/>
          </p:nvSpPr>
          <p:spPr>
            <a:xfrm>
              <a:off x="5143500" y="2707640"/>
              <a:ext cx="2489200" cy="1092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a:extLst>
                <a:ext uri="{FF2B5EF4-FFF2-40B4-BE49-F238E27FC236}">
                  <a16:creationId xmlns:a16="http://schemas.microsoft.com/office/drawing/2014/main" id="{FBC2237B-878B-B014-9B90-EB8891AD7A3D}"/>
                </a:ext>
              </a:extLst>
            </p:cNvPr>
            <p:cNvSpPr/>
            <p:nvPr/>
          </p:nvSpPr>
          <p:spPr>
            <a:xfrm>
              <a:off x="5143500" y="270764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72C476EA-74BD-2DD1-21BD-0B79CBDE924C}"/>
                </a:ext>
              </a:extLst>
            </p:cNvPr>
            <p:cNvSpPr txBox="1"/>
            <p:nvPr/>
          </p:nvSpPr>
          <p:spPr>
            <a:xfrm>
              <a:off x="5283200" y="2834640"/>
              <a:ext cx="2209800" cy="215444"/>
            </a:xfrm>
            <a:prstGeom prst="rect">
              <a:avLst/>
            </a:prstGeom>
            <a:noFill/>
          </p:spPr>
          <p:txBody>
            <a:bodyPr vert="horz" wrap="square" lIns="0" tIns="0" rIns="0" bIns="0" rtlCol="0">
              <a:noAutofit/>
            </a:bodyPr>
            <a:lstStyle/>
            <a:p>
              <a:r>
                <a:rPr lang="fr-FR" sz="1150" b="1">
                  <a:solidFill>
                    <a:srgbClr val="0E2F46"/>
                  </a:solidFill>
                  <a:latin typeface="Verdana" panose="020B0604030504040204" pitchFamily="34" charset="0"/>
                </a:rPr>
                <a:t>Exact sentence ↑</a:t>
              </a:r>
            </a:p>
          </p:txBody>
        </p:sp>
        <p:sp>
          <p:nvSpPr>
            <p:cNvPr id="32" name="ZoneTexte 31">
              <a:extLst>
                <a:ext uri="{FF2B5EF4-FFF2-40B4-BE49-F238E27FC236}">
                  <a16:creationId xmlns:a16="http://schemas.microsoft.com/office/drawing/2014/main" id="{744E6C28-CF38-4C81-68E5-7061A3772CFB}"/>
                </a:ext>
              </a:extLst>
            </p:cNvPr>
            <p:cNvSpPr txBox="1"/>
            <p:nvPr/>
          </p:nvSpPr>
          <p:spPr>
            <a:xfrm>
              <a:off x="5283200" y="3114040"/>
              <a:ext cx="2209800" cy="215444"/>
            </a:xfrm>
            <a:prstGeom prst="rect">
              <a:avLst/>
            </a:prstGeom>
            <a:noFill/>
          </p:spPr>
          <p:txBody>
            <a:bodyPr vert="horz" wrap="square" lIns="0" tIns="0" rIns="0" bIns="0" rtlCol="0">
              <a:noAutofit/>
            </a:bodyPr>
            <a:lstStyle/>
            <a:p>
              <a:r>
                <a:rPr lang="en-US" sz="900">
                  <a:solidFill>
                    <a:srgbClr val="1C1F25"/>
                  </a:solidFill>
                  <a:latin typeface="Verdana" panose="020B0604030504040204" pitchFamily="34" charset="0"/>
                </a:rPr>
                <a:t>Entire prediction must match the reference.</a:t>
              </a:r>
              <a:endParaRPr lang="fr-FR" sz="900">
                <a:solidFill>
                  <a:srgbClr val="1C1F25"/>
                </a:solidFill>
                <a:latin typeface="Verdana" panose="020B0604030504040204" pitchFamily="34" charset="0"/>
              </a:endParaRPr>
            </a:p>
          </p:txBody>
        </p:sp>
      </p:grpSp>
      <p:sp>
        <p:nvSpPr>
          <p:cNvPr id="6" name="Rectangle 5">
            <a:extLst>
              <a:ext uri="{FF2B5EF4-FFF2-40B4-BE49-F238E27FC236}">
                <a16:creationId xmlns:a16="http://schemas.microsoft.com/office/drawing/2014/main" id="{8C42054C-720E-4F67-25B2-B63AC32CDA82}"/>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199D191-37F6-B83B-0252-7CE56B45FED2}"/>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BE5D45B6-3895-7E4A-CC16-3115B55BE610}"/>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Method</a:t>
            </a:r>
          </a:p>
        </p:txBody>
      </p:sp>
      <p:sp>
        <p:nvSpPr>
          <p:cNvPr id="23" name="ZoneTexte 22">
            <a:extLst>
              <a:ext uri="{FF2B5EF4-FFF2-40B4-BE49-F238E27FC236}">
                <a16:creationId xmlns:a16="http://schemas.microsoft.com/office/drawing/2014/main" id="{C5F6AA07-9C91-9058-90EF-E33BE178583A}"/>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4" name="ZoneTexte 23">
            <a:extLst>
              <a:ext uri="{FF2B5EF4-FFF2-40B4-BE49-F238E27FC236}">
                <a16:creationId xmlns:a16="http://schemas.microsoft.com/office/drawing/2014/main" id="{70ABC9E1-DDB7-9E44-B79B-10018FC1049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Metrics</a:t>
            </a:r>
          </a:p>
        </p:txBody>
      </p:sp>
      <p:sp>
        <p:nvSpPr>
          <p:cNvPr id="33" name="ZoneTexte 32">
            <a:extLst>
              <a:ext uri="{FF2B5EF4-FFF2-40B4-BE49-F238E27FC236}">
                <a16:creationId xmlns:a16="http://schemas.microsoft.com/office/drawing/2014/main" id="{4BB4AF91-4C3E-A092-1D7B-518172B5B46C}"/>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13 / 36</a:t>
            </a:r>
          </a:p>
        </p:txBody>
      </p:sp>
      <p:pic>
        <p:nvPicPr>
          <p:cNvPr id="37" name="Image 36">
            <a:extLst>
              <a:ext uri="{FF2B5EF4-FFF2-40B4-BE49-F238E27FC236}">
                <a16:creationId xmlns:a16="http://schemas.microsoft.com/office/drawing/2014/main" id="{CF480E2A-C8CC-CBEC-524A-F3008A147E7A}"/>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418485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EC20BAED-7A3B-D602-4996-5DE1B5AF5B3E}"/>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515B64D2-2A54-1372-8944-C2C52B34C1E4}"/>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RESULTS</a:t>
            </a:r>
          </a:p>
        </p:txBody>
      </p:sp>
      <p:sp>
        <p:nvSpPr>
          <p:cNvPr id="4" name="ZoneTexte 3">
            <a:extLst>
              <a:ext uri="{FF2B5EF4-FFF2-40B4-BE49-F238E27FC236}">
                <a16:creationId xmlns:a16="http://schemas.microsoft.com/office/drawing/2014/main" id="{0E055BC2-0BC6-65F4-9EA0-2F9E4BA45A4B}"/>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M4 and M1 lead on character-level transfer</a:t>
            </a:r>
            <a:endParaRPr lang="fr-FR" sz="1900" b="1">
              <a:solidFill>
                <a:srgbClr val="57658D"/>
              </a:solidFill>
              <a:latin typeface="Arial" panose="020B0604020202020204" pitchFamily="34" charset="0"/>
            </a:endParaRPr>
          </a:p>
        </p:txBody>
      </p:sp>
      <p:sp>
        <p:nvSpPr>
          <p:cNvPr id="9" name="ZoneTexte 8">
            <a:extLst>
              <a:ext uri="{FF2B5EF4-FFF2-40B4-BE49-F238E27FC236}">
                <a16:creationId xmlns:a16="http://schemas.microsoft.com/office/drawing/2014/main" id="{87422D31-8C61-A952-4E60-40280365A14C}"/>
              </a:ext>
            </a:extLst>
          </p:cNvPr>
          <p:cNvSpPr txBox="1"/>
          <p:nvPr/>
        </p:nvSpPr>
        <p:spPr>
          <a:xfrm>
            <a:off x="800100" y="1371600"/>
            <a:ext cx="4953000" cy="215444"/>
          </a:xfrm>
          <a:prstGeom prst="rect">
            <a:avLst/>
          </a:prstGeom>
          <a:noFill/>
        </p:spPr>
        <p:txBody>
          <a:bodyPr vert="horz" wrap="square" lIns="0" tIns="0" rIns="0" bIns="0" rtlCol="0">
            <a:noAutofit/>
          </a:bodyPr>
          <a:lstStyle/>
          <a:p>
            <a:pPr algn="ctr"/>
            <a:r>
              <a:rPr lang="fr-FR" sz="1300" b="1" dirty="0">
                <a:solidFill>
                  <a:srgbClr val="0E2F46"/>
                </a:solidFill>
                <a:latin typeface="Arial" panose="020B0604020202020204" pitchFamily="34" charset="0"/>
              </a:rPr>
              <a:t>CER ↓ </a:t>
            </a:r>
          </a:p>
        </p:txBody>
      </p:sp>
      <p:sp>
        <p:nvSpPr>
          <p:cNvPr id="10" name="ZoneTexte 9">
            <a:extLst>
              <a:ext uri="{FF2B5EF4-FFF2-40B4-BE49-F238E27FC236}">
                <a16:creationId xmlns:a16="http://schemas.microsoft.com/office/drawing/2014/main" id="{750B370A-4A10-2579-0A3D-8E9CB0B6DCD7}"/>
              </a:ext>
            </a:extLst>
          </p:cNvPr>
          <p:cNvSpPr txBox="1"/>
          <p:nvPr/>
        </p:nvSpPr>
        <p:spPr>
          <a:xfrm>
            <a:off x="482600" y="17907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Identity</a:t>
            </a:r>
          </a:p>
        </p:txBody>
      </p:sp>
      <p:sp>
        <p:nvSpPr>
          <p:cNvPr id="11" name="Rectangle 10">
            <a:extLst>
              <a:ext uri="{FF2B5EF4-FFF2-40B4-BE49-F238E27FC236}">
                <a16:creationId xmlns:a16="http://schemas.microsoft.com/office/drawing/2014/main" id="{B8517BDC-FDDE-2173-7BDD-485A7957C5A5}"/>
              </a:ext>
            </a:extLst>
          </p:cNvPr>
          <p:cNvSpPr/>
          <p:nvPr/>
        </p:nvSpPr>
        <p:spPr>
          <a:xfrm>
            <a:off x="1422400" y="17653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8C393E23-D057-701A-999E-DA895495B39C}"/>
              </a:ext>
            </a:extLst>
          </p:cNvPr>
          <p:cNvSpPr/>
          <p:nvPr/>
        </p:nvSpPr>
        <p:spPr>
          <a:xfrm>
            <a:off x="1422400" y="1765300"/>
            <a:ext cx="3077591"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FDA83027-C580-6FCA-4670-67464C8BBC1A}"/>
              </a:ext>
            </a:extLst>
          </p:cNvPr>
          <p:cNvSpPr txBox="1"/>
          <p:nvPr/>
        </p:nvSpPr>
        <p:spPr>
          <a:xfrm>
            <a:off x="5715000" y="17907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0.220</a:t>
            </a:r>
          </a:p>
        </p:txBody>
      </p:sp>
      <p:cxnSp>
        <p:nvCxnSpPr>
          <p:cNvPr id="14" name="Connecteur droit 13">
            <a:extLst>
              <a:ext uri="{FF2B5EF4-FFF2-40B4-BE49-F238E27FC236}">
                <a16:creationId xmlns:a16="http://schemas.microsoft.com/office/drawing/2014/main" id="{149A79A2-AEF7-32F9-F55E-2E54A7028F2E}"/>
              </a:ext>
            </a:extLst>
          </p:cNvPr>
          <p:cNvCxnSpPr/>
          <p:nvPr/>
        </p:nvCxnSpPr>
        <p:spPr>
          <a:xfrm>
            <a:off x="3821049" y="1860550"/>
            <a:ext cx="1387221"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EB9B208-39C4-4C6D-D43F-B643E4C1D0DA}"/>
              </a:ext>
            </a:extLst>
          </p:cNvPr>
          <p:cNvCxnSpPr/>
          <p:nvPr/>
        </p:nvCxnSpPr>
        <p:spPr>
          <a:xfrm>
            <a:off x="3821049" y="18034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DEBCF504-AAD7-0E4A-6BB1-3E58032282E8}"/>
              </a:ext>
            </a:extLst>
          </p:cNvPr>
          <p:cNvCxnSpPr/>
          <p:nvPr/>
        </p:nvCxnSpPr>
        <p:spPr>
          <a:xfrm>
            <a:off x="5208270" y="18034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C49F444C-C619-F7A0-7019-F4B124E3A31C}"/>
              </a:ext>
            </a:extLst>
          </p:cNvPr>
          <p:cNvSpPr txBox="1"/>
          <p:nvPr/>
        </p:nvSpPr>
        <p:spPr>
          <a:xfrm>
            <a:off x="482600" y="21336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Gold</a:t>
            </a:r>
          </a:p>
        </p:txBody>
      </p:sp>
      <p:sp>
        <p:nvSpPr>
          <p:cNvPr id="18" name="Rectangle 17">
            <a:extLst>
              <a:ext uri="{FF2B5EF4-FFF2-40B4-BE49-F238E27FC236}">
                <a16:creationId xmlns:a16="http://schemas.microsoft.com/office/drawing/2014/main" id="{96E18488-E103-5A9F-EE81-130D96824D71}"/>
              </a:ext>
            </a:extLst>
          </p:cNvPr>
          <p:cNvSpPr/>
          <p:nvPr/>
        </p:nvSpPr>
        <p:spPr>
          <a:xfrm>
            <a:off x="1422400" y="21082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1712169B-4C26-E082-A453-5FBA6BFA05C8}"/>
              </a:ext>
            </a:extLst>
          </p:cNvPr>
          <p:cNvSpPr/>
          <p:nvPr/>
        </p:nvSpPr>
        <p:spPr>
          <a:xfrm>
            <a:off x="1422400" y="2108200"/>
            <a:ext cx="3077591"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0FD98615-1002-D94C-67A7-FB08A33BA526}"/>
              </a:ext>
            </a:extLst>
          </p:cNvPr>
          <p:cNvSpPr txBox="1"/>
          <p:nvPr/>
        </p:nvSpPr>
        <p:spPr>
          <a:xfrm>
            <a:off x="5715000" y="21336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0.220</a:t>
            </a:r>
          </a:p>
        </p:txBody>
      </p:sp>
      <p:cxnSp>
        <p:nvCxnSpPr>
          <p:cNvPr id="21" name="Connecteur droit 20">
            <a:extLst>
              <a:ext uri="{FF2B5EF4-FFF2-40B4-BE49-F238E27FC236}">
                <a16:creationId xmlns:a16="http://schemas.microsoft.com/office/drawing/2014/main" id="{81DF9A6D-5CE9-8D0B-363C-F2892A008F1E}"/>
              </a:ext>
            </a:extLst>
          </p:cNvPr>
          <p:cNvCxnSpPr/>
          <p:nvPr/>
        </p:nvCxnSpPr>
        <p:spPr>
          <a:xfrm>
            <a:off x="3821049" y="2203450"/>
            <a:ext cx="1387221"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5C6A26B1-69AF-2472-75E0-ECAA676250FE}"/>
              </a:ext>
            </a:extLst>
          </p:cNvPr>
          <p:cNvCxnSpPr/>
          <p:nvPr/>
        </p:nvCxnSpPr>
        <p:spPr>
          <a:xfrm>
            <a:off x="3821049" y="21463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A9EB9E9-90CF-7A5E-8DD9-802A371B3430}"/>
              </a:ext>
            </a:extLst>
          </p:cNvPr>
          <p:cNvCxnSpPr/>
          <p:nvPr/>
        </p:nvCxnSpPr>
        <p:spPr>
          <a:xfrm>
            <a:off x="5208270" y="21463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C7490ECC-ED0E-C185-F575-52BCC57E8349}"/>
              </a:ext>
            </a:extLst>
          </p:cNvPr>
          <p:cNvSpPr txBox="1"/>
          <p:nvPr/>
        </p:nvSpPr>
        <p:spPr>
          <a:xfrm>
            <a:off x="482600" y="2476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M1</a:t>
            </a:r>
          </a:p>
        </p:txBody>
      </p:sp>
      <p:sp>
        <p:nvSpPr>
          <p:cNvPr id="25" name="Rectangle 24">
            <a:extLst>
              <a:ext uri="{FF2B5EF4-FFF2-40B4-BE49-F238E27FC236}">
                <a16:creationId xmlns:a16="http://schemas.microsoft.com/office/drawing/2014/main" id="{B0308FE4-AF74-2967-72DA-BCEAA052A80D}"/>
              </a:ext>
            </a:extLst>
          </p:cNvPr>
          <p:cNvSpPr/>
          <p:nvPr/>
        </p:nvSpPr>
        <p:spPr>
          <a:xfrm>
            <a:off x="1422400" y="24511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56A7BC39-EA56-B853-9A77-06E5921BFFE3}"/>
              </a:ext>
            </a:extLst>
          </p:cNvPr>
          <p:cNvSpPr/>
          <p:nvPr/>
        </p:nvSpPr>
        <p:spPr>
          <a:xfrm>
            <a:off x="1422400" y="2451100"/>
            <a:ext cx="2729738"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CA90302E-EFFD-4CD5-9920-61AF8E1FE70B}"/>
              </a:ext>
            </a:extLst>
          </p:cNvPr>
          <p:cNvSpPr txBox="1"/>
          <p:nvPr/>
        </p:nvSpPr>
        <p:spPr>
          <a:xfrm>
            <a:off x="5715000" y="2476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0.195</a:t>
            </a:r>
          </a:p>
        </p:txBody>
      </p:sp>
      <p:cxnSp>
        <p:nvCxnSpPr>
          <p:cNvPr id="28" name="Connecteur droit 27">
            <a:extLst>
              <a:ext uri="{FF2B5EF4-FFF2-40B4-BE49-F238E27FC236}">
                <a16:creationId xmlns:a16="http://schemas.microsoft.com/office/drawing/2014/main" id="{9D2232A6-9E93-6B75-85DB-402503C016F6}"/>
              </a:ext>
            </a:extLst>
          </p:cNvPr>
          <p:cNvCxnSpPr/>
          <p:nvPr/>
        </p:nvCxnSpPr>
        <p:spPr>
          <a:xfrm>
            <a:off x="3617087" y="2546350"/>
            <a:ext cx="1205611"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3795CF1F-8539-D4A8-AD18-FEDE1D074A7E}"/>
              </a:ext>
            </a:extLst>
          </p:cNvPr>
          <p:cNvCxnSpPr/>
          <p:nvPr/>
        </p:nvCxnSpPr>
        <p:spPr>
          <a:xfrm>
            <a:off x="3617087" y="24892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0F3308F1-3527-B974-4B5F-98317A65F95E}"/>
              </a:ext>
            </a:extLst>
          </p:cNvPr>
          <p:cNvCxnSpPr/>
          <p:nvPr/>
        </p:nvCxnSpPr>
        <p:spPr>
          <a:xfrm>
            <a:off x="4822698" y="24892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6C5CF3CD-492B-9978-FC6B-0DB5321B3117}"/>
              </a:ext>
            </a:extLst>
          </p:cNvPr>
          <p:cNvSpPr txBox="1"/>
          <p:nvPr/>
        </p:nvSpPr>
        <p:spPr>
          <a:xfrm>
            <a:off x="482600" y="28194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M2</a:t>
            </a:r>
          </a:p>
        </p:txBody>
      </p:sp>
      <p:sp>
        <p:nvSpPr>
          <p:cNvPr id="32" name="Rectangle 31">
            <a:extLst>
              <a:ext uri="{FF2B5EF4-FFF2-40B4-BE49-F238E27FC236}">
                <a16:creationId xmlns:a16="http://schemas.microsoft.com/office/drawing/2014/main" id="{8482CE9B-20C6-E235-B14E-2905F7EA7721}"/>
              </a:ext>
            </a:extLst>
          </p:cNvPr>
          <p:cNvSpPr/>
          <p:nvPr/>
        </p:nvSpPr>
        <p:spPr>
          <a:xfrm>
            <a:off x="1422400" y="27940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0AE018EE-F758-5B78-86C6-C52608F348BE}"/>
              </a:ext>
            </a:extLst>
          </p:cNvPr>
          <p:cNvSpPr/>
          <p:nvPr/>
        </p:nvSpPr>
        <p:spPr>
          <a:xfrm>
            <a:off x="1422400" y="2794000"/>
            <a:ext cx="2794000"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C17A626F-9893-92A6-1F90-5CA2513CAB65}"/>
              </a:ext>
            </a:extLst>
          </p:cNvPr>
          <p:cNvSpPr txBox="1"/>
          <p:nvPr/>
        </p:nvSpPr>
        <p:spPr>
          <a:xfrm>
            <a:off x="5715000" y="28194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0.200</a:t>
            </a:r>
          </a:p>
        </p:txBody>
      </p:sp>
      <p:cxnSp>
        <p:nvCxnSpPr>
          <p:cNvPr id="35" name="Connecteur droit 34">
            <a:extLst>
              <a:ext uri="{FF2B5EF4-FFF2-40B4-BE49-F238E27FC236}">
                <a16:creationId xmlns:a16="http://schemas.microsoft.com/office/drawing/2014/main" id="{A7094C6B-0B0C-0909-8071-1A68297DFC03}"/>
              </a:ext>
            </a:extLst>
          </p:cNvPr>
          <p:cNvCxnSpPr/>
          <p:nvPr/>
        </p:nvCxnSpPr>
        <p:spPr>
          <a:xfrm>
            <a:off x="3645027" y="2889250"/>
            <a:ext cx="1230757"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3487BF03-8FAC-101C-EA4B-26B97E8D572C}"/>
              </a:ext>
            </a:extLst>
          </p:cNvPr>
          <p:cNvCxnSpPr/>
          <p:nvPr/>
        </p:nvCxnSpPr>
        <p:spPr>
          <a:xfrm>
            <a:off x="3645027" y="28321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34585781-6BA7-1131-DD73-FF65A04E899B}"/>
              </a:ext>
            </a:extLst>
          </p:cNvPr>
          <p:cNvCxnSpPr/>
          <p:nvPr/>
        </p:nvCxnSpPr>
        <p:spPr>
          <a:xfrm>
            <a:off x="4875784" y="28321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5D91F292-6322-F98A-E952-DBE5DFF99F56}"/>
              </a:ext>
            </a:extLst>
          </p:cNvPr>
          <p:cNvSpPr txBox="1"/>
          <p:nvPr/>
        </p:nvSpPr>
        <p:spPr>
          <a:xfrm>
            <a:off x="482600" y="31623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M3</a:t>
            </a:r>
          </a:p>
        </p:txBody>
      </p:sp>
      <p:sp>
        <p:nvSpPr>
          <p:cNvPr id="39" name="Rectangle 38">
            <a:extLst>
              <a:ext uri="{FF2B5EF4-FFF2-40B4-BE49-F238E27FC236}">
                <a16:creationId xmlns:a16="http://schemas.microsoft.com/office/drawing/2014/main" id="{6B48A6FC-C035-BA74-529B-77DD71D01057}"/>
              </a:ext>
            </a:extLst>
          </p:cNvPr>
          <p:cNvSpPr/>
          <p:nvPr/>
        </p:nvSpPr>
        <p:spPr>
          <a:xfrm>
            <a:off x="1422400" y="31369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a:extLst>
              <a:ext uri="{FF2B5EF4-FFF2-40B4-BE49-F238E27FC236}">
                <a16:creationId xmlns:a16="http://schemas.microsoft.com/office/drawing/2014/main" id="{7A1E6D2B-7CC5-CF19-4173-F4F9CD3B3BFD}"/>
              </a:ext>
            </a:extLst>
          </p:cNvPr>
          <p:cNvSpPr/>
          <p:nvPr/>
        </p:nvSpPr>
        <p:spPr>
          <a:xfrm>
            <a:off x="1422400" y="3136900"/>
            <a:ext cx="2930906"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ZoneTexte 40">
            <a:extLst>
              <a:ext uri="{FF2B5EF4-FFF2-40B4-BE49-F238E27FC236}">
                <a16:creationId xmlns:a16="http://schemas.microsoft.com/office/drawing/2014/main" id="{18A7867E-CEED-8961-E340-643E8B3C695A}"/>
              </a:ext>
            </a:extLst>
          </p:cNvPr>
          <p:cNvSpPr txBox="1"/>
          <p:nvPr/>
        </p:nvSpPr>
        <p:spPr>
          <a:xfrm>
            <a:off x="5715000" y="31623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0.210</a:t>
            </a:r>
          </a:p>
        </p:txBody>
      </p:sp>
      <p:cxnSp>
        <p:nvCxnSpPr>
          <p:cNvPr id="42" name="Connecteur droit 41">
            <a:extLst>
              <a:ext uri="{FF2B5EF4-FFF2-40B4-BE49-F238E27FC236}">
                <a16:creationId xmlns:a16="http://schemas.microsoft.com/office/drawing/2014/main" id="{04327366-0D62-8536-AFE7-5FACA46576F9}"/>
              </a:ext>
            </a:extLst>
          </p:cNvPr>
          <p:cNvCxnSpPr/>
          <p:nvPr/>
        </p:nvCxnSpPr>
        <p:spPr>
          <a:xfrm>
            <a:off x="3740023" y="3232150"/>
            <a:ext cx="1289431"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9245F2B6-DE01-5F2D-A725-77563F7EB810}"/>
              </a:ext>
            </a:extLst>
          </p:cNvPr>
          <p:cNvCxnSpPr/>
          <p:nvPr/>
        </p:nvCxnSpPr>
        <p:spPr>
          <a:xfrm>
            <a:off x="3740023" y="31750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1C93F975-E3C1-D7DA-8C49-D0D6F12B609E}"/>
              </a:ext>
            </a:extLst>
          </p:cNvPr>
          <p:cNvCxnSpPr/>
          <p:nvPr/>
        </p:nvCxnSpPr>
        <p:spPr>
          <a:xfrm>
            <a:off x="5029454" y="31750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7C3799B3-53A2-0694-1D20-36FE83739647}"/>
              </a:ext>
            </a:extLst>
          </p:cNvPr>
          <p:cNvSpPr txBox="1"/>
          <p:nvPr/>
        </p:nvSpPr>
        <p:spPr>
          <a:xfrm>
            <a:off x="482600" y="3505200"/>
            <a:ext cx="863600" cy="215444"/>
          </a:xfrm>
          <a:prstGeom prst="rect">
            <a:avLst/>
          </a:prstGeom>
          <a:noFill/>
        </p:spPr>
        <p:txBody>
          <a:bodyPr vert="horz" wrap="square" lIns="0" tIns="0" rIns="0" bIns="0" rtlCol="0">
            <a:noAutofit/>
          </a:bodyPr>
          <a:lstStyle/>
          <a:p>
            <a:pPr algn="r"/>
            <a:r>
              <a:rPr lang="fr-FR" sz="900" b="1">
                <a:solidFill>
                  <a:srgbClr val="976F1D"/>
                </a:solidFill>
                <a:latin typeface="Arial" panose="020B0604020202020204" pitchFamily="34" charset="0"/>
              </a:rPr>
              <a:t>M4</a:t>
            </a:r>
          </a:p>
        </p:txBody>
      </p:sp>
      <p:sp>
        <p:nvSpPr>
          <p:cNvPr id="46" name="Rectangle 45">
            <a:extLst>
              <a:ext uri="{FF2B5EF4-FFF2-40B4-BE49-F238E27FC236}">
                <a16:creationId xmlns:a16="http://schemas.microsoft.com/office/drawing/2014/main" id="{B801C18A-1D64-484E-087C-C4F0509F3B16}"/>
              </a:ext>
            </a:extLst>
          </p:cNvPr>
          <p:cNvSpPr/>
          <p:nvPr/>
        </p:nvSpPr>
        <p:spPr>
          <a:xfrm>
            <a:off x="1422400" y="34798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A7EDBD74-48B7-6348-36EE-E1D00629B2FC}"/>
              </a:ext>
            </a:extLst>
          </p:cNvPr>
          <p:cNvSpPr/>
          <p:nvPr/>
        </p:nvSpPr>
        <p:spPr>
          <a:xfrm>
            <a:off x="1422400" y="3479800"/>
            <a:ext cx="2675255" cy="1905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a:extLst>
              <a:ext uri="{FF2B5EF4-FFF2-40B4-BE49-F238E27FC236}">
                <a16:creationId xmlns:a16="http://schemas.microsoft.com/office/drawing/2014/main" id="{3672975B-8DEC-26CD-2011-70F795BAA9E7}"/>
              </a:ext>
            </a:extLst>
          </p:cNvPr>
          <p:cNvSpPr txBox="1"/>
          <p:nvPr/>
        </p:nvSpPr>
        <p:spPr>
          <a:xfrm>
            <a:off x="5715000" y="35052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0.192</a:t>
            </a:r>
          </a:p>
        </p:txBody>
      </p:sp>
      <p:cxnSp>
        <p:nvCxnSpPr>
          <p:cNvPr id="49" name="Connecteur droit 48">
            <a:extLst>
              <a:ext uri="{FF2B5EF4-FFF2-40B4-BE49-F238E27FC236}">
                <a16:creationId xmlns:a16="http://schemas.microsoft.com/office/drawing/2014/main" id="{5343FBAC-F252-B040-357D-FD9639A94FDD}"/>
              </a:ext>
            </a:extLst>
          </p:cNvPr>
          <p:cNvCxnSpPr/>
          <p:nvPr/>
        </p:nvCxnSpPr>
        <p:spPr>
          <a:xfrm>
            <a:off x="3536061" y="3575050"/>
            <a:ext cx="1193038"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50" name="Connecteur droit 49">
            <a:extLst>
              <a:ext uri="{FF2B5EF4-FFF2-40B4-BE49-F238E27FC236}">
                <a16:creationId xmlns:a16="http://schemas.microsoft.com/office/drawing/2014/main" id="{2CA499CD-E2A2-309D-1D18-70A9F45134E4}"/>
              </a:ext>
            </a:extLst>
          </p:cNvPr>
          <p:cNvCxnSpPr/>
          <p:nvPr/>
        </p:nvCxnSpPr>
        <p:spPr>
          <a:xfrm>
            <a:off x="3536061" y="35179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246F696C-E402-5E91-11F9-D2558C22F1EA}"/>
              </a:ext>
            </a:extLst>
          </p:cNvPr>
          <p:cNvCxnSpPr/>
          <p:nvPr/>
        </p:nvCxnSpPr>
        <p:spPr>
          <a:xfrm>
            <a:off x="4729099" y="35179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DC135755-82EC-975F-978F-F0E70AFF2F84}"/>
              </a:ext>
            </a:extLst>
          </p:cNvPr>
          <p:cNvSpPr txBox="1"/>
          <p:nvPr/>
        </p:nvSpPr>
        <p:spPr>
          <a:xfrm>
            <a:off x="482600" y="38481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M6</a:t>
            </a:r>
          </a:p>
        </p:txBody>
      </p:sp>
      <p:sp>
        <p:nvSpPr>
          <p:cNvPr id="53" name="Rectangle 52">
            <a:extLst>
              <a:ext uri="{FF2B5EF4-FFF2-40B4-BE49-F238E27FC236}">
                <a16:creationId xmlns:a16="http://schemas.microsoft.com/office/drawing/2014/main" id="{218B8A3F-BDA6-09B3-8013-43B721525773}"/>
              </a:ext>
            </a:extLst>
          </p:cNvPr>
          <p:cNvSpPr/>
          <p:nvPr/>
        </p:nvSpPr>
        <p:spPr>
          <a:xfrm>
            <a:off x="1422400" y="3822700"/>
            <a:ext cx="4191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2EF31693-7BA9-68A8-837F-87105482D407}"/>
              </a:ext>
            </a:extLst>
          </p:cNvPr>
          <p:cNvSpPr/>
          <p:nvPr/>
        </p:nvSpPr>
        <p:spPr>
          <a:xfrm>
            <a:off x="1422400" y="3822700"/>
            <a:ext cx="2876423"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2ABB7AC1-A455-BFF0-0A02-69504B0FF1FE}"/>
              </a:ext>
            </a:extLst>
          </p:cNvPr>
          <p:cNvSpPr txBox="1"/>
          <p:nvPr/>
        </p:nvSpPr>
        <p:spPr>
          <a:xfrm>
            <a:off x="5715000" y="38481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0.206</a:t>
            </a:r>
          </a:p>
        </p:txBody>
      </p:sp>
      <p:cxnSp>
        <p:nvCxnSpPr>
          <p:cNvPr id="56" name="Connecteur droit 55">
            <a:extLst>
              <a:ext uri="{FF2B5EF4-FFF2-40B4-BE49-F238E27FC236}">
                <a16:creationId xmlns:a16="http://schemas.microsoft.com/office/drawing/2014/main" id="{3C091E9F-3899-5D2F-A936-A13805365824}"/>
              </a:ext>
            </a:extLst>
          </p:cNvPr>
          <p:cNvCxnSpPr/>
          <p:nvPr/>
        </p:nvCxnSpPr>
        <p:spPr>
          <a:xfrm>
            <a:off x="3661791" y="3917950"/>
            <a:ext cx="1345311" cy="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6416245A-C9ED-27DC-EA58-6125A8A198A9}"/>
              </a:ext>
            </a:extLst>
          </p:cNvPr>
          <p:cNvCxnSpPr/>
          <p:nvPr/>
        </p:nvCxnSpPr>
        <p:spPr>
          <a:xfrm>
            <a:off x="3661791" y="38608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72A42FFA-14A0-AD77-C236-D4649F854ACD}"/>
              </a:ext>
            </a:extLst>
          </p:cNvPr>
          <p:cNvCxnSpPr/>
          <p:nvPr/>
        </p:nvCxnSpPr>
        <p:spPr>
          <a:xfrm>
            <a:off x="5007102" y="3860800"/>
            <a:ext cx="0" cy="114300"/>
          </a:xfrm>
          <a:prstGeom prst="line">
            <a:avLst/>
          </a:prstGeom>
          <a:ln w="11430">
            <a:solidFill>
              <a:srgbClr val="1C1F25"/>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5086F567-D039-D874-5B10-2D8A9C4B73B7}"/>
              </a:ext>
            </a:extLst>
          </p:cNvPr>
          <p:cNvCxnSpPr/>
          <p:nvPr/>
        </p:nvCxnSpPr>
        <p:spPr>
          <a:xfrm>
            <a:off x="4499991" y="1625600"/>
            <a:ext cx="0" cy="2425700"/>
          </a:xfrm>
          <a:prstGeom prst="line">
            <a:avLst/>
          </a:prstGeom>
          <a:ln w="15240">
            <a:solidFill>
              <a:srgbClr val="606774"/>
            </a:solidFill>
            <a:prstDash val="dash"/>
          </a:ln>
        </p:spPr>
        <p:style>
          <a:lnRef idx="1">
            <a:schemeClr val="accent1"/>
          </a:lnRef>
          <a:fillRef idx="0">
            <a:schemeClr val="accent1"/>
          </a:fillRef>
          <a:effectRef idx="0">
            <a:schemeClr val="accent1"/>
          </a:effectRef>
          <a:fontRef idx="minor">
            <a:schemeClr val="tx1"/>
          </a:fontRef>
        </p:style>
      </p:cxnSp>
      <p:sp>
        <p:nvSpPr>
          <p:cNvPr id="60" name="ZoneTexte 59">
            <a:extLst>
              <a:ext uri="{FF2B5EF4-FFF2-40B4-BE49-F238E27FC236}">
                <a16:creationId xmlns:a16="http://schemas.microsoft.com/office/drawing/2014/main" id="{F81C9A3E-3DE0-7BF1-90D7-369BE3470985}"/>
              </a:ext>
            </a:extLst>
          </p:cNvPr>
          <p:cNvSpPr txBox="1"/>
          <p:nvPr/>
        </p:nvSpPr>
        <p:spPr>
          <a:xfrm>
            <a:off x="3966591" y="1536700"/>
            <a:ext cx="1066800" cy="215444"/>
          </a:xfrm>
          <a:prstGeom prst="rect">
            <a:avLst/>
          </a:prstGeom>
          <a:noFill/>
        </p:spPr>
        <p:txBody>
          <a:bodyPr vert="horz" wrap="square" lIns="0" tIns="0" rIns="0" bIns="0" rtlCol="0">
            <a:noAutofit/>
          </a:bodyPr>
          <a:lstStyle/>
          <a:p>
            <a:pPr algn="ctr"/>
            <a:r>
              <a:rPr lang="fr-FR" sz="680">
                <a:solidFill>
                  <a:srgbClr val="606774"/>
                </a:solidFill>
                <a:latin typeface="Arial" panose="020B0604020202020204" pitchFamily="34" charset="0"/>
              </a:rPr>
              <a:t>identity baseline</a:t>
            </a:r>
          </a:p>
        </p:txBody>
      </p:sp>
      <p:sp>
        <p:nvSpPr>
          <p:cNvPr id="61" name="Rectangle 60">
            <a:extLst>
              <a:ext uri="{FF2B5EF4-FFF2-40B4-BE49-F238E27FC236}">
                <a16:creationId xmlns:a16="http://schemas.microsoft.com/office/drawing/2014/main" id="{C54C996A-18CF-9E5D-9F4B-28961A7CE73F}"/>
              </a:ext>
            </a:extLst>
          </p:cNvPr>
          <p:cNvSpPr/>
          <p:nvPr/>
        </p:nvSpPr>
        <p:spPr>
          <a:xfrm>
            <a:off x="6350000" y="1638300"/>
            <a:ext cx="2209800" cy="7747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42DB3A1D-D28B-A544-BB54-AEB3083A2F9D}"/>
              </a:ext>
            </a:extLst>
          </p:cNvPr>
          <p:cNvSpPr/>
          <p:nvPr/>
        </p:nvSpPr>
        <p:spPr>
          <a:xfrm>
            <a:off x="6350000" y="1638300"/>
            <a:ext cx="22098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ZoneTexte 62">
            <a:extLst>
              <a:ext uri="{FF2B5EF4-FFF2-40B4-BE49-F238E27FC236}">
                <a16:creationId xmlns:a16="http://schemas.microsoft.com/office/drawing/2014/main" id="{3B0E3034-8B54-E8F5-0044-FF3CDFC6BA2A}"/>
              </a:ext>
            </a:extLst>
          </p:cNvPr>
          <p:cNvSpPr txBox="1"/>
          <p:nvPr/>
        </p:nvSpPr>
        <p:spPr>
          <a:xfrm>
            <a:off x="6489700" y="1765300"/>
            <a:ext cx="1930400" cy="215444"/>
          </a:xfrm>
          <a:prstGeom prst="rect">
            <a:avLst/>
          </a:prstGeom>
          <a:noFill/>
        </p:spPr>
        <p:txBody>
          <a:bodyPr vert="horz" wrap="square" lIns="0" tIns="0" rIns="0" bIns="0" rtlCol="0">
            <a:noAutofit/>
          </a:bodyPr>
          <a:lstStyle/>
          <a:p>
            <a:r>
              <a:rPr lang="fr-FR" sz="1050" b="1">
                <a:solidFill>
                  <a:srgbClr val="976F1D"/>
                </a:solidFill>
                <a:latin typeface="Arial" panose="020B0604020202020204" pitchFamily="34" charset="0"/>
              </a:rPr>
              <a:t>M4 OOLEL</a:t>
            </a:r>
          </a:p>
        </p:txBody>
      </p:sp>
      <p:sp>
        <p:nvSpPr>
          <p:cNvPr id="64" name="ZoneTexte 63">
            <a:extLst>
              <a:ext uri="{FF2B5EF4-FFF2-40B4-BE49-F238E27FC236}">
                <a16:creationId xmlns:a16="http://schemas.microsoft.com/office/drawing/2014/main" id="{B7B4860E-5B48-9115-C49C-54A90AC1E1EB}"/>
              </a:ext>
            </a:extLst>
          </p:cNvPr>
          <p:cNvSpPr txBox="1"/>
          <p:nvPr/>
        </p:nvSpPr>
        <p:spPr>
          <a:xfrm>
            <a:off x="6489700" y="2044700"/>
            <a:ext cx="1930400" cy="215444"/>
          </a:xfrm>
          <a:prstGeom prst="rect">
            <a:avLst/>
          </a:prstGeom>
          <a:noFill/>
        </p:spPr>
        <p:txBody>
          <a:bodyPr vert="horz" wrap="square" lIns="0" tIns="0" rIns="0" bIns="0" rtlCol="0">
            <a:noAutofit/>
          </a:bodyPr>
          <a:lstStyle/>
          <a:p>
            <a:r>
              <a:rPr lang="en-US" sz="880">
                <a:solidFill>
                  <a:srgbClr val="1C1F25"/>
                </a:solidFill>
                <a:latin typeface="Arial" panose="020B0604020202020204" pitchFamily="34" charset="0"/>
              </a:rPr>
              <a:t>CER 0.191
13.1% below identity</a:t>
            </a:r>
            <a:endParaRPr lang="fr-FR" sz="880">
              <a:solidFill>
                <a:srgbClr val="1C1F25"/>
              </a:solidFill>
              <a:latin typeface="Arial" panose="020B0604020202020204" pitchFamily="34" charset="0"/>
            </a:endParaRPr>
          </a:p>
        </p:txBody>
      </p:sp>
      <p:sp>
        <p:nvSpPr>
          <p:cNvPr id="65" name="Rectangle 64">
            <a:extLst>
              <a:ext uri="{FF2B5EF4-FFF2-40B4-BE49-F238E27FC236}">
                <a16:creationId xmlns:a16="http://schemas.microsoft.com/office/drawing/2014/main" id="{6DE004C6-763C-B827-8D0D-ED067AF6396A}"/>
              </a:ext>
            </a:extLst>
          </p:cNvPr>
          <p:cNvSpPr/>
          <p:nvPr/>
        </p:nvSpPr>
        <p:spPr>
          <a:xfrm>
            <a:off x="6350000" y="2628900"/>
            <a:ext cx="2209800" cy="774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2A05FC4A-56D5-5F7C-A610-B0A0435D6D44}"/>
              </a:ext>
            </a:extLst>
          </p:cNvPr>
          <p:cNvSpPr/>
          <p:nvPr/>
        </p:nvSpPr>
        <p:spPr>
          <a:xfrm>
            <a:off x="6350000" y="2628900"/>
            <a:ext cx="2209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ZoneTexte 66">
            <a:extLst>
              <a:ext uri="{FF2B5EF4-FFF2-40B4-BE49-F238E27FC236}">
                <a16:creationId xmlns:a16="http://schemas.microsoft.com/office/drawing/2014/main" id="{8FEBA595-3F79-8200-8405-FE3212B751D1}"/>
              </a:ext>
            </a:extLst>
          </p:cNvPr>
          <p:cNvSpPr txBox="1"/>
          <p:nvPr/>
        </p:nvSpPr>
        <p:spPr>
          <a:xfrm>
            <a:off x="6489700" y="2755900"/>
            <a:ext cx="1930400" cy="215444"/>
          </a:xfrm>
          <a:prstGeom prst="rect">
            <a:avLst/>
          </a:prstGeom>
          <a:noFill/>
        </p:spPr>
        <p:txBody>
          <a:bodyPr vert="horz" wrap="square" lIns="0" tIns="0" rIns="0" bIns="0" rtlCol="0">
            <a:noAutofit/>
          </a:bodyPr>
          <a:lstStyle/>
          <a:p>
            <a:r>
              <a:rPr lang="fr-FR" sz="1050" b="1">
                <a:solidFill>
                  <a:srgbClr val="0E2F46"/>
                </a:solidFill>
                <a:latin typeface="Arial" panose="020B0604020202020204" pitchFamily="34" charset="0"/>
              </a:rPr>
              <a:t>M1 RULES</a:t>
            </a:r>
          </a:p>
        </p:txBody>
      </p:sp>
      <p:sp>
        <p:nvSpPr>
          <p:cNvPr id="68" name="ZoneTexte 67">
            <a:extLst>
              <a:ext uri="{FF2B5EF4-FFF2-40B4-BE49-F238E27FC236}">
                <a16:creationId xmlns:a16="http://schemas.microsoft.com/office/drawing/2014/main" id="{C7F5AEA0-6CE1-3FE6-E5E1-5D8F39D7914D}"/>
              </a:ext>
            </a:extLst>
          </p:cNvPr>
          <p:cNvSpPr txBox="1"/>
          <p:nvPr/>
        </p:nvSpPr>
        <p:spPr>
          <a:xfrm>
            <a:off x="6489700" y="3035300"/>
            <a:ext cx="1930400" cy="215444"/>
          </a:xfrm>
          <a:prstGeom prst="rect">
            <a:avLst/>
          </a:prstGeom>
          <a:noFill/>
        </p:spPr>
        <p:txBody>
          <a:bodyPr vert="horz" wrap="square" lIns="0" tIns="0" rIns="0" bIns="0" rtlCol="0">
            <a:noAutofit/>
          </a:bodyPr>
          <a:lstStyle/>
          <a:p>
            <a:r>
              <a:rPr lang="en-US" sz="880">
                <a:solidFill>
                  <a:srgbClr val="1C1F25"/>
                </a:solidFill>
                <a:latin typeface="Arial" panose="020B0604020202020204" pitchFamily="34" charset="0"/>
              </a:rPr>
              <a:t>CER 0.195
11.3% below identity</a:t>
            </a:r>
            <a:endParaRPr lang="fr-FR" sz="880">
              <a:solidFill>
                <a:srgbClr val="1C1F25"/>
              </a:solidFill>
              <a:latin typeface="Arial" panose="020B0604020202020204" pitchFamily="34" charset="0"/>
            </a:endParaRPr>
          </a:p>
        </p:txBody>
      </p:sp>
      <p:sp>
        <p:nvSpPr>
          <p:cNvPr id="6" name="Rectangle 5">
            <a:extLst>
              <a:ext uri="{FF2B5EF4-FFF2-40B4-BE49-F238E27FC236}">
                <a16:creationId xmlns:a16="http://schemas.microsoft.com/office/drawing/2014/main" id="{DA044416-90AE-255E-4553-0517A6443B79}"/>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53D4C3F-CBB9-34F3-2DDB-F4AA65D96003}"/>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ZoneTexte 68">
            <a:extLst>
              <a:ext uri="{FF2B5EF4-FFF2-40B4-BE49-F238E27FC236}">
                <a16:creationId xmlns:a16="http://schemas.microsoft.com/office/drawing/2014/main" id="{2A3FD8FC-FCA5-39A0-D550-92B57364A60B}"/>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Results</a:t>
            </a:r>
          </a:p>
        </p:txBody>
      </p:sp>
      <p:sp>
        <p:nvSpPr>
          <p:cNvPr id="71" name="ZoneTexte 70">
            <a:extLst>
              <a:ext uri="{FF2B5EF4-FFF2-40B4-BE49-F238E27FC236}">
                <a16:creationId xmlns:a16="http://schemas.microsoft.com/office/drawing/2014/main" id="{4483F7C6-1E7E-9BA4-B8A5-2442926E200F}"/>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72" name="ZoneTexte 71">
            <a:extLst>
              <a:ext uri="{FF2B5EF4-FFF2-40B4-BE49-F238E27FC236}">
                <a16:creationId xmlns:a16="http://schemas.microsoft.com/office/drawing/2014/main" id="{A8C08815-63F2-9735-DAC2-FCE082A4C89F}"/>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Results</a:t>
            </a:r>
          </a:p>
        </p:txBody>
      </p:sp>
      <p:sp>
        <p:nvSpPr>
          <p:cNvPr id="73" name="ZoneTexte 72">
            <a:extLst>
              <a:ext uri="{FF2B5EF4-FFF2-40B4-BE49-F238E27FC236}">
                <a16:creationId xmlns:a16="http://schemas.microsoft.com/office/drawing/2014/main" id="{72829F29-A1BA-7488-4CF3-A390DDEDEE4F}"/>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14 / 36</a:t>
            </a:r>
          </a:p>
        </p:txBody>
      </p:sp>
      <p:pic>
        <p:nvPicPr>
          <p:cNvPr id="75" name="Image 74">
            <a:extLst>
              <a:ext uri="{FF2B5EF4-FFF2-40B4-BE49-F238E27FC236}">
                <a16:creationId xmlns:a16="http://schemas.microsoft.com/office/drawing/2014/main" id="{3BA31343-C333-A413-0B85-A872032C4253}"/>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4070418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0E76B9-B24A-E06F-1752-550800D0377A}"/>
              </a:ext>
            </a:extLst>
          </p:cNvPr>
          <p:cNvSpPr/>
          <p:nvPr/>
        </p:nvSpPr>
        <p:spPr>
          <a:xfrm>
            <a:off x="0" y="12472"/>
            <a:ext cx="9144000" cy="13081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6" name="Groupe 75">
            <a:extLst>
              <a:ext uri="{FF2B5EF4-FFF2-40B4-BE49-F238E27FC236}">
                <a16:creationId xmlns:a16="http://schemas.microsoft.com/office/drawing/2014/main" id="{F2F790BF-9720-9EBB-C04F-7A62217E07E2}"/>
              </a:ext>
            </a:extLst>
          </p:cNvPr>
          <p:cNvGrpSpPr/>
          <p:nvPr/>
        </p:nvGrpSpPr>
        <p:grpSpPr>
          <a:xfrm>
            <a:off x="546100" y="317500"/>
            <a:ext cx="1308100" cy="292100"/>
            <a:chOff x="546100" y="317500"/>
            <a:chExt cx="1308100" cy="292100"/>
          </a:xfrm>
        </p:grpSpPr>
        <p:sp>
          <p:nvSpPr>
            <p:cNvPr id="2" name="Rectangle : coins arrondis 1">
              <a:extLst>
                <a:ext uri="{FF2B5EF4-FFF2-40B4-BE49-F238E27FC236}">
                  <a16:creationId xmlns:a16="http://schemas.microsoft.com/office/drawing/2014/main" id="{2C765315-339B-91DB-F947-254E876EB5B8}"/>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72EF400-4750-ED7B-7F06-A8A2692A9D6D}"/>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Verdana" panose="020B0604030504040204" pitchFamily="34" charset="0"/>
                </a:rPr>
                <a:t>RESULTS</a:t>
              </a:r>
            </a:p>
          </p:txBody>
        </p:sp>
        <p:sp>
          <p:nvSpPr>
            <p:cNvPr id="10" name="Rectangle : coins arrondis 9">
              <a:extLst>
                <a:ext uri="{FF2B5EF4-FFF2-40B4-BE49-F238E27FC236}">
                  <a16:creationId xmlns:a16="http://schemas.microsoft.com/office/drawing/2014/main" id="{EED54D91-5D1E-165F-ECB9-98683C6F7B63}"/>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BD2ED96-AEB2-AEB3-BB1C-5A2A7FB37844}"/>
                </a:ext>
              </a:extLst>
            </p:cNvPr>
            <p:cNvSpPr txBox="1"/>
            <p:nvPr/>
          </p:nvSpPr>
          <p:spPr>
            <a:xfrm>
              <a:off x="546100" y="374904"/>
              <a:ext cx="1308100" cy="215444"/>
            </a:xfrm>
            <a:prstGeom prst="rect">
              <a:avLst/>
            </a:prstGeom>
            <a:noFill/>
          </p:spPr>
          <p:txBody>
            <a:bodyPr vert="horz" wrap="square" lIns="0" tIns="0" rIns="0" bIns="0" rtlCol="0">
              <a:noAutofit/>
            </a:bodyPr>
            <a:lstStyle/>
            <a:p>
              <a:pPr algn="ctr"/>
              <a:r>
                <a:rPr lang="fr-FR" sz="760" b="1">
                  <a:solidFill>
                    <a:srgbClr val="FFFFFF"/>
                  </a:solidFill>
                  <a:latin typeface="Verdana" panose="020B0604030504040204" pitchFamily="34" charset="0"/>
                </a:rPr>
                <a:t>RESULTS</a:t>
              </a:r>
            </a:p>
          </p:txBody>
        </p:sp>
      </p:grpSp>
      <p:sp>
        <p:nvSpPr>
          <p:cNvPr id="12" name="ZoneTexte 11">
            <a:extLst>
              <a:ext uri="{FF2B5EF4-FFF2-40B4-BE49-F238E27FC236}">
                <a16:creationId xmlns:a16="http://schemas.microsoft.com/office/drawing/2014/main" id="{4DC302B5-5712-0FA5-9DB6-0E4F66D7F5D3}"/>
              </a:ext>
            </a:extLst>
          </p:cNvPr>
          <p:cNvSpPr txBox="1"/>
          <p:nvPr/>
        </p:nvSpPr>
        <p:spPr>
          <a:xfrm>
            <a:off x="546100" y="787400"/>
            <a:ext cx="8064500" cy="215444"/>
          </a:xfrm>
          <a:prstGeom prst="rect">
            <a:avLst/>
          </a:prstGeom>
          <a:noFill/>
        </p:spPr>
        <p:txBody>
          <a:bodyPr vert="horz" wrap="square" lIns="0" tIns="0" rIns="0" bIns="0" rtlCol="0">
            <a:noAutofit/>
          </a:bodyPr>
          <a:lstStyle/>
          <a:p>
            <a:r>
              <a:rPr lang="en-US" sz="1600" b="1">
                <a:solidFill>
                  <a:srgbClr val="58658B"/>
                </a:solidFill>
                <a:latin typeface="Arial" panose="020B0604020202020204" pitchFamily="34" charset="0"/>
              </a:rPr>
              <a:t>Character gains do not become reliable word recovery</a:t>
            </a:r>
            <a:endParaRPr lang="fr-FR" sz="1600" b="1">
              <a:solidFill>
                <a:srgbClr val="58658B"/>
              </a:solidFill>
              <a:latin typeface="Arial" panose="020B0604020202020204" pitchFamily="34" charset="0"/>
            </a:endParaRPr>
          </a:p>
        </p:txBody>
      </p:sp>
      <p:sp>
        <p:nvSpPr>
          <p:cNvPr id="13" name="ZoneTexte 12">
            <a:extLst>
              <a:ext uri="{FF2B5EF4-FFF2-40B4-BE49-F238E27FC236}">
                <a16:creationId xmlns:a16="http://schemas.microsoft.com/office/drawing/2014/main" id="{CFE47146-3139-B574-9D25-E3C046E22B28}"/>
              </a:ext>
            </a:extLst>
          </p:cNvPr>
          <p:cNvSpPr txBox="1"/>
          <p:nvPr/>
        </p:nvSpPr>
        <p:spPr>
          <a:xfrm>
            <a:off x="787400" y="1371600"/>
            <a:ext cx="3175000" cy="215444"/>
          </a:xfrm>
          <a:prstGeom prst="rect">
            <a:avLst/>
          </a:prstGeom>
          <a:noFill/>
        </p:spPr>
        <p:txBody>
          <a:bodyPr vert="horz" wrap="square" lIns="0" tIns="0" rIns="0" bIns="0" rtlCol="0">
            <a:noAutofit/>
          </a:bodyPr>
          <a:lstStyle/>
          <a:p>
            <a:pPr algn="ctr"/>
            <a:r>
              <a:rPr lang="fr-FR" sz="1300" b="1" dirty="0">
                <a:solidFill>
                  <a:srgbClr val="0E2F46"/>
                </a:solidFill>
                <a:latin typeface="Arial" panose="020B0604020202020204" pitchFamily="34" charset="0"/>
              </a:rPr>
              <a:t>WER ↓</a:t>
            </a:r>
          </a:p>
        </p:txBody>
      </p:sp>
      <p:sp>
        <p:nvSpPr>
          <p:cNvPr id="14" name="ZoneTexte 13">
            <a:extLst>
              <a:ext uri="{FF2B5EF4-FFF2-40B4-BE49-F238E27FC236}">
                <a16:creationId xmlns:a16="http://schemas.microsoft.com/office/drawing/2014/main" id="{80362A70-8F5F-00AD-21A0-29D2F48E7B73}"/>
              </a:ext>
            </a:extLst>
          </p:cNvPr>
          <p:cNvSpPr txBox="1"/>
          <p:nvPr/>
        </p:nvSpPr>
        <p:spPr>
          <a:xfrm>
            <a:off x="5168900" y="1371600"/>
            <a:ext cx="3175000" cy="215444"/>
          </a:xfrm>
          <a:prstGeom prst="rect">
            <a:avLst/>
          </a:prstGeom>
          <a:noFill/>
        </p:spPr>
        <p:txBody>
          <a:bodyPr vert="horz" wrap="square" lIns="0" tIns="0" rIns="0" bIns="0" rtlCol="0">
            <a:noAutofit/>
          </a:bodyPr>
          <a:lstStyle/>
          <a:p>
            <a:pPr algn="ctr"/>
            <a:r>
              <a:rPr lang="fr-FR" sz="1300" b="1">
                <a:solidFill>
                  <a:srgbClr val="976F1D"/>
                </a:solidFill>
                <a:latin typeface="Arial" panose="020B0604020202020204" pitchFamily="34" charset="0"/>
              </a:rPr>
              <a:t>chrF ↑</a:t>
            </a:r>
          </a:p>
        </p:txBody>
      </p:sp>
      <p:sp>
        <p:nvSpPr>
          <p:cNvPr id="15" name="ZoneTexte 14">
            <a:extLst>
              <a:ext uri="{FF2B5EF4-FFF2-40B4-BE49-F238E27FC236}">
                <a16:creationId xmlns:a16="http://schemas.microsoft.com/office/drawing/2014/main" id="{FF750859-3169-262D-AE1A-9FAEE9F308B1}"/>
              </a:ext>
            </a:extLst>
          </p:cNvPr>
          <p:cNvSpPr txBox="1"/>
          <p:nvPr/>
        </p:nvSpPr>
        <p:spPr>
          <a:xfrm>
            <a:off x="114300" y="18415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Identity</a:t>
            </a:r>
          </a:p>
        </p:txBody>
      </p:sp>
      <p:sp>
        <p:nvSpPr>
          <p:cNvPr id="16" name="Rectangle 15">
            <a:extLst>
              <a:ext uri="{FF2B5EF4-FFF2-40B4-BE49-F238E27FC236}">
                <a16:creationId xmlns:a16="http://schemas.microsoft.com/office/drawing/2014/main" id="{C794B24D-1A51-CA0D-91AA-C8B58272843E}"/>
              </a:ext>
            </a:extLst>
          </p:cNvPr>
          <p:cNvSpPr/>
          <p:nvPr/>
        </p:nvSpPr>
        <p:spPr>
          <a:xfrm>
            <a:off x="1054100" y="1816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1C472EC7-EE95-40D1-77C3-9B3DE4C11967}"/>
              </a:ext>
            </a:extLst>
          </p:cNvPr>
          <p:cNvSpPr/>
          <p:nvPr/>
        </p:nvSpPr>
        <p:spPr>
          <a:xfrm>
            <a:off x="1054100" y="1816100"/>
            <a:ext cx="2083955"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0101F45D-86B1-A1B4-C0F0-F6F36AD76914}"/>
              </a:ext>
            </a:extLst>
          </p:cNvPr>
          <p:cNvSpPr txBox="1"/>
          <p:nvPr/>
        </p:nvSpPr>
        <p:spPr>
          <a:xfrm>
            <a:off x="3568700" y="1841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0.570</a:t>
            </a:r>
          </a:p>
        </p:txBody>
      </p:sp>
      <p:sp>
        <p:nvSpPr>
          <p:cNvPr id="19" name="ZoneTexte 18">
            <a:extLst>
              <a:ext uri="{FF2B5EF4-FFF2-40B4-BE49-F238E27FC236}">
                <a16:creationId xmlns:a16="http://schemas.microsoft.com/office/drawing/2014/main" id="{11BDBF8E-2EA4-1286-6F52-B0C6EDFF50A6}"/>
              </a:ext>
            </a:extLst>
          </p:cNvPr>
          <p:cNvSpPr txBox="1"/>
          <p:nvPr/>
        </p:nvSpPr>
        <p:spPr>
          <a:xfrm>
            <a:off x="4495800" y="18415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Identity</a:t>
            </a:r>
          </a:p>
        </p:txBody>
      </p:sp>
      <p:sp>
        <p:nvSpPr>
          <p:cNvPr id="20" name="Rectangle 19">
            <a:extLst>
              <a:ext uri="{FF2B5EF4-FFF2-40B4-BE49-F238E27FC236}">
                <a16:creationId xmlns:a16="http://schemas.microsoft.com/office/drawing/2014/main" id="{DBE8F40C-99A5-946E-B551-1E591AAABB8F}"/>
              </a:ext>
            </a:extLst>
          </p:cNvPr>
          <p:cNvSpPr/>
          <p:nvPr/>
        </p:nvSpPr>
        <p:spPr>
          <a:xfrm>
            <a:off x="5435600" y="1816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47186AB8-5A1F-DED8-9505-123D93E81326}"/>
              </a:ext>
            </a:extLst>
          </p:cNvPr>
          <p:cNvSpPr/>
          <p:nvPr/>
        </p:nvSpPr>
        <p:spPr>
          <a:xfrm>
            <a:off x="5435600" y="1816100"/>
            <a:ext cx="2171700"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ECC67574-5A54-3A0E-F3AC-FFDD18D1D3FD}"/>
              </a:ext>
            </a:extLst>
          </p:cNvPr>
          <p:cNvSpPr txBox="1"/>
          <p:nvPr/>
        </p:nvSpPr>
        <p:spPr>
          <a:xfrm>
            <a:off x="7950200" y="1841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58.50</a:t>
            </a:r>
          </a:p>
        </p:txBody>
      </p:sp>
      <p:sp>
        <p:nvSpPr>
          <p:cNvPr id="23" name="ZoneTexte 22">
            <a:extLst>
              <a:ext uri="{FF2B5EF4-FFF2-40B4-BE49-F238E27FC236}">
                <a16:creationId xmlns:a16="http://schemas.microsoft.com/office/drawing/2014/main" id="{C0C00F80-8172-60C9-54B5-40986BCE20F2}"/>
              </a:ext>
            </a:extLst>
          </p:cNvPr>
          <p:cNvSpPr txBox="1"/>
          <p:nvPr/>
        </p:nvSpPr>
        <p:spPr>
          <a:xfrm>
            <a:off x="114300" y="21590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Gold</a:t>
            </a:r>
          </a:p>
        </p:txBody>
      </p:sp>
      <p:sp>
        <p:nvSpPr>
          <p:cNvPr id="24" name="Rectangle 23">
            <a:extLst>
              <a:ext uri="{FF2B5EF4-FFF2-40B4-BE49-F238E27FC236}">
                <a16:creationId xmlns:a16="http://schemas.microsoft.com/office/drawing/2014/main" id="{95F46918-6055-4CD4-4034-1B87058490C2}"/>
              </a:ext>
            </a:extLst>
          </p:cNvPr>
          <p:cNvSpPr/>
          <p:nvPr/>
        </p:nvSpPr>
        <p:spPr>
          <a:xfrm>
            <a:off x="1054100" y="2133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2A006073-6555-8CD1-231E-0A42A820AE34}"/>
              </a:ext>
            </a:extLst>
          </p:cNvPr>
          <p:cNvSpPr/>
          <p:nvPr/>
        </p:nvSpPr>
        <p:spPr>
          <a:xfrm>
            <a:off x="1054100" y="2133600"/>
            <a:ext cx="2083955"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6086051A-7003-7FD9-F3B2-02D9DA2EBC6B}"/>
              </a:ext>
            </a:extLst>
          </p:cNvPr>
          <p:cNvSpPr txBox="1"/>
          <p:nvPr/>
        </p:nvSpPr>
        <p:spPr>
          <a:xfrm>
            <a:off x="3568700" y="2159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0.570</a:t>
            </a:r>
          </a:p>
        </p:txBody>
      </p:sp>
      <p:sp>
        <p:nvSpPr>
          <p:cNvPr id="27" name="ZoneTexte 26">
            <a:extLst>
              <a:ext uri="{FF2B5EF4-FFF2-40B4-BE49-F238E27FC236}">
                <a16:creationId xmlns:a16="http://schemas.microsoft.com/office/drawing/2014/main" id="{93FFEA34-FA11-7821-2CBC-48596DDE2972}"/>
              </a:ext>
            </a:extLst>
          </p:cNvPr>
          <p:cNvSpPr txBox="1"/>
          <p:nvPr/>
        </p:nvSpPr>
        <p:spPr>
          <a:xfrm>
            <a:off x="4495800" y="2159000"/>
            <a:ext cx="863600" cy="215444"/>
          </a:xfrm>
          <a:prstGeom prst="rect">
            <a:avLst/>
          </a:prstGeom>
          <a:noFill/>
        </p:spPr>
        <p:txBody>
          <a:bodyPr vert="horz" wrap="square" lIns="0" tIns="0" rIns="0" bIns="0" rtlCol="0">
            <a:noAutofit/>
          </a:bodyPr>
          <a:lstStyle/>
          <a:p>
            <a:pPr algn="r"/>
            <a:r>
              <a:rPr lang="fr-FR" sz="900" b="1">
                <a:solidFill>
                  <a:srgbClr val="58658B"/>
                </a:solidFill>
                <a:latin typeface="Arial" panose="020B0604020202020204" pitchFamily="34" charset="0"/>
              </a:rPr>
              <a:t>Gold</a:t>
            </a:r>
          </a:p>
        </p:txBody>
      </p:sp>
      <p:sp>
        <p:nvSpPr>
          <p:cNvPr id="28" name="Rectangle 27">
            <a:extLst>
              <a:ext uri="{FF2B5EF4-FFF2-40B4-BE49-F238E27FC236}">
                <a16:creationId xmlns:a16="http://schemas.microsoft.com/office/drawing/2014/main" id="{32EBBC34-0C46-8FD3-E29E-D358DEC817C5}"/>
              </a:ext>
            </a:extLst>
          </p:cNvPr>
          <p:cNvSpPr/>
          <p:nvPr/>
        </p:nvSpPr>
        <p:spPr>
          <a:xfrm>
            <a:off x="5435600" y="2133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1B8560BC-B48C-5FB1-F060-BCCC7A837E2D}"/>
              </a:ext>
            </a:extLst>
          </p:cNvPr>
          <p:cNvSpPr/>
          <p:nvPr/>
        </p:nvSpPr>
        <p:spPr>
          <a:xfrm>
            <a:off x="5435600" y="2133600"/>
            <a:ext cx="2171700" cy="190500"/>
          </a:xfrm>
          <a:prstGeom prst="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3AE8910B-6235-B3A9-F30A-981DCC28955F}"/>
              </a:ext>
            </a:extLst>
          </p:cNvPr>
          <p:cNvSpPr txBox="1"/>
          <p:nvPr/>
        </p:nvSpPr>
        <p:spPr>
          <a:xfrm>
            <a:off x="7950200" y="2159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58.50</a:t>
            </a:r>
          </a:p>
        </p:txBody>
      </p:sp>
      <p:sp>
        <p:nvSpPr>
          <p:cNvPr id="31" name="ZoneTexte 30">
            <a:extLst>
              <a:ext uri="{FF2B5EF4-FFF2-40B4-BE49-F238E27FC236}">
                <a16:creationId xmlns:a16="http://schemas.microsoft.com/office/drawing/2014/main" id="{1A24B12E-E13A-6AEE-841F-880290783248}"/>
              </a:ext>
            </a:extLst>
          </p:cNvPr>
          <p:cNvSpPr txBox="1"/>
          <p:nvPr/>
        </p:nvSpPr>
        <p:spPr>
          <a:xfrm>
            <a:off x="114300" y="2476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M1</a:t>
            </a:r>
          </a:p>
        </p:txBody>
      </p:sp>
      <p:sp>
        <p:nvSpPr>
          <p:cNvPr id="32" name="Rectangle 31">
            <a:extLst>
              <a:ext uri="{FF2B5EF4-FFF2-40B4-BE49-F238E27FC236}">
                <a16:creationId xmlns:a16="http://schemas.microsoft.com/office/drawing/2014/main" id="{29253DF4-EFE6-C9FF-164C-FC68821F808D}"/>
              </a:ext>
            </a:extLst>
          </p:cNvPr>
          <p:cNvSpPr/>
          <p:nvPr/>
        </p:nvSpPr>
        <p:spPr>
          <a:xfrm>
            <a:off x="1054100" y="2451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10D06C08-6A96-EC27-60A3-2766F86B40E6}"/>
              </a:ext>
            </a:extLst>
          </p:cNvPr>
          <p:cNvSpPr/>
          <p:nvPr/>
        </p:nvSpPr>
        <p:spPr>
          <a:xfrm>
            <a:off x="1054100" y="2451100"/>
            <a:ext cx="2219229"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1E092D47-A1A6-E48A-F0B5-7969940C03FF}"/>
              </a:ext>
            </a:extLst>
          </p:cNvPr>
          <p:cNvSpPr txBox="1"/>
          <p:nvPr/>
        </p:nvSpPr>
        <p:spPr>
          <a:xfrm>
            <a:off x="3568700" y="2476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0.607</a:t>
            </a:r>
          </a:p>
        </p:txBody>
      </p:sp>
      <p:sp>
        <p:nvSpPr>
          <p:cNvPr id="35" name="ZoneTexte 34">
            <a:extLst>
              <a:ext uri="{FF2B5EF4-FFF2-40B4-BE49-F238E27FC236}">
                <a16:creationId xmlns:a16="http://schemas.microsoft.com/office/drawing/2014/main" id="{1CAD1339-530B-B8E9-09C5-8765EBD31FD7}"/>
              </a:ext>
            </a:extLst>
          </p:cNvPr>
          <p:cNvSpPr txBox="1"/>
          <p:nvPr/>
        </p:nvSpPr>
        <p:spPr>
          <a:xfrm>
            <a:off x="4495800" y="2476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M1</a:t>
            </a:r>
          </a:p>
        </p:txBody>
      </p:sp>
      <p:sp>
        <p:nvSpPr>
          <p:cNvPr id="36" name="Rectangle 35">
            <a:extLst>
              <a:ext uri="{FF2B5EF4-FFF2-40B4-BE49-F238E27FC236}">
                <a16:creationId xmlns:a16="http://schemas.microsoft.com/office/drawing/2014/main" id="{450F5287-DC59-D000-30EF-872239695ABF}"/>
              </a:ext>
            </a:extLst>
          </p:cNvPr>
          <p:cNvSpPr/>
          <p:nvPr/>
        </p:nvSpPr>
        <p:spPr>
          <a:xfrm>
            <a:off x="5435600" y="2451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36">
            <a:extLst>
              <a:ext uri="{FF2B5EF4-FFF2-40B4-BE49-F238E27FC236}">
                <a16:creationId xmlns:a16="http://schemas.microsoft.com/office/drawing/2014/main" id="{CA5A2C6D-1E07-0782-55FD-53D7A535488B}"/>
              </a:ext>
            </a:extLst>
          </p:cNvPr>
          <p:cNvSpPr/>
          <p:nvPr/>
        </p:nvSpPr>
        <p:spPr>
          <a:xfrm>
            <a:off x="5435600" y="2451100"/>
            <a:ext cx="2105992"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8F120717-9EEE-B693-0617-6F64BD986AFC}"/>
              </a:ext>
            </a:extLst>
          </p:cNvPr>
          <p:cNvSpPr txBox="1"/>
          <p:nvPr/>
        </p:nvSpPr>
        <p:spPr>
          <a:xfrm>
            <a:off x="7950200" y="2476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56.73</a:t>
            </a:r>
          </a:p>
        </p:txBody>
      </p:sp>
      <p:sp>
        <p:nvSpPr>
          <p:cNvPr id="39" name="ZoneTexte 38">
            <a:extLst>
              <a:ext uri="{FF2B5EF4-FFF2-40B4-BE49-F238E27FC236}">
                <a16:creationId xmlns:a16="http://schemas.microsoft.com/office/drawing/2014/main" id="{CF4FE678-4B79-C180-2DF3-DBDFAB3D7847}"/>
              </a:ext>
            </a:extLst>
          </p:cNvPr>
          <p:cNvSpPr txBox="1"/>
          <p:nvPr/>
        </p:nvSpPr>
        <p:spPr>
          <a:xfrm>
            <a:off x="114300" y="27940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M2</a:t>
            </a:r>
          </a:p>
        </p:txBody>
      </p:sp>
      <p:sp>
        <p:nvSpPr>
          <p:cNvPr id="40" name="Rectangle 39">
            <a:extLst>
              <a:ext uri="{FF2B5EF4-FFF2-40B4-BE49-F238E27FC236}">
                <a16:creationId xmlns:a16="http://schemas.microsoft.com/office/drawing/2014/main" id="{D8DE5830-8585-46F9-D20D-360E387A50A3}"/>
              </a:ext>
            </a:extLst>
          </p:cNvPr>
          <p:cNvSpPr/>
          <p:nvPr/>
        </p:nvSpPr>
        <p:spPr>
          <a:xfrm>
            <a:off x="1054100" y="2768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29BF1743-B66F-FD92-4D5E-45B91A39C1A1}"/>
              </a:ext>
            </a:extLst>
          </p:cNvPr>
          <p:cNvSpPr/>
          <p:nvPr/>
        </p:nvSpPr>
        <p:spPr>
          <a:xfrm>
            <a:off x="1054100" y="2768600"/>
            <a:ext cx="2244821"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EFE44091-CE82-7440-D66D-CC11965DD0A7}"/>
              </a:ext>
            </a:extLst>
          </p:cNvPr>
          <p:cNvSpPr txBox="1"/>
          <p:nvPr/>
        </p:nvSpPr>
        <p:spPr>
          <a:xfrm>
            <a:off x="3568700" y="2794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0.614</a:t>
            </a:r>
          </a:p>
        </p:txBody>
      </p:sp>
      <p:sp>
        <p:nvSpPr>
          <p:cNvPr id="43" name="ZoneTexte 42">
            <a:extLst>
              <a:ext uri="{FF2B5EF4-FFF2-40B4-BE49-F238E27FC236}">
                <a16:creationId xmlns:a16="http://schemas.microsoft.com/office/drawing/2014/main" id="{3975B9D9-7989-411A-04F1-CC0DCEC09F1D}"/>
              </a:ext>
            </a:extLst>
          </p:cNvPr>
          <p:cNvSpPr txBox="1"/>
          <p:nvPr/>
        </p:nvSpPr>
        <p:spPr>
          <a:xfrm>
            <a:off x="4495800" y="27940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M2</a:t>
            </a:r>
          </a:p>
        </p:txBody>
      </p:sp>
      <p:sp>
        <p:nvSpPr>
          <p:cNvPr id="44" name="Rectangle 43">
            <a:extLst>
              <a:ext uri="{FF2B5EF4-FFF2-40B4-BE49-F238E27FC236}">
                <a16:creationId xmlns:a16="http://schemas.microsoft.com/office/drawing/2014/main" id="{22E21EF4-B85E-867F-8B37-5720BA752B74}"/>
              </a:ext>
            </a:extLst>
          </p:cNvPr>
          <p:cNvSpPr/>
          <p:nvPr/>
        </p:nvSpPr>
        <p:spPr>
          <a:xfrm>
            <a:off x="5435600" y="2768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8F81503F-EA48-3195-E0C8-9A0B3610B1D2}"/>
              </a:ext>
            </a:extLst>
          </p:cNvPr>
          <p:cNvSpPr/>
          <p:nvPr/>
        </p:nvSpPr>
        <p:spPr>
          <a:xfrm>
            <a:off x="5435600" y="2768600"/>
            <a:ext cx="2149426"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FD9FD99D-8522-489B-A3AA-4C964A78BFAB}"/>
              </a:ext>
            </a:extLst>
          </p:cNvPr>
          <p:cNvSpPr txBox="1"/>
          <p:nvPr/>
        </p:nvSpPr>
        <p:spPr>
          <a:xfrm>
            <a:off x="7950200" y="2794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57.90</a:t>
            </a:r>
          </a:p>
        </p:txBody>
      </p:sp>
      <p:sp>
        <p:nvSpPr>
          <p:cNvPr id="47" name="ZoneTexte 46">
            <a:extLst>
              <a:ext uri="{FF2B5EF4-FFF2-40B4-BE49-F238E27FC236}">
                <a16:creationId xmlns:a16="http://schemas.microsoft.com/office/drawing/2014/main" id="{DA947C50-4022-E454-B237-3AC038381FE8}"/>
              </a:ext>
            </a:extLst>
          </p:cNvPr>
          <p:cNvSpPr txBox="1"/>
          <p:nvPr/>
        </p:nvSpPr>
        <p:spPr>
          <a:xfrm>
            <a:off x="114300" y="3111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M3</a:t>
            </a:r>
          </a:p>
        </p:txBody>
      </p:sp>
      <p:sp>
        <p:nvSpPr>
          <p:cNvPr id="48" name="Rectangle 47">
            <a:extLst>
              <a:ext uri="{FF2B5EF4-FFF2-40B4-BE49-F238E27FC236}">
                <a16:creationId xmlns:a16="http://schemas.microsoft.com/office/drawing/2014/main" id="{7AB53AB1-2F07-4293-598E-D58D0B9DE465}"/>
              </a:ext>
            </a:extLst>
          </p:cNvPr>
          <p:cNvSpPr/>
          <p:nvPr/>
        </p:nvSpPr>
        <p:spPr>
          <a:xfrm>
            <a:off x="1054100" y="3086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48">
            <a:extLst>
              <a:ext uri="{FF2B5EF4-FFF2-40B4-BE49-F238E27FC236}">
                <a16:creationId xmlns:a16="http://schemas.microsoft.com/office/drawing/2014/main" id="{EDCA5051-6E23-8B53-4BDF-A1A687E7BFAC}"/>
              </a:ext>
            </a:extLst>
          </p:cNvPr>
          <p:cNvSpPr/>
          <p:nvPr/>
        </p:nvSpPr>
        <p:spPr>
          <a:xfrm>
            <a:off x="1054100" y="3086100"/>
            <a:ext cx="2299662"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1669B73F-2AEB-47BF-928A-FC485F37C1F9}"/>
              </a:ext>
            </a:extLst>
          </p:cNvPr>
          <p:cNvSpPr txBox="1"/>
          <p:nvPr/>
        </p:nvSpPr>
        <p:spPr>
          <a:xfrm>
            <a:off x="3568700" y="3111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0.629</a:t>
            </a:r>
          </a:p>
        </p:txBody>
      </p:sp>
      <p:sp>
        <p:nvSpPr>
          <p:cNvPr id="51" name="ZoneTexte 50">
            <a:extLst>
              <a:ext uri="{FF2B5EF4-FFF2-40B4-BE49-F238E27FC236}">
                <a16:creationId xmlns:a16="http://schemas.microsoft.com/office/drawing/2014/main" id="{3D93AAA3-FA49-9EA1-BA74-14496FE7F0CF}"/>
              </a:ext>
            </a:extLst>
          </p:cNvPr>
          <p:cNvSpPr txBox="1"/>
          <p:nvPr/>
        </p:nvSpPr>
        <p:spPr>
          <a:xfrm>
            <a:off x="4495800" y="3111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M3</a:t>
            </a:r>
          </a:p>
        </p:txBody>
      </p:sp>
      <p:sp>
        <p:nvSpPr>
          <p:cNvPr id="52" name="Rectangle 51">
            <a:extLst>
              <a:ext uri="{FF2B5EF4-FFF2-40B4-BE49-F238E27FC236}">
                <a16:creationId xmlns:a16="http://schemas.microsoft.com/office/drawing/2014/main" id="{7FCC3639-2431-F8A1-9AC0-ECCA5922DD8C}"/>
              </a:ext>
            </a:extLst>
          </p:cNvPr>
          <p:cNvSpPr/>
          <p:nvPr/>
        </p:nvSpPr>
        <p:spPr>
          <a:xfrm>
            <a:off x="5435600" y="3086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FC612168-EE0D-3686-1E07-56A7C21841E4}"/>
              </a:ext>
            </a:extLst>
          </p:cNvPr>
          <p:cNvSpPr/>
          <p:nvPr/>
        </p:nvSpPr>
        <p:spPr>
          <a:xfrm>
            <a:off x="5435600" y="3086100"/>
            <a:ext cx="2045110"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ZoneTexte 53">
            <a:extLst>
              <a:ext uri="{FF2B5EF4-FFF2-40B4-BE49-F238E27FC236}">
                <a16:creationId xmlns:a16="http://schemas.microsoft.com/office/drawing/2014/main" id="{C26BA8A1-FC1F-F2C2-F0B6-F778C17687B2}"/>
              </a:ext>
            </a:extLst>
          </p:cNvPr>
          <p:cNvSpPr txBox="1"/>
          <p:nvPr/>
        </p:nvSpPr>
        <p:spPr>
          <a:xfrm>
            <a:off x="7950200" y="3111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55.09</a:t>
            </a:r>
          </a:p>
        </p:txBody>
      </p:sp>
      <p:sp>
        <p:nvSpPr>
          <p:cNvPr id="55" name="ZoneTexte 54">
            <a:extLst>
              <a:ext uri="{FF2B5EF4-FFF2-40B4-BE49-F238E27FC236}">
                <a16:creationId xmlns:a16="http://schemas.microsoft.com/office/drawing/2014/main" id="{6AF24F7E-3337-1994-B5BF-0A4CD31D199D}"/>
              </a:ext>
            </a:extLst>
          </p:cNvPr>
          <p:cNvSpPr txBox="1"/>
          <p:nvPr/>
        </p:nvSpPr>
        <p:spPr>
          <a:xfrm>
            <a:off x="114300" y="34290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M4</a:t>
            </a:r>
          </a:p>
        </p:txBody>
      </p:sp>
      <p:sp>
        <p:nvSpPr>
          <p:cNvPr id="56" name="Rectangle 55">
            <a:extLst>
              <a:ext uri="{FF2B5EF4-FFF2-40B4-BE49-F238E27FC236}">
                <a16:creationId xmlns:a16="http://schemas.microsoft.com/office/drawing/2014/main" id="{17C393A7-8B15-8893-AF57-6F0B508809D0}"/>
              </a:ext>
            </a:extLst>
          </p:cNvPr>
          <p:cNvSpPr/>
          <p:nvPr/>
        </p:nvSpPr>
        <p:spPr>
          <a:xfrm>
            <a:off x="1054100" y="3403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53CDE499-02FE-3CD2-42AB-9A4546B7BA98}"/>
              </a:ext>
            </a:extLst>
          </p:cNvPr>
          <p:cNvSpPr/>
          <p:nvPr/>
        </p:nvSpPr>
        <p:spPr>
          <a:xfrm>
            <a:off x="1054100" y="3403600"/>
            <a:ext cx="2186324"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ZoneTexte 57">
            <a:extLst>
              <a:ext uri="{FF2B5EF4-FFF2-40B4-BE49-F238E27FC236}">
                <a16:creationId xmlns:a16="http://schemas.microsoft.com/office/drawing/2014/main" id="{A946D052-7A2B-580E-A110-DBC04CCCD433}"/>
              </a:ext>
            </a:extLst>
          </p:cNvPr>
          <p:cNvSpPr txBox="1"/>
          <p:nvPr/>
        </p:nvSpPr>
        <p:spPr>
          <a:xfrm>
            <a:off x="3568700" y="3429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0.598</a:t>
            </a:r>
          </a:p>
        </p:txBody>
      </p:sp>
      <p:sp>
        <p:nvSpPr>
          <p:cNvPr id="59" name="ZoneTexte 58">
            <a:extLst>
              <a:ext uri="{FF2B5EF4-FFF2-40B4-BE49-F238E27FC236}">
                <a16:creationId xmlns:a16="http://schemas.microsoft.com/office/drawing/2014/main" id="{A58A0543-3733-0178-AF1F-2B281CFFAA25}"/>
              </a:ext>
            </a:extLst>
          </p:cNvPr>
          <p:cNvSpPr txBox="1"/>
          <p:nvPr/>
        </p:nvSpPr>
        <p:spPr>
          <a:xfrm>
            <a:off x="4495800" y="3429000"/>
            <a:ext cx="863600" cy="215444"/>
          </a:xfrm>
          <a:prstGeom prst="rect">
            <a:avLst/>
          </a:prstGeom>
          <a:noFill/>
        </p:spPr>
        <p:txBody>
          <a:bodyPr vert="horz" wrap="square" lIns="0" tIns="0" rIns="0" bIns="0" rtlCol="0">
            <a:noAutofit/>
          </a:bodyPr>
          <a:lstStyle/>
          <a:p>
            <a:pPr algn="r"/>
            <a:r>
              <a:rPr lang="fr-FR" sz="900" b="1">
                <a:solidFill>
                  <a:srgbClr val="976F1D"/>
                </a:solidFill>
                <a:latin typeface="Arial" panose="020B0604020202020204" pitchFamily="34" charset="0"/>
              </a:rPr>
              <a:t>M4</a:t>
            </a:r>
          </a:p>
        </p:txBody>
      </p:sp>
      <p:sp>
        <p:nvSpPr>
          <p:cNvPr id="60" name="Rectangle 59">
            <a:extLst>
              <a:ext uri="{FF2B5EF4-FFF2-40B4-BE49-F238E27FC236}">
                <a16:creationId xmlns:a16="http://schemas.microsoft.com/office/drawing/2014/main" id="{D8462A97-8ACB-D6F9-F520-958DB70B5456}"/>
              </a:ext>
            </a:extLst>
          </p:cNvPr>
          <p:cNvSpPr/>
          <p:nvPr/>
        </p:nvSpPr>
        <p:spPr>
          <a:xfrm>
            <a:off x="5435600" y="34036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A2B2004E-2121-BBB8-6C9D-E3F73076C314}"/>
              </a:ext>
            </a:extLst>
          </p:cNvPr>
          <p:cNvSpPr/>
          <p:nvPr/>
        </p:nvSpPr>
        <p:spPr>
          <a:xfrm>
            <a:off x="5435600" y="3403600"/>
            <a:ext cx="2182465" cy="1905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ZoneTexte 61">
            <a:extLst>
              <a:ext uri="{FF2B5EF4-FFF2-40B4-BE49-F238E27FC236}">
                <a16:creationId xmlns:a16="http://schemas.microsoft.com/office/drawing/2014/main" id="{10BD38BB-C1CE-600C-0893-6B58B30F04C8}"/>
              </a:ext>
            </a:extLst>
          </p:cNvPr>
          <p:cNvSpPr txBox="1"/>
          <p:nvPr/>
        </p:nvSpPr>
        <p:spPr>
          <a:xfrm>
            <a:off x="7950200" y="3429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58.79</a:t>
            </a:r>
          </a:p>
        </p:txBody>
      </p:sp>
      <p:sp>
        <p:nvSpPr>
          <p:cNvPr id="63" name="ZoneTexte 62">
            <a:extLst>
              <a:ext uri="{FF2B5EF4-FFF2-40B4-BE49-F238E27FC236}">
                <a16:creationId xmlns:a16="http://schemas.microsoft.com/office/drawing/2014/main" id="{FFFD0037-5BC6-6F9B-F3EF-56644329B8BF}"/>
              </a:ext>
            </a:extLst>
          </p:cNvPr>
          <p:cNvSpPr txBox="1"/>
          <p:nvPr/>
        </p:nvSpPr>
        <p:spPr>
          <a:xfrm>
            <a:off x="114300" y="3746500"/>
            <a:ext cx="863600" cy="215444"/>
          </a:xfrm>
          <a:prstGeom prst="rect">
            <a:avLst/>
          </a:prstGeom>
          <a:noFill/>
        </p:spPr>
        <p:txBody>
          <a:bodyPr vert="horz" wrap="square" lIns="0" tIns="0" rIns="0" bIns="0" rtlCol="0">
            <a:noAutofit/>
          </a:bodyPr>
          <a:lstStyle/>
          <a:p>
            <a:pPr algn="r"/>
            <a:r>
              <a:rPr lang="fr-FR" sz="900" b="1">
                <a:solidFill>
                  <a:srgbClr val="976F1D"/>
                </a:solidFill>
                <a:latin typeface="Arial" panose="020B0604020202020204" pitchFamily="34" charset="0"/>
              </a:rPr>
              <a:t>M6</a:t>
            </a:r>
          </a:p>
        </p:txBody>
      </p:sp>
      <p:sp>
        <p:nvSpPr>
          <p:cNvPr id="64" name="Rectangle 63">
            <a:extLst>
              <a:ext uri="{FF2B5EF4-FFF2-40B4-BE49-F238E27FC236}">
                <a16:creationId xmlns:a16="http://schemas.microsoft.com/office/drawing/2014/main" id="{2752BD55-AE6E-3B0E-9282-0F23E811E857}"/>
              </a:ext>
            </a:extLst>
          </p:cNvPr>
          <p:cNvSpPr/>
          <p:nvPr/>
        </p:nvSpPr>
        <p:spPr>
          <a:xfrm>
            <a:off x="1054100" y="3721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2F2500BB-A9D7-136C-339A-748F6098357A}"/>
              </a:ext>
            </a:extLst>
          </p:cNvPr>
          <p:cNvSpPr/>
          <p:nvPr/>
        </p:nvSpPr>
        <p:spPr>
          <a:xfrm>
            <a:off x="1054100" y="3721100"/>
            <a:ext cx="2164388" cy="1905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a:extLst>
              <a:ext uri="{FF2B5EF4-FFF2-40B4-BE49-F238E27FC236}">
                <a16:creationId xmlns:a16="http://schemas.microsoft.com/office/drawing/2014/main" id="{0862E45B-B5B3-5CEC-C052-A879937841F2}"/>
              </a:ext>
            </a:extLst>
          </p:cNvPr>
          <p:cNvSpPr txBox="1"/>
          <p:nvPr/>
        </p:nvSpPr>
        <p:spPr>
          <a:xfrm>
            <a:off x="3568700" y="3746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0.592</a:t>
            </a:r>
          </a:p>
        </p:txBody>
      </p:sp>
      <p:sp>
        <p:nvSpPr>
          <p:cNvPr id="67" name="ZoneTexte 66">
            <a:extLst>
              <a:ext uri="{FF2B5EF4-FFF2-40B4-BE49-F238E27FC236}">
                <a16:creationId xmlns:a16="http://schemas.microsoft.com/office/drawing/2014/main" id="{D1EE0A35-02BE-B48D-7429-AB9713AA103A}"/>
              </a:ext>
            </a:extLst>
          </p:cNvPr>
          <p:cNvSpPr txBox="1"/>
          <p:nvPr/>
        </p:nvSpPr>
        <p:spPr>
          <a:xfrm>
            <a:off x="4495800" y="37465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M6</a:t>
            </a:r>
          </a:p>
        </p:txBody>
      </p:sp>
      <p:sp>
        <p:nvSpPr>
          <p:cNvPr id="68" name="Rectangle 67">
            <a:extLst>
              <a:ext uri="{FF2B5EF4-FFF2-40B4-BE49-F238E27FC236}">
                <a16:creationId xmlns:a16="http://schemas.microsoft.com/office/drawing/2014/main" id="{2B0D249B-755C-A533-283E-09F9986321B1}"/>
              </a:ext>
            </a:extLst>
          </p:cNvPr>
          <p:cNvSpPr/>
          <p:nvPr/>
        </p:nvSpPr>
        <p:spPr>
          <a:xfrm>
            <a:off x="5435600" y="3721100"/>
            <a:ext cx="24130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FD725402-9E10-5C2B-F616-5DC3B0976174}"/>
              </a:ext>
            </a:extLst>
          </p:cNvPr>
          <p:cNvSpPr/>
          <p:nvPr/>
        </p:nvSpPr>
        <p:spPr>
          <a:xfrm>
            <a:off x="5435600" y="3721100"/>
            <a:ext cx="2152396"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E830D203-D502-18A6-6DA7-223AE3D80AF0}"/>
              </a:ext>
            </a:extLst>
          </p:cNvPr>
          <p:cNvSpPr txBox="1"/>
          <p:nvPr/>
        </p:nvSpPr>
        <p:spPr>
          <a:xfrm>
            <a:off x="7950200" y="37465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57.98</a:t>
            </a:r>
          </a:p>
        </p:txBody>
      </p:sp>
      <p:cxnSp>
        <p:nvCxnSpPr>
          <p:cNvPr id="71" name="Connecteur droit 70">
            <a:extLst>
              <a:ext uri="{FF2B5EF4-FFF2-40B4-BE49-F238E27FC236}">
                <a16:creationId xmlns:a16="http://schemas.microsoft.com/office/drawing/2014/main" id="{CB51769B-B4C3-6374-AD40-322F987DD1D7}"/>
              </a:ext>
            </a:extLst>
          </p:cNvPr>
          <p:cNvCxnSpPr/>
          <p:nvPr/>
        </p:nvCxnSpPr>
        <p:spPr>
          <a:xfrm>
            <a:off x="3138055" y="1727200"/>
            <a:ext cx="0" cy="2324100"/>
          </a:xfrm>
          <a:prstGeom prst="line">
            <a:avLst/>
          </a:prstGeom>
          <a:ln w="15240">
            <a:solidFill>
              <a:srgbClr val="606774"/>
            </a:solidFill>
            <a:prstDash val="dash"/>
          </a:ln>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B9382515-053B-A665-073B-05AEECA256EF}"/>
              </a:ext>
            </a:extLst>
          </p:cNvPr>
          <p:cNvCxnSpPr/>
          <p:nvPr/>
        </p:nvCxnSpPr>
        <p:spPr>
          <a:xfrm>
            <a:off x="7607300" y="1727200"/>
            <a:ext cx="0" cy="2324100"/>
          </a:xfrm>
          <a:prstGeom prst="line">
            <a:avLst/>
          </a:prstGeom>
          <a:ln w="15240">
            <a:solidFill>
              <a:srgbClr val="606774"/>
            </a:solidFill>
            <a:prstDash val="dash"/>
          </a:ln>
        </p:spPr>
        <p:style>
          <a:lnRef idx="1">
            <a:schemeClr val="accent1"/>
          </a:lnRef>
          <a:fillRef idx="0">
            <a:schemeClr val="accent1"/>
          </a:fillRef>
          <a:effectRef idx="0">
            <a:schemeClr val="accent1"/>
          </a:effectRef>
          <a:fontRef idx="minor">
            <a:schemeClr val="tx1"/>
          </a:fontRef>
        </p:style>
      </p:cxnSp>
      <p:sp>
        <p:nvSpPr>
          <p:cNvPr id="73" name="ZoneTexte 72">
            <a:extLst>
              <a:ext uri="{FF2B5EF4-FFF2-40B4-BE49-F238E27FC236}">
                <a16:creationId xmlns:a16="http://schemas.microsoft.com/office/drawing/2014/main" id="{6B6D70FC-0052-5EEA-E0D7-090D539F38C4}"/>
              </a:ext>
            </a:extLst>
          </p:cNvPr>
          <p:cNvSpPr txBox="1"/>
          <p:nvPr/>
        </p:nvSpPr>
        <p:spPr>
          <a:xfrm>
            <a:off x="2604655" y="1600200"/>
            <a:ext cx="1066800" cy="215444"/>
          </a:xfrm>
          <a:prstGeom prst="rect">
            <a:avLst/>
          </a:prstGeom>
          <a:noFill/>
        </p:spPr>
        <p:txBody>
          <a:bodyPr vert="horz" wrap="square" lIns="0" tIns="0" rIns="0" bIns="0" rtlCol="0">
            <a:noAutofit/>
          </a:bodyPr>
          <a:lstStyle/>
          <a:p>
            <a:pPr algn="ctr"/>
            <a:r>
              <a:rPr lang="fr-FR" sz="680">
                <a:solidFill>
                  <a:srgbClr val="606774"/>
                </a:solidFill>
                <a:latin typeface="Arial" panose="020B0604020202020204" pitchFamily="34" charset="0"/>
              </a:rPr>
              <a:t>identity baseline</a:t>
            </a:r>
          </a:p>
        </p:txBody>
      </p:sp>
      <p:sp>
        <p:nvSpPr>
          <p:cNvPr id="74" name="ZoneTexte 73">
            <a:extLst>
              <a:ext uri="{FF2B5EF4-FFF2-40B4-BE49-F238E27FC236}">
                <a16:creationId xmlns:a16="http://schemas.microsoft.com/office/drawing/2014/main" id="{D3D90E98-03AA-984F-E07F-DF15CA6AFF4C}"/>
              </a:ext>
            </a:extLst>
          </p:cNvPr>
          <p:cNvSpPr txBox="1"/>
          <p:nvPr/>
        </p:nvSpPr>
        <p:spPr>
          <a:xfrm>
            <a:off x="7073900" y="1600200"/>
            <a:ext cx="1066800" cy="215444"/>
          </a:xfrm>
          <a:prstGeom prst="rect">
            <a:avLst/>
          </a:prstGeom>
          <a:noFill/>
        </p:spPr>
        <p:txBody>
          <a:bodyPr vert="horz" wrap="square" lIns="0" tIns="0" rIns="0" bIns="0" rtlCol="0">
            <a:noAutofit/>
          </a:bodyPr>
          <a:lstStyle/>
          <a:p>
            <a:pPr algn="ctr"/>
            <a:r>
              <a:rPr lang="fr-FR" sz="680">
                <a:solidFill>
                  <a:srgbClr val="606774"/>
                </a:solidFill>
                <a:latin typeface="Arial" panose="020B0604020202020204" pitchFamily="34" charset="0"/>
              </a:rPr>
              <a:t>identity baseline</a:t>
            </a:r>
          </a:p>
        </p:txBody>
      </p:sp>
      <p:sp>
        <p:nvSpPr>
          <p:cNvPr id="75" name="ZoneTexte 74">
            <a:extLst>
              <a:ext uri="{FF2B5EF4-FFF2-40B4-BE49-F238E27FC236}">
                <a16:creationId xmlns:a16="http://schemas.microsoft.com/office/drawing/2014/main" id="{1CCC398B-E590-DC0D-8A12-AFB812462EA1}"/>
              </a:ext>
            </a:extLst>
          </p:cNvPr>
          <p:cNvSpPr txBox="1"/>
          <p:nvPr/>
        </p:nvSpPr>
        <p:spPr>
          <a:xfrm>
            <a:off x="838200" y="4356784"/>
            <a:ext cx="7315200" cy="215444"/>
          </a:xfrm>
          <a:prstGeom prst="rect">
            <a:avLst/>
          </a:prstGeom>
          <a:noFill/>
        </p:spPr>
        <p:txBody>
          <a:bodyPr vert="horz" wrap="square" lIns="0" tIns="0" rIns="0" bIns="0" rtlCol="0">
            <a:noAutofit/>
          </a:bodyPr>
          <a:lstStyle/>
          <a:p>
            <a:pPr algn="ctr"/>
            <a:r>
              <a:rPr lang="en-US" sz="1050" b="1" i="1" dirty="0">
                <a:solidFill>
                  <a:srgbClr val="0E2F46"/>
                </a:solidFill>
                <a:latin typeface="Arial" panose="020B0604020202020204" pitchFamily="34" charset="0"/>
              </a:rPr>
              <a:t>Best synthetic WER: M6 · only trained condition above identity on chrF: M4 (+0.29)</a:t>
            </a:r>
            <a:endParaRPr lang="fr-FR" sz="1050" b="1" i="1" dirty="0">
              <a:solidFill>
                <a:srgbClr val="0E2F46"/>
              </a:solidFill>
              <a:latin typeface="Arial" panose="020B0604020202020204" pitchFamily="34" charset="0"/>
            </a:endParaRPr>
          </a:p>
        </p:txBody>
      </p:sp>
      <p:sp>
        <p:nvSpPr>
          <p:cNvPr id="6" name="Rectangle 5">
            <a:extLst>
              <a:ext uri="{FF2B5EF4-FFF2-40B4-BE49-F238E27FC236}">
                <a16:creationId xmlns:a16="http://schemas.microsoft.com/office/drawing/2014/main" id="{7B06824C-B99A-12E1-139A-82723500747F}"/>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8716E868-6096-28CA-4C3F-4285F4324CE0}"/>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ZoneTexte 76">
            <a:extLst>
              <a:ext uri="{FF2B5EF4-FFF2-40B4-BE49-F238E27FC236}">
                <a16:creationId xmlns:a16="http://schemas.microsoft.com/office/drawing/2014/main" id="{7FD64F7B-09A3-7BFF-FE07-83583A2B6D2E}"/>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Results</a:t>
            </a:r>
          </a:p>
        </p:txBody>
      </p:sp>
      <p:sp>
        <p:nvSpPr>
          <p:cNvPr id="79" name="ZoneTexte 78">
            <a:extLst>
              <a:ext uri="{FF2B5EF4-FFF2-40B4-BE49-F238E27FC236}">
                <a16:creationId xmlns:a16="http://schemas.microsoft.com/office/drawing/2014/main" id="{462E90EA-3082-0BFB-3300-1117DC310773}"/>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80" name="ZoneTexte 79">
            <a:extLst>
              <a:ext uri="{FF2B5EF4-FFF2-40B4-BE49-F238E27FC236}">
                <a16:creationId xmlns:a16="http://schemas.microsoft.com/office/drawing/2014/main" id="{4592DC99-C503-8391-0450-8E8FD491EA14}"/>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Results</a:t>
            </a:r>
          </a:p>
        </p:txBody>
      </p:sp>
      <p:sp>
        <p:nvSpPr>
          <p:cNvPr id="81" name="ZoneTexte 80">
            <a:extLst>
              <a:ext uri="{FF2B5EF4-FFF2-40B4-BE49-F238E27FC236}">
                <a16:creationId xmlns:a16="http://schemas.microsoft.com/office/drawing/2014/main" id="{ABC29F44-18A0-12DB-55DE-F88156E9DF41}"/>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15 / 36</a:t>
            </a:r>
          </a:p>
        </p:txBody>
      </p:sp>
      <p:pic>
        <p:nvPicPr>
          <p:cNvPr id="83" name="Image 82">
            <a:extLst>
              <a:ext uri="{FF2B5EF4-FFF2-40B4-BE49-F238E27FC236}">
                <a16:creationId xmlns:a16="http://schemas.microsoft.com/office/drawing/2014/main" id="{B845CF05-A9A0-178C-3769-7975CDCBD1DC}"/>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130065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8FD8D6E7-609D-8231-599D-87924CFA2D29}"/>
              </a:ext>
            </a:extLst>
          </p:cNvPr>
          <p:cNvPicPr>
            <a:picLocks noChangeAspect="1"/>
          </p:cNvPicPr>
          <p:nvPr/>
        </p:nvPicPr>
        <p:blipFill>
          <a:blip r:embed="rId3"/>
          <a:stretch>
            <a:fillRect/>
          </a:stretch>
        </p:blipFill>
        <p:spPr>
          <a:xfrm>
            <a:off x="640453" y="1518800"/>
            <a:ext cx="4981106" cy="2202756"/>
          </a:xfrm>
          <a:prstGeom prst="rect">
            <a:avLst/>
          </a:prstGeom>
        </p:spPr>
      </p:pic>
      <p:sp>
        <p:nvSpPr>
          <p:cNvPr id="11" name="ZoneTexte 10">
            <a:extLst>
              <a:ext uri="{FF2B5EF4-FFF2-40B4-BE49-F238E27FC236}">
                <a16:creationId xmlns:a16="http://schemas.microsoft.com/office/drawing/2014/main" id="{F18E73D1-AADB-70FC-907A-CB8C5DFD60CC}"/>
              </a:ext>
            </a:extLst>
          </p:cNvPr>
          <p:cNvSpPr txBox="1"/>
          <p:nvPr/>
        </p:nvSpPr>
        <p:spPr>
          <a:xfrm>
            <a:off x="546100" y="4178756"/>
            <a:ext cx="8051800" cy="215444"/>
          </a:xfrm>
          <a:prstGeom prst="rect">
            <a:avLst/>
          </a:prstGeom>
          <a:noFill/>
        </p:spPr>
        <p:txBody>
          <a:bodyPr vert="horz" wrap="square" lIns="0" tIns="0" rIns="0" bIns="0" rtlCol="0">
            <a:noAutofit/>
          </a:bodyPr>
          <a:lstStyle/>
          <a:p>
            <a:pPr algn="ctr"/>
            <a:r>
              <a:rPr lang="en-US" sz="1000" b="1" i="1">
                <a:solidFill>
                  <a:srgbClr val="0E2F46"/>
                </a:solidFill>
                <a:latin typeface="Arial" panose="020B0604020202020204" pitchFamily="34" charset="0"/>
              </a:rPr>
              <a:t>M6 copies safely, but under-exposes the edits needed to lower CER.</a:t>
            </a:r>
            <a:endParaRPr lang="fr-FR" sz="1000" b="1" i="1" dirty="0">
              <a:solidFill>
                <a:srgbClr val="0E2F46"/>
              </a:solidFill>
              <a:latin typeface="Arial" panose="020B0604020202020204" pitchFamily="34" charset="0"/>
            </a:endParaRPr>
          </a:p>
        </p:txBody>
      </p:sp>
      <p:grpSp>
        <p:nvGrpSpPr>
          <p:cNvPr id="9" name="Groupe 8">
            <a:extLst>
              <a:ext uri="{FF2B5EF4-FFF2-40B4-BE49-F238E27FC236}">
                <a16:creationId xmlns:a16="http://schemas.microsoft.com/office/drawing/2014/main" id="{D487CAB5-6033-3853-6A33-34D495F3BE40}"/>
              </a:ext>
            </a:extLst>
          </p:cNvPr>
          <p:cNvGrpSpPr/>
          <p:nvPr/>
        </p:nvGrpSpPr>
        <p:grpSpPr>
          <a:xfrm>
            <a:off x="546100" y="310694"/>
            <a:ext cx="1308100" cy="292100"/>
            <a:chOff x="546100" y="317500"/>
            <a:chExt cx="1308100" cy="292100"/>
          </a:xfrm>
        </p:grpSpPr>
        <p:sp>
          <p:nvSpPr>
            <p:cNvPr id="12" name="Rectangle : coins arrondis 11">
              <a:extLst>
                <a:ext uri="{FF2B5EF4-FFF2-40B4-BE49-F238E27FC236}">
                  <a16:creationId xmlns:a16="http://schemas.microsoft.com/office/drawing/2014/main" id="{2C19C559-8A7E-3066-927C-8999A1C69D75}"/>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780569F4-AFF5-563C-6170-BAE50763C08D}"/>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Verdana" panose="020B0604030504040204" pitchFamily="34" charset="0"/>
                </a:rPr>
                <a:t>RESULTS</a:t>
              </a:r>
            </a:p>
          </p:txBody>
        </p:sp>
        <p:sp>
          <p:nvSpPr>
            <p:cNvPr id="14" name="Rectangle : coins arrondis 13">
              <a:extLst>
                <a:ext uri="{FF2B5EF4-FFF2-40B4-BE49-F238E27FC236}">
                  <a16:creationId xmlns:a16="http://schemas.microsoft.com/office/drawing/2014/main" id="{69CE0135-3ED7-12E4-CCCA-BD510A5983B6}"/>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DA3334B4-3C61-8E7D-C9F0-2C8956CFD0FC}"/>
                </a:ext>
              </a:extLst>
            </p:cNvPr>
            <p:cNvSpPr txBox="1"/>
            <p:nvPr/>
          </p:nvSpPr>
          <p:spPr>
            <a:xfrm>
              <a:off x="546100" y="374904"/>
              <a:ext cx="1308100" cy="215444"/>
            </a:xfrm>
            <a:prstGeom prst="rect">
              <a:avLst/>
            </a:prstGeom>
            <a:noFill/>
          </p:spPr>
          <p:txBody>
            <a:bodyPr vert="horz" wrap="square" lIns="0" tIns="0" rIns="0" bIns="0" rtlCol="0">
              <a:noAutofit/>
            </a:bodyPr>
            <a:lstStyle/>
            <a:p>
              <a:pPr algn="ctr"/>
              <a:r>
                <a:rPr lang="fr-FR" sz="760" b="1">
                  <a:solidFill>
                    <a:srgbClr val="FFFFFF"/>
                  </a:solidFill>
                  <a:latin typeface="Verdana" panose="020B0604030504040204" pitchFamily="34" charset="0"/>
                </a:rPr>
                <a:t>RESULTS</a:t>
              </a:r>
            </a:p>
          </p:txBody>
        </p:sp>
      </p:grpSp>
      <p:sp>
        <p:nvSpPr>
          <p:cNvPr id="2" name="Rectangle 1">
            <a:extLst>
              <a:ext uri="{FF2B5EF4-FFF2-40B4-BE49-F238E27FC236}">
                <a16:creationId xmlns:a16="http://schemas.microsoft.com/office/drawing/2014/main" id="{AC971FC2-BF1D-1E06-EE2D-8114037C8CF5}"/>
              </a:ext>
            </a:extLst>
          </p:cNvPr>
          <p:cNvSpPr/>
          <p:nvPr/>
        </p:nvSpPr>
        <p:spPr>
          <a:xfrm>
            <a:off x="5867400" y="1435100"/>
            <a:ext cx="2743200" cy="26035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766C9EBC-6B9D-ACF1-FAE0-B072A9E983D1}"/>
              </a:ext>
            </a:extLst>
          </p:cNvPr>
          <p:cNvSpPr/>
          <p:nvPr/>
        </p:nvSpPr>
        <p:spPr>
          <a:xfrm>
            <a:off x="5867400" y="1435100"/>
            <a:ext cx="2743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9CF89328-3B93-CAAF-8FF0-0EDFA91C8B50}"/>
              </a:ext>
            </a:extLst>
          </p:cNvPr>
          <p:cNvSpPr txBox="1"/>
          <p:nvPr/>
        </p:nvSpPr>
        <p:spPr>
          <a:xfrm>
            <a:off x="6019800" y="1574800"/>
            <a:ext cx="2438400" cy="215444"/>
          </a:xfrm>
          <a:prstGeom prst="rect">
            <a:avLst/>
          </a:prstGeom>
          <a:noFill/>
        </p:spPr>
        <p:txBody>
          <a:bodyPr vert="horz" wrap="square" lIns="0" tIns="0" rIns="0" bIns="0" rtlCol="0">
            <a:noAutofit/>
          </a:bodyPr>
          <a:lstStyle/>
          <a:p>
            <a:r>
              <a:rPr lang="fr-FR" sz="1000" b="1">
                <a:solidFill>
                  <a:srgbClr val="0E2F46"/>
                </a:solidFill>
                <a:latin typeface="Arial" panose="020B0604020202020204" pitchFamily="34" charset="0"/>
              </a:rPr>
              <a:t>WHY M6 LOSES CER</a:t>
            </a:r>
          </a:p>
        </p:txBody>
      </p:sp>
      <p:sp>
        <p:nvSpPr>
          <p:cNvPr id="18" name="ZoneTexte 17">
            <a:extLst>
              <a:ext uri="{FF2B5EF4-FFF2-40B4-BE49-F238E27FC236}">
                <a16:creationId xmlns:a16="http://schemas.microsoft.com/office/drawing/2014/main" id="{B3E168F7-78B8-8DA8-8CF8-2C1E76478A51}"/>
              </a:ext>
            </a:extLst>
          </p:cNvPr>
          <p:cNvSpPr txBox="1"/>
          <p:nvPr/>
        </p:nvSpPr>
        <p:spPr>
          <a:xfrm>
            <a:off x="6019800" y="1879600"/>
            <a:ext cx="2438400" cy="215444"/>
          </a:xfrm>
          <a:prstGeom prst="rect">
            <a:avLst/>
          </a:prstGeom>
          <a:noFill/>
        </p:spPr>
        <p:txBody>
          <a:bodyPr vert="horz" wrap="square" lIns="0" tIns="0" rIns="0" bIns="0" rtlCol="0">
            <a:noAutofit/>
          </a:bodyPr>
          <a:lstStyle/>
          <a:p>
            <a:r>
              <a:rPr lang="fr-FR" sz="1800" b="1">
                <a:solidFill>
                  <a:srgbClr val="976F1D"/>
                </a:solidFill>
                <a:latin typeface="Arial" panose="020B0604020202020204" pitchFamily="34" charset="0"/>
              </a:rPr>
              <a:t>95.6% KEEP</a:t>
            </a:r>
          </a:p>
        </p:txBody>
      </p:sp>
      <p:sp>
        <p:nvSpPr>
          <p:cNvPr id="19" name="ZoneTexte 18">
            <a:extLst>
              <a:ext uri="{FF2B5EF4-FFF2-40B4-BE49-F238E27FC236}">
                <a16:creationId xmlns:a16="http://schemas.microsoft.com/office/drawing/2014/main" id="{6642D784-8F9E-5FD1-D450-AADA0B1E71E7}"/>
              </a:ext>
            </a:extLst>
          </p:cNvPr>
          <p:cNvSpPr txBox="1"/>
          <p:nvPr/>
        </p:nvSpPr>
        <p:spPr>
          <a:xfrm>
            <a:off x="6019800" y="2247900"/>
            <a:ext cx="2438400" cy="215444"/>
          </a:xfrm>
          <a:prstGeom prst="rect">
            <a:avLst/>
          </a:prstGeom>
          <a:noFill/>
        </p:spPr>
        <p:txBody>
          <a:bodyPr vert="horz" wrap="square" lIns="0" tIns="0" rIns="0" bIns="0" rtlCol="0">
            <a:noAutofit/>
          </a:bodyPr>
          <a:lstStyle/>
          <a:p>
            <a:r>
              <a:rPr lang="fr-FR" sz="820">
                <a:solidFill>
                  <a:srgbClr val="1C1F25"/>
                </a:solidFill>
                <a:latin typeface="Arial" panose="020B0604020202020204" pitchFamily="34" charset="0"/>
              </a:rPr>
              <a:t>Gold train: 81.1% KEEP</a:t>
            </a:r>
          </a:p>
        </p:txBody>
      </p:sp>
      <p:cxnSp>
        <p:nvCxnSpPr>
          <p:cNvPr id="20" name="Connecteur droit 19">
            <a:extLst>
              <a:ext uri="{FF2B5EF4-FFF2-40B4-BE49-F238E27FC236}">
                <a16:creationId xmlns:a16="http://schemas.microsoft.com/office/drawing/2014/main" id="{1015AA4F-F1AE-DA58-FA1D-C37588DE9C41}"/>
              </a:ext>
            </a:extLst>
          </p:cNvPr>
          <p:cNvCxnSpPr/>
          <p:nvPr/>
        </p:nvCxnSpPr>
        <p:spPr>
          <a:xfrm>
            <a:off x="6019800" y="2501900"/>
            <a:ext cx="2438400" cy="0"/>
          </a:xfrm>
          <a:prstGeom prst="line">
            <a:avLst/>
          </a:prstGeom>
          <a:ln w="10160">
            <a:solidFill>
              <a:srgbClr val="C7CCD6"/>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3117F855-0170-50E2-5604-8568DAFE66E8}"/>
              </a:ext>
            </a:extLst>
          </p:cNvPr>
          <p:cNvSpPr txBox="1"/>
          <p:nvPr/>
        </p:nvSpPr>
        <p:spPr>
          <a:xfrm>
            <a:off x="6019800" y="2628900"/>
            <a:ext cx="2438400" cy="215444"/>
          </a:xfrm>
          <a:prstGeom prst="rect">
            <a:avLst/>
          </a:prstGeom>
          <a:noFill/>
        </p:spPr>
        <p:txBody>
          <a:bodyPr vert="horz" wrap="square" lIns="0" tIns="0" rIns="0" bIns="0" rtlCol="0">
            <a:noAutofit/>
          </a:bodyPr>
          <a:lstStyle/>
          <a:p>
            <a:r>
              <a:rPr lang="en-US" sz="800">
                <a:solidFill>
                  <a:srgbClr val="1C1F25"/>
                </a:solidFill>
                <a:latin typeface="Arial" panose="020B0604020202020204" pitchFamily="34" charset="0"/>
              </a:rPr>
              <a:t>SUBSTITUTE   1.25%   ·   Gold 9.32%
EXPAND          0.69%   ·   Gold 3.26%
Spacing merges: 0.4% of rows</a:t>
            </a:r>
            <a:endParaRPr lang="fr-FR" sz="800">
              <a:solidFill>
                <a:srgbClr val="1C1F25"/>
              </a:solidFill>
              <a:latin typeface="Arial" panose="020B0604020202020204" pitchFamily="34" charset="0"/>
            </a:endParaRPr>
          </a:p>
        </p:txBody>
      </p:sp>
      <p:cxnSp>
        <p:nvCxnSpPr>
          <p:cNvPr id="22" name="Connecteur droit 21">
            <a:extLst>
              <a:ext uri="{FF2B5EF4-FFF2-40B4-BE49-F238E27FC236}">
                <a16:creationId xmlns:a16="http://schemas.microsoft.com/office/drawing/2014/main" id="{D7645848-D993-756A-99D1-A8AE6ECC26C3}"/>
              </a:ext>
            </a:extLst>
          </p:cNvPr>
          <p:cNvCxnSpPr/>
          <p:nvPr/>
        </p:nvCxnSpPr>
        <p:spPr>
          <a:xfrm>
            <a:off x="6019800" y="3340100"/>
            <a:ext cx="2438400" cy="0"/>
          </a:xfrm>
          <a:prstGeom prst="line">
            <a:avLst/>
          </a:prstGeom>
          <a:ln w="10160">
            <a:solidFill>
              <a:srgbClr val="C7CCD6"/>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F8BC95A7-75D6-27CF-F164-2D91AA2EE646}"/>
              </a:ext>
            </a:extLst>
          </p:cNvPr>
          <p:cNvSpPr txBox="1"/>
          <p:nvPr/>
        </p:nvSpPr>
        <p:spPr>
          <a:xfrm>
            <a:off x="6019800" y="3479800"/>
            <a:ext cx="2438400" cy="215444"/>
          </a:xfrm>
          <a:prstGeom prst="rect">
            <a:avLst/>
          </a:prstGeom>
          <a:noFill/>
        </p:spPr>
        <p:txBody>
          <a:bodyPr vert="horz" wrap="square" lIns="0" tIns="0" rIns="0" bIns="0" rtlCol="0">
            <a:noAutofit/>
          </a:bodyPr>
          <a:lstStyle/>
          <a:p>
            <a:r>
              <a:rPr lang="en-US" sz="870" b="1">
                <a:solidFill>
                  <a:srgbClr val="0E2F46"/>
                </a:solidFill>
                <a:latin typeface="Arial" panose="020B0604020202020204" pitchFamily="34" charset="0"/>
              </a:rPr>
              <a:t>WER 0.592 · best synthetic
CER 0.206 · fourth of five</a:t>
            </a:r>
            <a:endParaRPr lang="fr-FR" sz="870" b="1">
              <a:solidFill>
                <a:srgbClr val="0E2F46"/>
              </a:solidFill>
              <a:latin typeface="Arial" panose="020B0604020202020204" pitchFamily="34" charset="0"/>
            </a:endParaRPr>
          </a:p>
        </p:txBody>
      </p:sp>
      <p:sp>
        <p:nvSpPr>
          <p:cNvPr id="17" name="Rectangle 16">
            <a:extLst>
              <a:ext uri="{FF2B5EF4-FFF2-40B4-BE49-F238E27FC236}">
                <a16:creationId xmlns:a16="http://schemas.microsoft.com/office/drawing/2014/main" id="{233380B0-E085-2C1F-ABE6-8714F362C190}"/>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FB009704-0E68-2BEF-77C1-65011C8001FA}"/>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210AC6C8-EF3D-FFFD-5C33-6BCB252E91D8}"/>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Results</a:t>
            </a:r>
          </a:p>
        </p:txBody>
      </p:sp>
      <p:sp>
        <p:nvSpPr>
          <p:cNvPr id="4" name="ZoneTexte 3">
            <a:extLst>
              <a:ext uri="{FF2B5EF4-FFF2-40B4-BE49-F238E27FC236}">
                <a16:creationId xmlns:a16="http://schemas.microsoft.com/office/drawing/2014/main" id="{E79C2398-38EB-8EBE-40DB-1DC6406CED4E}"/>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Edit density explains M1/M4 gains and M6's shortfall</a:t>
            </a:r>
            <a:endParaRPr lang="fr-FR" sz="1900" b="1">
              <a:solidFill>
                <a:srgbClr val="57658D"/>
              </a:solidFill>
              <a:latin typeface="Arial" panose="020B0604020202020204" pitchFamily="34" charset="0"/>
            </a:endParaRPr>
          </a:p>
        </p:txBody>
      </p:sp>
      <p:sp>
        <p:nvSpPr>
          <p:cNvPr id="26" name="ZoneTexte 25">
            <a:extLst>
              <a:ext uri="{FF2B5EF4-FFF2-40B4-BE49-F238E27FC236}">
                <a16:creationId xmlns:a16="http://schemas.microsoft.com/office/drawing/2014/main" id="{D7C14B66-C23D-591D-7ED2-ECC1D833D2A8}"/>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7" name="ZoneTexte 26">
            <a:extLst>
              <a:ext uri="{FF2B5EF4-FFF2-40B4-BE49-F238E27FC236}">
                <a16:creationId xmlns:a16="http://schemas.microsoft.com/office/drawing/2014/main" id="{0CF4785B-BD2C-3386-E6C9-3297D29FB754}"/>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Operation profiles</a:t>
            </a:r>
          </a:p>
        </p:txBody>
      </p:sp>
      <p:sp>
        <p:nvSpPr>
          <p:cNvPr id="28" name="ZoneTexte 27">
            <a:extLst>
              <a:ext uri="{FF2B5EF4-FFF2-40B4-BE49-F238E27FC236}">
                <a16:creationId xmlns:a16="http://schemas.microsoft.com/office/drawing/2014/main" id="{B5D5B44F-570F-C32E-8091-C96D8D6C0B25}"/>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16 / 36</a:t>
            </a:r>
          </a:p>
        </p:txBody>
      </p:sp>
      <p:pic>
        <p:nvPicPr>
          <p:cNvPr id="30" name="Image 29">
            <a:extLst>
              <a:ext uri="{FF2B5EF4-FFF2-40B4-BE49-F238E27FC236}">
                <a16:creationId xmlns:a16="http://schemas.microsoft.com/office/drawing/2014/main" id="{E947C5AC-27C9-A873-690F-6599973813E9}"/>
              </a:ext>
            </a:extLst>
          </p:cNvPr>
          <p:cNvPicPr>
            <a:picLocks/>
          </p:cNvPicPr>
          <p:nvPr/>
        </p:nvPicPr>
        <p:blipFill>
          <a:blip r:embed="rId4"/>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296901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DA7905C5-8984-C130-6140-3F6143F25D09}"/>
              </a:ext>
            </a:extLst>
          </p:cNvPr>
          <p:cNvSpPr/>
          <p:nvPr/>
        </p:nvSpPr>
        <p:spPr>
          <a:xfrm>
            <a:off x="546100" y="317500"/>
            <a:ext cx="1308100" cy="292100"/>
          </a:xfrm>
          <a:prstGeom prst="roundRect">
            <a:avLst/>
          </a:prstGeom>
          <a:solidFill>
            <a:srgbClr val="002060"/>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41FE6FA-B3B4-52D0-0113-A952C30E83D5}"/>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RESULTS</a:t>
            </a:r>
          </a:p>
        </p:txBody>
      </p:sp>
      <p:sp>
        <p:nvSpPr>
          <p:cNvPr id="4" name="ZoneTexte 3">
            <a:extLst>
              <a:ext uri="{FF2B5EF4-FFF2-40B4-BE49-F238E27FC236}">
                <a16:creationId xmlns:a16="http://schemas.microsoft.com/office/drawing/2014/main" id="{E7B2D8B4-0BA1-09D5-88F0-96C517429347}"/>
              </a:ext>
            </a:extLst>
          </p:cNvPr>
          <p:cNvSpPr txBox="1"/>
          <p:nvPr/>
        </p:nvSpPr>
        <p:spPr>
          <a:xfrm>
            <a:off x="546100" y="749300"/>
            <a:ext cx="8064500" cy="457200"/>
          </a:xfrm>
          <a:prstGeom prst="rect">
            <a:avLst/>
          </a:prstGeom>
          <a:noFill/>
        </p:spPr>
        <p:txBody>
          <a:bodyPr vert="horz" wrap="square" lIns="0" tIns="0" rIns="0" bIns="0" rtlCol="0">
            <a:noAutofit/>
          </a:bodyPr>
          <a:lstStyle/>
          <a:p>
            <a:r>
              <a:rPr lang="fr-FR" sz="1900" b="1">
                <a:solidFill>
                  <a:srgbClr val="57658D"/>
                </a:solidFill>
                <a:latin typeface="Arial" panose="020B0604020202020204" pitchFamily="34" charset="0"/>
              </a:rPr>
              <a:t>Overcorrection reveals calibration failures</a:t>
            </a:r>
          </a:p>
        </p:txBody>
      </p:sp>
      <p:sp>
        <p:nvSpPr>
          <p:cNvPr id="9" name="ZoneTexte 8">
            <a:extLst>
              <a:ext uri="{FF2B5EF4-FFF2-40B4-BE49-F238E27FC236}">
                <a16:creationId xmlns:a16="http://schemas.microsoft.com/office/drawing/2014/main" id="{999D2A5F-3108-22D9-8562-80B1C2DE1046}"/>
              </a:ext>
            </a:extLst>
          </p:cNvPr>
          <p:cNvSpPr txBox="1"/>
          <p:nvPr/>
        </p:nvSpPr>
        <p:spPr>
          <a:xfrm>
            <a:off x="736600" y="1346200"/>
            <a:ext cx="4191000" cy="215444"/>
          </a:xfrm>
          <a:prstGeom prst="rect">
            <a:avLst/>
          </a:prstGeom>
          <a:noFill/>
        </p:spPr>
        <p:txBody>
          <a:bodyPr vert="horz" wrap="square" lIns="0" tIns="0" rIns="0" bIns="0" rtlCol="0">
            <a:noAutofit/>
          </a:bodyPr>
          <a:lstStyle/>
          <a:p>
            <a:r>
              <a:rPr lang="en-US" sz="1000" b="1">
                <a:solidFill>
                  <a:srgbClr val="58658B"/>
                </a:solidFill>
                <a:latin typeface="Arial" panose="020B0604020202020204" pitchFamily="34" charset="0"/>
              </a:rPr>
              <a:t>False exact edits / proposed edits</a:t>
            </a:r>
            <a:endParaRPr lang="fr-FR" sz="1000" b="1">
              <a:solidFill>
                <a:srgbClr val="58658B"/>
              </a:solidFill>
              <a:latin typeface="Arial" panose="020B0604020202020204" pitchFamily="34" charset="0"/>
            </a:endParaRPr>
          </a:p>
        </p:txBody>
      </p:sp>
      <p:sp>
        <p:nvSpPr>
          <p:cNvPr id="10" name="ZoneTexte 9">
            <a:extLst>
              <a:ext uri="{FF2B5EF4-FFF2-40B4-BE49-F238E27FC236}">
                <a16:creationId xmlns:a16="http://schemas.microsoft.com/office/drawing/2014/main" id="{116B1F96-24A2-94BF-DA63-D97FC0B27107}"/>
              </a:ext>
            </a:extLst>
          </p:cNvPr>
          <p:cNvSpPr txBox="1"/>
          <p:nvPr/>
        </p:nvSpPr>
        <p:spPr>
          <a:xfrm>
            <a:off x="215900" y="17399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M1</a:t>
            </a:r>
          </a:p>
        </p:txBody>
      </p:sp>
      <p:sp>
        <p:nvSpPr>
          <p:cNvPr id="11" name="Rectangle 10">
            <a:extLst>
              <a:ext uri="{FF2B5EF4-FFF2-40B4-BE49-F238E27FC236}">
                <a16:creationId xmlns:a16="http://schemas.microsoft.com/office/drawing/2014/main" id="{DFD5F6D3-C80F-8C29-2E46-F2686CE7ED70}"/>
              </a:ext>
            </a:extLst>
          </p:cNvPr>
          <p:cNvSpPr/>
          <p:nvPr/>
        </p:nvSpPr>
        <p:spPr>
          <a:xfrm>
            <a:off x="1155700" y="1714500"/>
            <a:ext cx="32004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30211E88-D9E8-3964-139D-FC7C99982795}"/>
              </a:ext>
            </a:extLst>
          </p:cNvPr>
          <p:cNvSpPr/>
          <p:nvPr/>
        </p:nvSpPr>
        <p:spPr>
          <a:xfrm>
            <a:off x="1155700" y="1714500"/>
            <a:ext cx="3107589"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E86964F0-0FA6-784B-8BF5-2DA37A04D325}"/>
              </a:ext>
            </a:extLst>
          </p:cNvPr>
          <p:cNvSpPr txBox="1"/>
          <p:nvPr/>
        </p:nvSpPr>
        <p:spPr>
          <a:xfrm>
            <a:off x="4457700" y="17399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97.1% · 66/68</a:t>
            </a:r>
          </a:p>
        </p:txBody>
      </p:sp>
      <p:sp>
        <p:nvSpPr>
          <p:cNvPr id="14" name="ZoneTexte 13">
            <a:extLst>
              <a:ext uri="{FF2B5EF4-FFF2-40B4-BE49-F238E27FC236}">
                <a16:creationId xmlns:a16="http://schemas.microsoft.com/office/drawing/2014/main" id="{16445F7D-5B69-EE36-FEB7-849B55544DD5}"/>
              </a:ext>
            </a:extLst>
          </p:cNvPr>
          <p:cNvSpPr txBox="1"/>
          <p:nvPr/>
        </p:nvSpPr>
        <p:spPr>
          <a:xfrm>
            <a:off x="215900" y="21336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M2</a:t>
            </a:r>
          </a:p>
        </p:txBody>
      </p:sp>
      <p:sp>
        <p:nvSpPr>
          <p:cNvPr id="15" name="Rectangle 14">
            <a:extLst>
              <a:ext uri="{FF2B5EF4-FFF2-40B4-BE49-F238E27FC236}">
                <a16:creationId xmlns:a16="http://schemas.microsoft.com/office/drawing/2014/main" id="{BB5D0F17-1D8A-310D-A2DA-ADD4C1A51DE2}"/>
              </a:ext>
            </a:extLst>
          </p:cNvPr>
          <p:cNvSpPr/>
          <p:nvPr/>
        </p:nvSpPr>
        <p:spPr>
          <a:xfrm>
            <a:off x="1155700" y="2108200"/>
            <a:ext cx="32004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5FFDC772-F7FC-01FA-4DD4-D40D94D6C499}"/>
              </a:ext>
            </a:extLst>
          </p:cNvPr>
          <p:cNvSpPr/>
          <p:nvPr/>
        </p:nvSpPr>
        <p:spPr>
          <a:xfrm>
            <a:off x="1155700" y="2108200"/>
            <a:ext cx="3200400"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81F69A7F-D817-6665-0B87-8FD3CDEC5F32}"/>
              </a:ext>
            </a:extLst>
          </p:cNvPr>
          <p:cNvSpPr txBox="1"/>
          <p:nvPr/>
        </p:nvSpPr>
        <p:spPr>
          <a:xfrm>
            <a:off x="4457700" y="21336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100% · 59/59</a:t>
            </a:r>
          </a:p>
        </p:txBody>
      </p:sp>
      <p:sp>
        <p:nvSpPr>
          <p:cNvPr id="18" name="ZoneTexte 17">
            <a:extLst>
              <a:ext uri="{FF2B5EF4-FFF2-40B4-BE49-F238E27FC236}">
                <a16:creationId xmlns:a16="http://schemas.microsoft.com/office/drawing/2014/main" id="{577AFE82-E822-DB0D-AFF5-D8442A6849D3}"/>
              </a:ext>
            </a:extLst>
          </p:cNvPr>
          <p:cNvSpPr txBox="1"/>
          <p:nvPr/>
        </p:nvSpPr>
        <p:spPr>
          <a:xfrm>
            <a:off x="215900" y="25273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M3</a:t>
            </a:r>
          </a:p>
        </p:txBody>
      </p:sp>
      <p:sp>
        <p:nvSpPr>
          <p:cNvPr id="19" name="Rectangle 18">
            <a:extLst>
              <a:ext uri="{FF2B5EF4-FFF2-40B4-BE49-F238E27FC236}">
                <a16:creationId xmlns:a16="http://schemas.microsoft.com/office/drawing/2014/main" id="{A9944ED5-37A4-158B-BE8E-2B43D4982D3A}"/>
              </a:ext>
            </a:extLst>
          </p:cNvPr>
          <p:cNvSpPr/>
          <p:nvPr/>
        </p:nvSpPr>
        <p:spPr>
          <a:xfrm>
            <a:off x="1155700" y="2501900"/>
            <a:ext cx="32004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3AE44FC9-EBB8-3A6B-F953-D4EB5DB2DE4A}"/>
              </a:ext>
            </a:extLst>
          </p:cNvPr>
          <p:cNvSpPr/>
          <p:nvPr/>
        </p:nvSpPr>
        <p:spPr>
          <a:xfrm>
            <a:off x="1155700" y="2501900"/>
            <a:ext cx="3152394"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549C7814-07E9-3F41-0758-8D61944F7DF4}"/>
              </a:ext>
            </a:extLst>
          </p:cNvPr>
          <p:cNvSpPr txBox="1"/>
          <p:nvPr/>
        </p:nvSpPr>
        <p:spPr>
          <a:xfrm>
            <a:off x="4457700" y="25273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98.5% · 67/68</a:t>
            </a:r>
          </a:p>
        </p:txBody>
      </p:sp>
      <p:sp>
        <p:nvSpPr>
          <p:cNvPr id="22" name="ZoneTexte 21">
            <a:extLst>
              <a:ext uri="{FF2B5EF4-FFF2-40B4-BE49-F238E27FC236}">
                <a16:creationId xmlns:a16="http://schemas.microsoft.com/office/drawing/2014/main" id="{58620FA0-82B2-4A22-5BF9-CA2D6C703170}"/>
              </a:ext>
            </a:extLst>
          </p:cNvPr>
          <p:cNvSpPr txBox="1"/>
          <p:nvPr/>
        </p:nvSpPr>
        <p:spPr>
          <a:xfrm>
            <a:off x="215900" y="2921000"/>
            <a:ext cx="863600" cy="215444"/>
          </a:xfrm>
          <a:prstGeom prst="rect">
            <a:avLst/>
          </a:prstGeom>
          <a:noFill/>
        </p:spPr>
        <p:txBody>
          <a:bodyPr vert="horz" wrap="square" lIns="0" tIns="0" rIns="0" bIns="0" rtlCol="0">
            <a:noAutofit/>
          </a:bodyPr>
          <a:lstStyle/>
          <a:p>
            <a:pPr algn="r"/>
            <a:r>
              <a:rPr lang="fr-FR" sz="900" b="1">
                <a:solidFill>
                  <a:srgbClr val="0E2F46"/>
                </a:solidFill>
                <a:latin typeface="Arial" panose="020B0604020202020204" pitchFamily="34" charset="0"/>
              </a:rPr>
              <a:t>M4</a:t>
            </a:r>
          </a:p>
        </p:txBody>
      </p:sp>
      <p:sp>
        <p:nvSpPr>
          <p:cNvPr id="23" name="Rectangle 22">
            <a:extLst>
              <a:ext uri="{FF2B5EF4-FFF2-40B4-BE49-F238E27FC236}">
                <a16:creationId xmlns:a16="http://schemas.microsoft.com/office/drawing/2014/main" id="{A36CB39D-322F-F0A7-23DA-7C08CEDF220D}"/>
              </a:ext>
            </a:extLst>
          </p:cNvPr>
          <p:cNvSpPr/>
          <p:nvPr/>
        </p:nvSpPr>
        <p:spPr>
          <a:xfrm>
            <a:off x="1155700" y="2895600"/>
            <a:ext cx="32004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02C532C3-62CC-8C37-F241-6B978096827D}"/>
              </a:ext>
            </a:extLst>
          </p:cNvPr>
          <p:cNvSpPr/>
          <p:nvPr/>
        </p:nvSpPr>
        <p:spPr>
          <a:xfrm>
            <a:off x="1155700" y="2895600"/>
            <a:ext cx="3145993" cy="1905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466318B1-BE19-378B-E1BF-B905CB0CF67C}"/>
              </a:ext>
            </a:extLst>
          </p:cNvPr>
          <p:cNvSpPr txBox="1"/>
          <p:nvPr/>
        </p:nvSpPr>
        <p:spPr>
          <a:xfrm>
            <a:off x="4457700" y="29210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98.3% · 57/58</a:t>
            </a:r>
          </a:p>
        </p:txBody>
      </p:sp>
      <p:sp>
        <p:nvSpPr>
          <p:cNvPr id="26" name="ZoneTexte 25">
            <a:extLst>
              <a:ext uri="{FF2B5EF4-FFF2-40B4-BE49-F238E27FC236}">
                <a16:creationId xmlns:a16="http://schemas.microsoft.com/office/drawing/2014/main" id="{0BF27C68-EC5F-119F-1628-71857B1326FD}"/>
              </a:ext>
            </a:extLst>
          </p:cNvPr>
          <p:cNvSpPr txBox="1"/>
          <p:nvPr/>
        </p:nvSpPr>
        <p:spPr>
          <a:xfrm>
            <a:off x="215900" y="3314700"/>
            <a:ext cx="863600" cy="215444"/>
          </a:xfrm>
          <a:prstGeom prst="rect">
            <a:avLst/>
          </a:prstGeom>
          <a:noFill/>
        </p:spPr>
        <p:txBody>
          <a:bodyPr vert="horz" wrap="square" lIns="0" tIns="0" rIns="0" bIns="0" rtlCol="0">
            <a:noAutofit/>
          </a:bodyPr>
          <a:lstStyle/>
          <a:p>
            <a:pPr algn="r"/>
            <a:r>
              <a:rPr lang="fr-FR" sz="900" b="1">
                <a:solidFill>
                  <a:srgbClr val="976F1D"/>
                </a:solidFill>
                <a:latin typeface="Arial" panose="020B0604020202020204" pitchFamily="34" charset="0"/>
              </a:rPr>
              <a:t>M6</a:t>
            </a:r>
          </a:p>
        </p:txBody>
      </p:sp>
      <p:sp>
        <p:nvSpPr>
          <p:cNvPr id="27" name="Rectangle 26">
            <a:extLst>
              <a:ext uri="{FF2B5EF4-FFF2-40B4-BE49-F238E27FC236}">
                <a16:creationId xmlns:a16="http://schemas.microsoft.com/office/drawing/2014/main" id="{1EFD0867-688B-7834-D5A8-6400F4672634}"/>
              </a:ext>
            </a:extLst>
          </p:cNvPr>
          <p:cNvSpPr/>
          <p:nvPr/>
        </p:nvSpPr>
        <p:spPr>
          <a:xfrm>
            <a:off x="1155700" y="3289300"/>
            <a:ext cx="3200400" cy="190500"/>
          </a:xfrm>
          <a:prstGeom prst="rect">
            <a:avLst/>
          </a:prstGeom>
          <a:solidFill>
            <a:srgbClr val="E8EBF1"/>
          </a:solidFill>
          <a:ln w="0">
            <a:solidFill>
              <a:srgbClr val="E8EB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F7A44062-8346-487E-9186-4C8C7C0D3D91}"/>
              </a:ext>
            </a:extLst>
          </p:cNvPr>
          <p:cNvSpPr/>
          <p:nvPr/>
        </p:nvSpPr>
        <p:spPr>
          <a:xfrm>
            <a:off x="1155700" y="3289300"/>
            <a:ext cx="3088386" cy="1905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51D07769-776F-5A26-3995-710839693F2A}"/>
              </a:ext>
            </a:extLst>
          </p:cNvPr>
          <p:cNvSpPr txBox="1"/>
          <p:nvPr/>
        </p:nvSpPr>
        <p:spPr>
          <a:xfrm>
            <a:off x="4457700" y="3314700"/>
            <a:ext cx="825500" cy="215444"/>
          </a:xfrm>
          <a:prstGeom prst="rect">
            <a:avLst/>
          </a:prstGeom>
          <a:noFill/>
        </p:spPr>
        <p:txBody>
          <a:bodyPr vert="horz" wrap="square" lIns="0" tIns="0" rIns="0" bIns="0" rtlCol="0">
            <a:noAutofit/>
          </a:bodyPr>
          <a:lstStyle/>
          <a:p>
            <a:r>
              <a:rPr lang="fr-FR" sz="900" b="1">
                <a:solidFill>
                  <a:srgbClr val="1C1F25"/>
                </a:solidFill>
                <a:latin typeface="Arial" panose="020B0604020202020204" pitchFamily="34" charset="0"/>
              </a:rPr>
              <a:t>96.5% · 55/57</a:t>
            </a:r>
          </a:p>
        </p:txBody>
      </p:sp>
      <p:sp>
        <p:nvSpPr>
          <p:cNvPr id="34" name="Rectangle 33">
            <a:extLst>
              <a:ext uri="{FF2B5EF4-FFF2-40B4-BE49-F238E27FC236}">
                <a16:creationId xmlns:a16="http://schemas.microsoft.com/office/drawing/2014/main" id="{D601E1E0-AC1F-512B-811D-D79420D55DAA}"/>
              </a:ext>
            </a:extLst>
          </p:cNvPr>
          <p:cNvSpPr/>
          <p:nvPr/>
        </p:nvSpPr>
        <p:spPr>
          <a:xfrm>
            <a:off x="5422900" y="2400300"/>
            <a:ext cx="3124200" cy="8509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34">
            <a:extLst>
              <a:ext uri="{FF2B5EF4-FFF2-40B4-BE49-F238E27FC236}">
                <a16:creationId xmlns:a16="http://schemas.microsoft.com/office/drawing/2014/main" id="{0FE40EE9-2D7C-788F-AD2C-05BD1A39B0B7}"/>
              </a:ext>
            </a:extLst>
          </p:cNvPr>
          <p:cNvSpPr/>
          <p:nvPr/>
        </p:nvSpPr>
        <p:spPr>
          <a:xfrm>
            <a:off x="5422900" y="2400300"/>
            <a:ext cx="3124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8AC708A3-0C26-D6A5-FCEF-A9631C536053}"/>
              </a:ext>
            </a:extLst>
          </p:cNvPr>
          <p:cNvSpPr txBox="1"/>
          <p:nvPr/>
        </p:nvSpPr>
        <p:spPr>
          <a:xfrm>
            <a:off x="5562600" y="2527300"/>
            <a:ext cx="2844800" cy="215444"/>
          </a:xfrm>
          <a:prstGeom prst="rect">
            <a:avLst/>
          </a:prstGeom>
          <a:noFill/>
        </p:spPr>
        <p:txBody>
          <a:bodyPr vert="horz" wrap="square" lIns="0" tIns="0" rIns="0" bIns="0" rtlCol="0">
            <a:noAutofit/>
          </a:bodyPr>
          <a:lstStyle/>
          <a:p>
            <a:r>
              <a:rPr lang="fr-FR" sz="960" b="1">
                <a:solidFill>
                  <a:srgbClr val="0E2F46"/>
                </a:solidFill>
                <a:latin typeface="Arial" panose="020B0604020202020204" pitchFamily="34" charset="0"/>
              </a:rPr>
              <a:t>M2 · BROAD INSERTION</a:t>
            </a:r>
          </a:p>
        </p:txBody>
      </p:sp>
      <p:sp>
        <p:nvSpPr>
          <p:cNvPr id="37" name="ZoneTexte 36">
            <a:extLst>
              <a:ext uri="{FF2B5EF4-FFF2-40B4-BE49-F238E27FC236}">
                <a16:creationId xmlns:a16="http://schemas.microsoft.com/office/drawing/2014/main" id="{948EBCF9-5E8D-C3F7-9B15-86299E184A36}"/>
              </a:ext>
            </a:extLst>
          </p:cNvPr>
          <p:cNvSpPr txBox="1"/>
          <p:nvPr/>
        </p:nvSpPr>
        <p:spPr>
          <a:xfrm>
            <a:off x="5562600" y="2806700"/>
            <a:ext cx="2844800" cy="215444"/>
          </a:xfrm>
          <a:prstGeom prst="rect">
            <a:avLst/>
          </a:prstGeom>
          <a:noFill/>
        </p:spPr>
        <p:txBody>
          <a:bodyPr vert="horz" wrap="square" lIns="0" tIns="0" rIns="0" bIns="0" rtlCol="0">
            <a:noAutofit/>
          </a:bodyPr>
          <a:lstStyle/>
          <a:p>
            <a:r>
              <a:rPr lang="en-US" sz="810" dirty="0">
                <a:solidFill>
                  <a:srgbClr val="1C1F25"/>
                </a:solidFill>
                <a:latin typeface="Arial" panose="020B0604020202020204" pitchFamily="34" charset="0"/>
              </a:rPr>
              <a:t>French inserted into 3,148/3,330 rows (94.5%; 2.62/row). CER and WER do not beat M1.</a:t>
            </a:r>
            <a:endParaRPr lang="fr-FR" sz="810" dirty="0">
              <a:solidFill>
                <a:srgbClr val="1C1F25"/>
              </a:solidFill>
              <a:latin typeface="Arial" panose="020B0604020202020204" pitchFamily="34" charset="0"/>
            </a:endParaRPr>
          </a:p>
        </p:txBody>
      </p:sp>
      <p:sp>
        <p:nvSpPr>
          <p:cNvPr id="38" name="Rectangle 37">
            <a:extLst>
              <a:ext uri="{FF2B5EF4-FFF2-40B4-BE49-F238E27FC236}">
                <a16:creationId xmlns:a16="http://schemas.microsoft.com/office/drawing/2014/main" id="{7027FC63-02B3-8B0F-601B-F28F5AD579DC}"/>
              </a:ext>
            </a:extLst>
          </p:cNvPr>
          <p:cNvSpPr/>
          <p:nvPr/>
        </p:nvSpPr>
        <p:spPr>
          <a:xfrm>
            <a:off x="5422900" y="3390900"/>
            <a:ext cx="3124200" cy="8509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D4885F5B-D9F3-76EF-538A-DF05BBBDBE5A}"/>
              </a:ext>
            </a:extLst>
          </p:cNvPr>
          <p:cNvSpPr/>
          <p:nvPr/>
        </p:nvSpPr>
        <p:spPr>
          <a:xfrm>
            <a:off x="5422900" y="3390900"/>
            <a:ext cx="3124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32B3EEC5-58E1-89DA-AC2E-194BDCECDF56}"/>
              </a:ext>
            </a:extLst>
          </p:cNvPr>
          <p:cNvSpPr txBox="1"/>
          <p:nvPr/>
        </p:nvSpPr>
        <p:spPr>
          <a:xfrm>
            <a:off x="5562600" y="3517900"/>
            <a:ext cx="2844800" cy="215444"/>
          </a:xfrm>
          <a:prstGeom prst="rect">
            <a:avLst/>
          </a:prstGeom>
          <a:noFill/>
        </p:spPr>
        <p:txBody>
          <a:bodyPr vert="horz" wrap="square" lIns="0" tIns="0" rIns="0" bIns="0" rtlCol="0">
            <a:noAutofit/>
          </a:bodyPr>
          <a:lstStyle/>
          <a:p>
            <a:r>
              <a:rPr lang="fr-FR" sz="940" b="1">
                <a:solidFill>
                  <a:srgbClr val="0E2F46"/>
                </a:solidFill>
                <a:latin typeface="Arial" panose="020B0604020202020204" pitchFamily="34" charset="0"/>
              </a:rPr>
              <a:t>M3 · SELECTIVE BUT UNSAFE</a:t>
            </a:r>
          </a:p>
        </p:txBody>
      </p:sp>
      <p:sp>
        <p:nvSpPr>
          <p:cNvPr id="41" name="ZoneTexte 40">
            <a:extLst>
              <a:ext uri="{FF2B5EF4-FFF2-40B4-BE49-F238E27FC236}">
                <a16:creationId xmlns:a16="http://schemas.microsoft.com/office/drawing/2014/main" id="{43760C48-05A3-AF07-F98D-4EBC3C4818EE}"/>
              </a:ext>
            </a:extLst>
          </p:cNvPr>
          <p:cNvSpPr txBox="1"/>
          <p:nvPr/>
        </p:nvSpPr>
        <p:spPr>
          <a:xfrm>
            <a:off x="5562600" y="3797300"/>
            <a:ext cx="2844800" cy="215444"/>
          </a:xfrm>
          <a:prstGeom prst="rect">
            <a:avLst/>
          </a:prstGeom>
          <a:noFill/>
        </p:spPr>
        <p:txBody>
          <a:bodyPr vert="horz" wrap="square" lIns="0" tIns="0" rIns="0" bIns="0" rtlCol="0">
            <a:noAutofit/>
          </a:bodyPr>
          <a:lstStyle/>
          <a:p>
            <a:r>
              <a:rPr lang="en-US" sz="790">
                <a:solidFill>
                  <a:srgbClr val="1C1F25"/>
                </a:solidFill>
                <a:latin typeface="Arial" panose="020B0604020202020204" pitchFamily="34" charset="0"/>
              </a:rPr>
              <a:t>French inserted into 1,094/3,330 rows (32.9%; 0.46/row). Similarity can swap invalid words or entities.</a:t>
            </a:r>
            <a:endParaRPr lang="fr-FR" sz="790">
              <a:solidFill>
                <a:srgbClr val="1C1F25"/>
              </a:solidFill>
              <a:latin typeface="Arial" panose="020B0604020202020204" pitchFamily="34" charset="0"/>
            </a:endParaRPr>
          </a:p>
        </p:txBody>
      </p:sp>
      <p:sp>
        <p:nvSpPr>
          <p:cNvPr id="42" name="ZoneTexte 41">
            <a:extLst>
              <a:ext uri="{FF2B5EF4-FFF2-40B4-BE49-F238E27FC236}">
                <a16:creationId xmlns:a16="http://schemas.microsoft.com/office/drawing/2014/main" id="{E99C5071-4639-8945-5354-933043FF5BEE}"/>
              </a:ext>
            </a:extLst>
          </p:cNvPr>
          <p:cNvSpPr txBox="1"/>
          <p:nvPr/>
        </p:nvSpPr>
        <p:spPr>
          <a:xfrm>
            <a:off x="762000" y="4076700"/>
            <a:ext cx="4191000" cy="215444"/>
          </a:xfrm>
          <a:prstGeom prst="rect">
            <a:avLst/>
          </a:prstGeom>
          <a:noFill/>
        </p:spPr>
        <p:txBody>
          <a:bodyPr vert="horz" wrap="square" lIns="0" tIns="0" rIns="0" bIns="0" rtlCol="0">
            <a:noAutofit/>
          </a:bodyPr>
          <a:lstStyle/>
          <a:p>
            <a:pPr algn="ctr"/>
            <a:r>
              <a:rPr lang="en-US" sz="860" b="1" i="1" dirty="0">
                <a:solidFill>
                  <a:srgbClr val="976F1D"/>
                </a:solidFill>
                <a:latin typeface="Arial" panose="020B0604020202020204" pitchFamily="34" charset="0"/>
              </a:rPr>
              <a:t>M6: lowest overcorrection (96.5%); F1 = 0.030.</a:t>
            </a:r>
            <a:endParaRPr lang="fr-FR" sz="860" b="1" i="1" dirty="0">
              <a:solidFill>
                <a:srgbClr val="976F1D"/>
              </a:solidFill>
              <a:latin typeface="Arial" panose="020B0604020202020204" pitchFamily="34" charset="0"/>
            </a:endParaRPr>
          </a:p>
        </p:txBody>
      </p:sp>
      <p:sp>
        <p:nvSpPr>
          <p:cNvPr id="43" name="ZoneTexte 42">
            <a:extLst>
              <a:ext uri="{FF2B5EF4-FFF2-40B4-BE49-F238E27FC236}">
                <a16:creationId xmlns:a16="http://schemas.microsoft.com/office/drawing/2014/main" id="{21BAEA7C-43FF-BDBB-3D1A-FEBD3C488174}"/>
              </a:ext>
            </a:extLst>
          </p:cNvPr>
          <p:cNvSpPr txBox="1"/>
          <p:nvPr/>
        </p:nvSpPr>
        <p:spPr>
          <a:xfrm>
            <a:off x="1905000" y="4445000"/>
            <a:ext cx="5334000" cy="215444"/>
          </a:xfrm>
          <a:prstGeom prst="rect">
            <a:avLst/>
          </a:prstGeom>
          <a:noFill/>
        </p:spPr>
        <p:txBody>
          <a:bodyPr vert="horz" wrap="square" lIns="0" tIns="0" rIns="0" bIns="0" rtlCol="0">
            <a:noAutofit/>
          </a:bodyPr>
          <a:lstStyle/>
          <a:p>
            <a:pPr algn="ctr"/>
            <a:r>
              <a:rPr lang="en-US" sz="950" b="1" i="1" dirty="0">
                <a:solidFill>
                  <a:srgbClr val="0E2F46"/>
                </a:solidFill>
                <a:latin typeface="Arial" panose="020B0604020202020204" pitchFamily="34" charset="0"/>
              </a:rPr>
              <a:t>More injected French did not produce consistent gains.</a:t>
            </a:r>
            <a:endParaRPr lang="fr-FR" sz="950" b="1" i="1" dirty="0">
              <a:solidFill>
                <a:srgbClr val="0E2F46"/>
              </a:solidFill>
              <a:latin typeface="Arial" panose="020B0604020202020204" pitchFamily="34" charset="0"/>
            </a:endParaRPr>
          </a:p>
        </p:txBody>
      </p:sp>
      <p:sp>
        <p:nvSpPr>
          <p:cNvPr id="7" name="Rectangle 6">
            <a:extLst>
              <a:ext uri="{FF2B5EF4-FFF2-40B4-BE49-F238E27FC236}">
                <a16:creationId xmlns:a16="http://schemas.microsoft.com/office/drawing/2014/main" id="{D19FC9BC-608E-DA35-E436-BF459839A499}"/>
              </a:ext>
            </a:extLst>
          </p:cNvPr>
          <p:cNvSpPr/>
          <p:nvPr/>
        </p:nvSpPr>
        <p:spPr>
          <a:xfrm>
            <a:off x="5422900" y="1333500"/>
            <a:ext cx="3124200" cy="965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a:extLst>
              <a:ext uri="{FF2B5EF4-FFF2-40B4-BE49-F238E27FC236}">
                <a16:creationId xmlns:a16="http://schemas.microsoft.com/office/drawing/2014/main" id="{712188FB-E18E-3D64-0914-D22768CA77D5}"/>
              </a:ext>
            </a:extLst>
          </p:cNvPr>
          <p:cNvSpPr/>
          <p:nvPr/>
        </p:nvSpPr>
        <p:spPr>
          <a:xfrm>
            <a:off x="5422900" y="1333500"/>
            <a:ext cx="3124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9C139B89-8813-6CEF-3F67-E739F53F9056}"/>
              </a:ext>
            </a:extLst>
          </p:cNvPr>
          <p:cNvSpPr txBox="1"/>
          <p:nvPr/>
        </p:nvSpPr>
        <p:spPr>
          <a:xfrm>
            <a:off x="5562600" y="1447800"/>
            <a:ext cx="2844800" cy="215444"/>
          </a:xfrm>
          <a:prstGeom prst="rect">
            <a:avLst/>
          </a:prstGeom>
          <a:noFill/>
        </p:spPr>
        <p:txBody>
          <a:bodyPr vert="horz" wrap="square" lIns="0" tIns="0" rIns="0" bIns="0" rtlCol="0">
            <a:noAutofit/>
          </a:bodyPr>
          <a:lstStyle/>
          <a:p>
            <a:r>
              <a:rPr lang="fr-FR" sz="880" b="1" dirty="0">
                <a:solidFill>
                  <a:srgbClr val="976F1D"/>
                </a:solidFill>
                <a:latin typeface="Arial" panose="020B0604020202020204" pitchFamily="34" charset="0"/>
              </a:rPr>
              <a:t>EXACT SENTENCE FAILURE</a:t>
            </a:r>
          </a:p>
        </p:txBody>
      </p:sp>
      <p:sp>
        <p:nvSpPr>
          <p:cNvPr id="33" name="ZoneTexte 32">
            <a:extLst>
              <a:ext uri="{FF2B5EF4-FFF2-40B4-BE49-F238E27FC236}">
                <a16:creationId xmlns:a16="http://schemas.microsoft.com/office/drawing/2014/main" id="{E619D72C-68A0-4FBA-7BE6-B562B946506E}"/>
              </a:ext>
            </a:extLst>
          </p:cNvPr>
          <p:cNvSpPr txBox="1"/>
          <p:nvPr/>
        </p:nvSpPr>
        <p:spPr>
          <a:xfrm>
            <a:off x="5562600" y="1619706"/>
            <a:ext cx="2844800" cy="215444"/>
          </a:xfrm>
          <a:prstGeom prst="rect">
            <a:avLst/>
          </a:prstGeom>
          <a:noFill/>
        </p:spPr>
        <p:txBody>
          <a:bodyPr vert="horz" wrap="square" lIns="0" tIns="0" rIns="0" bIns="0" rtlCol="0">
            <a:noAutofit/>
          </a:bodyPr>
          <a:lstStyle/>
          <a:p>
            <a:pPr lvl="0"/>
            <a:r>
              <a:rPr lang="fr-FR" sz="800" b="1" dirty="0">
                <a:latin typeface="Arial" panose="020B0604020202020204" pitchFamily="34" charset="0"/>
                <a:ea typeface="Verdana" panose="020B0604030504040204" pitchFamily="34" charset="0"/>
              </a:rPr>
              <a:t>M1:</a:t>
            </a:r>
            <a:r>
              <a:rPr lang="fr-FR" sz="800" dirty="0">
                <a:latin typeface="Arial" panose="020B0604020202020204" pitchFamily="34" charset="0"/>
                <a:ea typeface="Verdana" panose="020B0604030504040204" pitchFamily="34" charset="0"/>
              </a:rPr>
              <a:t> 28/29 </a:t>
            </a:r>
            <a:r>
              <a:rPr lang="fr-FR" sz="800" dirty="0" err="1">
                <a:latin typeface="Arial" panose="020B0604020202020204" pitchFamily="34" charset="0"/>
                <a:ea typeface="Verdana" panose="020B0604030504040204" pitchFamily="34" charset="0"/>
              </a:rPr>
              <a:t>failed</a:t>
            </a:r>
            <a:r>
              <a:rPr lang="fr-FR" sz="800" dirty="0">
                <a:latin typeface="Arial" panose="020B0604020202020204" pitchFamily="34" charset="0"/>
                <a:ea typeface="Verdana" panose="020B0604030504040204" pitchFamily="34" charset="0"/>
              </a:rPr>
              <a:t> — </a:t>
            </a:r>
            <a:r>
              <a:rPr lang="fr-FR" sz="800" b="1" dirty="0">
                <a:latin typeface="Arial" panose="020B0604020202020204" pitchFamily="34" charset="0"/>
                <a:ea typeface="Verdana" panose="020B0604030504040204" pitchFamily="34" charset="0"/>
              </a:rPr>
              <a:t>96.6%</a:t>
            </a:r>
            <a:endParaRPr lang="fr-FR" sz="800" dirty="0">
              <a:latin typeface="Arial" panose="020B0604020202020204" pitchFamily="34" charset="0"/>
              <a:ea typeface="Verdana" panose="020B0604030504040204" pitchFamily="34" charset="0"/>
            </a:endParaRPr>
          </a:p>
          <a:p>
            <a:pPr lvl="0"/>
            <a:r>
              <a:rPr lang="fr-FR" sz="800" b="1" dirty="0">
                <a:latin typeface="Arial" panose="020B0604020202020204" pitchFamily="34" charset="0"/>
                <a:ea typeface="Verdana" panose="020B0604030504040204" pitchFamily="34" charset="0"/>
              </a:rPr>
              <a:t>M2:</a:t>
            </a:r>
            <a:r>
              <a:rPr lang="fr-FR" sz="800" dirty="0">
                <a:latin typeface="Arial" panose="020B0604020202020204" pitchFamily="34" charset="0"/>
                <a:ea typeface="Verdana" panose="020B0604030504040204" pitchFamily="34" charset="0"/>
              </a:rPr>
              <a:t> 29/29 </a:t>
            </a:r>
            <a:r>
              <a:rPr lang="fr-FR" sz="800" dirty="0" err="1">
                <a:latin typeface="Arial" panose="020B0604020202020204" pitchFamily="34" charset="0"/>
                <a:ea typeface="Verdana" panose="020B0604030504040204" pitchFamily="34" charset="0"/>
              </a:rPr>
              <a:t>failed</a:t>
            </a:r>
            <a:r>
              <a:rPr lang="fr-FR" sz="800" dirty="0">
                <a:latin typeface="Arial" panose="020B0604020202020204" pitchFamily="34" charset="0"/>
                <a:ea typeface="Verdana" panose="020B0604030504040204" pitchFamily="34" charset="0"/>
              </a:rPr>
              <a:t> — </a:t>
            </a:r>
            <a:r>
              <a:rPr lang="fr-FR" sz="800" b="1" dirty="0">
                <a:latin typeface="Arial" panose="020B0604020202020204" pitchFamily="34" charset="0"/>
                <a:ea typeface="Verdana" panose="020B0604030504040204" pitchFamily="34" charset="0"/>
              </a:rPr>
              <a:t>100%</a:t>
            </a:r>
            <a:endParaRPr lang="fr-FR" sz="800" dirty="0">
              <a:latin typeface="Arial" panose="020B0604020202020204" pitchFamily="34" charset="0"/>
              <a:ea typeface="Verdana" panose="020B0604030504040204" pitchFamily="34" charset="0"/>
            </a:endParaRPr>
          </a:p>
          <a:p>
            <a:pPr lvl="0"/>
            <a:r>
              <a:rPr lang="fr-FR" sz="800" b="1" dirty="0">
                <a:latin typeface="Arial" panose="020B0604020202020204" pitchFamily="34" charset="0"/>
                <a:ea typeface="Verdana" panose="020B0604030504040204" pitchFamily="34" charset="0"/>
              </a:rPr>
              <a:t>M3:</a:t>
            </a:r>
            <a:r>
              <a:rPr lang="fr-FR" sz="800" dirty="0">
                <a:latin typeface="Arial" panose="020B0604020202020204" pitchFamily="34" charset="0"/>
                <a:ea typeface="Verdana" panose="020B0604030504040204" pitchFamily="34" charset="0"/>
              </a:rPr>
              <a:t> 29/29 </a:t>
            </a:r>
            <a:r>
              <a:rPr lang="fr-FR" sz="800" dirty="0" err="1">
                <a:latin typeface="Arial" panose="020B0604020202020204" pitchFamily="34" charset="0"/>
                <a:ea typeface="Verdana" panose="020B0604030504040204" pitchFamily="34" charset="0"/>
              </a:rPr>
              <a:t>failed</a:t>
            </a:r>
            <a:r>
              <a:rPr lang="fr-FR" sz="800" dirty="0">
                <a:latin typeface="Arial" panose="020B0604020202020204" pitchFamily="34" charset="0"/>
                <a:ea typeface="Verdana" panose="020B0604030504040204" pitchFamily="34" charset="0"/>
              </a:rPr>
              <a:t> — </a:t>
            </a:r>
            <a:r>
              <a:rPr lang="fr-FR" sz="800" b="1" dirty="0">
                <a:latin typeface="Arial" panose="020B0604020202020204" pitchFamily="34" charset="0"/>
                <a:ea typeface="Verdana" panose="020B0604030504040204" pitchFamily="34" charset="0"/>
              </a:rPr>
              <a:t>100%</a:t>
            </a:r>
            <a:endParaRPr lang="fr-FR" sz="800" dirty="0">
              <a:latin typeface="Arial" panose="020B0604020202020204" pitchFamily="34" charset="0"/>
              <a:ea typeface="Verdana" panose="020B0604030504040204" pitchFamily="34" charset="0"/>
            </a:endParaRPr>
          </a:p>
          <a:p>
            <a:pPr lvl="0"/>
            <a:r>
              <a:rPr lang="fr-FR" sz="800" b="1" dirty="0">
                <a:latin typeface="Arial" panose="020B0604020202020204" pitchFamily="34" charset="0"/>
                <a:ea typeface="Verdana" panose="020B0604030504040204" pitchFamily="34" charset="0"/>
              </a:rPr>
              <a:t>M4:</a:t>
            </a:r>
            <a:r>
              <a:rPr lang="fr-FR" sz="800" dirty="0">
                <a:latin typeface="Arial" panose="020B0604020202020204" pitchFamily="34" charset="0"/>
                <a:ea typeface="Verdana" panose="020B0604030504040204" pitchFamily="34" charset="0"/>
              </a:rPr>
              <a:t> 29/29 </a:t>
            </a:r>
            <a:r>
              <a:rPr lang="fr-FR" sz="800" dirty="0" err="1">
                <a:latin typeface="Arial" panose="020B0604020202020204" pitchFamily="34" charset="0"/>
                <a:ea typeface="Verdana" panose="020B0604030504040204" pitchFamily="34" charset="0"/>
              </a:rPr>
              <a:t>failed</a:t>
            </a:r>
            <a:r>
              <a:rPr lang="fr-FR" sz="800" dirty="0">
                <a:latin typeface="Arial" panose="020B0604020202020204" pitchFamily="34" charset="0"/>
                <a:ea typeface="Verdana" panose="020B0604030504040204" pitchFamily="34" charset="0"/>
              </a:rPr>
              <a:t> — </a:t>
            </a:r>
            <a:r>
              <a:rPr lang="fr-FR" sz="800" b="1" dirty="0">
                <a:latin typeface="Arial" panose="020B0604020202020204" pitchFamily="34" charset="0"/>
                <a:ea typeface="Verdana" panose="020B0604030504040204" pitchFamily="34" charset="0"/>
              </a:rPr>
              <a:t>100%</a:t>
            </a:r>
            <a:endParaRPr lang="fr-FR" sz="800" dirty="0">
              <a:latin typeface="Arial" panose="020B0604020202020204" pitchFamily="34" charset="0"/>
              <a:ea typeface="Verdana" panose="020B0604030504040204" pitchFamily="34" charset="0"/>
            </a:endParaRPr>
          </a:p>
          <a:p>
            <a:pPr lvl="0"/>
            <a:r>
              <a:rPr lang="fr-FR" sz="800" b="1" dirty="0">
                <a:latin typeface="Arial" panose="020B0604020202020204" pitchFamily="34" charset="0"/>
                <a:ea typeface="Verdana" panose="020B0604030504040204" pitchFamily="34" charset="0"/>
              </a:rPr>
              <a:t>M6:</a:t>
            </a:r>
            <a:r>
              <a:rPr lang="fr-FR" sz="800" dirty="0">
                <a:latin typeface="Arial" panose="020B0604020202020204" pitchFamily="34" charset="0"/>
                <a:ea typeface="Verdana" panose="020B0604030504040204" pitchFamily="34" charset="0"/>
              </a:rPr>
              <a:t> 29/29 </a:t>
            </a:r>
            <a:r>
              <a:rPr lang="fr-FR" sz="800" dirty="0" err="1">
                <a:latin typeface="Arial" panose="020B0604020202020204" pitchFamily="34" charset="0"/>
                <a:ea typeface="Verdana" panose="020B0604030504040204" pitchFamily="34" charset="0"/>
              </a:rPr>
              <a:t>failed</a:t>
            </a:r>
            <a:r>
              <a:rPr lang="fr-FR" sz="800" dirty="0">
                <a:latin typeface="Arial" panose="020B0604020202020204" pitchFamily="34" charset="0"/>
                <a:ea typeface="Verdana" panose="020B0604030504040204" pitchFamily="34" charset="0"/>
              </a:rPr>
              <a:t> — </a:t>
            </a:r>
            <a:r>
              <a:rPr lang="fr-FR" sz="800" b="1" dirty="0">
                <a:latin typeface="Arial" panose="020B0604020202020204" pitchFamily="34" charset="0"/>
                <a:ea typeface="Verdana" panose="020B0604030504040204" pitchFamily="34" charset="0"/>
              </a:rPr>
              <a:t>100%</a:t>
            </a:r>
            <a:endParaRPr lang="fr-FR" sz="800" dirty="0">
              <a:latin typeface="Arial" panose="020B0604020202020204" pitchFamily="34" charset="0"/>
              <a:ea typeface="Verdana" panose="020B0604030504040204" pitchFamily="34" charset="0"/>
            </a:endParaRPr>
          </a:p>
        </p:txBody>
      </p:sp>
      <p:sp>
        <p:nvSpPr>
          <p:cNvPr id="44" name="Rectangle 43">
            <a:extLst>
              <a:ext uri="{FF2B5EF4-FFF2-40B4-BE49-F238E27FC236}">
                <a16:creationId xmlns:a16="http://schemas.microsoft.com/office/drawing/2014/main" id="{06CEEB10-0B9C-3164-4B21-5C3B5E95D6F6}"/>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 coins arrondis 44">
            <a:extLst>
              <a:ext uri="{FF2B5EF4-FFF2-40B4-BE49-F238E27FC236}">
                <a16:creationId xmlns:a16="http://schemas.microsoft.com/office/drawing/2014/main" id="{3134BF8C-1E4F-E67E-1DAD-BE22CE8BBE70}"/>
              </a:ext>
            </a:extLst>
          </p:cNvPr>
          <p:cNvSpPr/>
          <p:nvPr/>
        </p:nvSpPr>
        <p:spPr>
          <a:xfrm>
            <a:off x="546100" y="3175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A318520C-122C-2F37-B0B4-DA3B0538FCA2}"/>
              </a:ext>
            </a:extLst>
          </p:cNvPr>
          <p:cNvSpPr txBox="1"/>
          <p:nvPr/>
        </p:nvSpPr>
        <p:spPr>
          <a:xfrm>
            <a:off x="546100" y="3810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Results</a:t>
            </a:r>
          </a:p>
        </p:txBody>
      </p:sp>
      <p:sp>
        <p:nvSpPr>
          <p:cNvPr id="47" name="ZoneTexte 46">
            <a:extLst>
              <a:ext uri="{FF2B5EF4-FFF2-40B4-BE49-F238E27FC236}">
                <a16:creationId xmlns:a16="http://schemas.microsoft.com/office/drawing/2014/main" id="{A902BFE9-51AE-8357-13F3-5F4C4665513C}"/>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48" name="ZoneTexte 47">
            <a:extLst>
              <a:ext uri="{FF2B5EF4-FFF2-40B4-BE49-F238E27FC236}">
                <a16:creationId xmlns:a16="http://schemas.microsoft.com/office/drawing/2014/main" id="{7FFF31B9-B5D3-E43D-9320-E98A197DD09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Overcorrection</a:t>
            </a:r>
          </a:p>
        </p:txBody>
      </p:sp>
      <p:sp>
        <p:nvSpPr>
          <p:cNvPr id="49" name="ZoneTexte 48">
            <a:extLst>
              <a:ext uri="{FF2B5EF4-FFF2-40B4-BE49-F238E27FC236}">
                <a16:creationId xmlns:a16="http://schemas.microsoft.com/office/drawing/2014/main" id="{30D9F087-EFBE-31DE-871E-B7A90DB884ED}"/>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17 / 36</a:t>
            </a:r>
          </a:p>
        </p:txBody>
      </p:sp>
      <p:pic>
        <p:nvPicPr>
          <p:cNvPr id="51" name="Image 50">
            <a:extLst>
              <a:ext uri="{FF2B5EF4-FFF2-40B4-BE49-F238E27FC236}">
                <a16:creationId xmlns:a16="http://schemas.microsoft.com/office/drawing/2014/main" id="{574B097D-1E9B-0B70-A809-D099D21835A4}"/>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694211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9632E279-0C43-AB14-0917-3DA75631B3E5}"/>
              </a:ext>
            </a:extLst>
          </p:cNvPr>
          <p:cNvSpPr/>
          <p:nvPr/>
        </p:nvSpPr>
        <p:spPr>
          <a:xfrm>
            <a:off x="546100" y="317500"/>
            <a:ext cx="1841500" cy="292100"/>
          </a:xfrm>
          <a:prstGeom prst="round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C0B7FD3D-E57B-AC9D-5468-A6F13DAF7E26}"/>
              </a:ext>
            </a:extLst>
          </p:cNvPr>
          <p:cNvSpPr txBox="1"/>
          <p:nvPr/>
        </p:nvSpPr>
        <p:spPr>
          <a:xfrm>
            <a:off x="546100" y="381000"/>
            <a:ext cx="18415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LIMITS &amp; PERSPECTIVES</a:t>
            </a:r>
          </a:p>
        </p:txBody>
      </p:sp>
      <p:sp>
        <p:nvSpPr>
          <p:cNvPr id="9" name="Rectangle 8">
            <a:extLst>
              <a:ext uri="{FF2B5EF4-FFF2-40B4-BE49-F238E27FC236}">
                <a16:creationId xmlns:a16="http://schemas.microsoft.com/office/drawing/2014/main" id="{8DA6D114-0972-AFD8-4011-943A9B4FC5E0}"/>
              </a:ext>
            </a:extLst>
          </p:cNvPr>
          <p:cNvSpPr/>
          <p:nvPr/>
        </p:nvSpPr>
        <p:spPr>
          <a:xfrm>
            <a:off x="546100" y="1409700"/>
            <a:ext cx="3848100" cy="27686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A00A544-5766-CC3A-42D3-F50C49E02AF9}"/>
              </a:ext>
            </a:extLst>
          </p:cNvPr>
          <p:cNvSpPr/>
          <p:nvPr/>
        </p:nvSpPr>
        <p:spPr>
          <a:xfrm>
            <a:off x="546100" y="1409700"/>
            <a:ext cx="38481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345906B-09FF-08E1-560F-8881BF3EE451}"/>
              </a:ext>
            </a:extLst>
          </p:cNvPr>
          <p:cNvSpPr txBox="1"/>
          <p:nvPr/>
        </p:nvSpPr>
        <p:spPr>
          <a:xfrm>
            <a:off x="685800" y="1536700"/>
            <a:ext cx="3568700" cy="215444"/>
          </a:xfrm>
          <a:prstGeom prst="rect">
            <a:avLst/>
          </a:prstGeom>
          <a:noFill/>
        </p:spPr>
        <p:txBody>
          <a:bodyPr vert="horz" wrap="square" lIns="0" tIns="0" rIns="0" bIns="0" rtlCol="0">
            <a:noAutofit/>
          </a:bodyPr>
          <a:lstStyle/>
          <a:p>
            <a:r>
              <a:rPr lang="fr-FR" sz="1150" b="1">
                <a:solidFill>
                  <a:srgbClr val="976F1D"/>
                </a:solidFill>
                <a:latin typeface="Arial" panose="020B0604020202020204" pitchFamily="34" charset="0"/>
              </a:rPr>
              <a:t>LIMITATIONS</a:t>
            </a:r>
          </a:p>
        </p:txBody>
      </p:sp>
      <p:sp>
        <p:nvSpPr>
          <p:cNvPr id="12" name="ZoneTexte 11">
            <a:extLst>
              <a:ext uri="{FF2B5EF4-FFF2-40B4-BE49-F238E27FC236}">
                <a16:creationId xmlns:a16="http://schemas.microsoft.com/office/drawing/2014/main" id="{CFDA8AD5-8368-B734-3DCF-30AB53491D91}"/>
              </a:ext>
            </a:extLst>
          </p:cNvPr>
          <p:cNvSpPr txBox="1"/>
          <p:nvPr/>
        </p:nvSpPr>
        <p:spPr>
          <a:xfrm>
            <a:off x="685800" y="1816100"/>
            <a:ext cx="3708400" cy="890524"/>
          </a:xfrm>
          <a:prstGeom prst="rect">
            <a:avLst/>
          </a:prstGeom>
          <a:noFill/>
        </p:spPr>
        <p:txBody>
          <a:bodyPr vert="horz" wrap="square" lIns="0" tIns="0" rIns="0" bIns="0" rtlCol="0">
            <a:noAutofit/>
          </a:bodyPr>
          <a:lstStyle/>
          <a:p>
            <a:pPr marL="171450" indent="-171450">
              <a:buFont typeface="Arial" panose="020B0604020202020204" pitchFamily="34" charset="0"/>
              <a:buChar char="•"/>
            </a:pPr>
            <a:r>
              <a:rPr lang="en-US" sz="920" dirty="0">
                <a:solidFill>
                  <a:srgbClr val="1C1F25"/>
                </a:solidFill>
                <a:latin typeface="Arial" panose="020B0604020202020204" pitchFamily="34" charset="0"/>
              </a:rPr>
              <a:t>Too little data: 201 pairs from five videos
No parameter calibration after gold annotation (except M6)
Small character model, limited semantics</a:t>
            </a:r>
          </a:p>
          <a:p>
            <a:pPr marL="171450" indent="-171450">
              <a:buFont typeface="Arial" panose="020B0604020202020204" pitchFamily="34" charset="0"/>
              <a:buChar char="•"/>
            </a:pPr>
            <a:r>
              <a:rPr lang="en-US" sz="920" dirty="0">
                <a:solidFill>
                  <a:srgbClr val="1C1F25"/>
                </a:solidFill>
                <a:latin typeface="Arial" panose="020B0604020202020204" pitchFamily="34" charset="0"/>
              </a:rPr>
              <a:t>Only one annotator</a:t>
            </a:r>
          </a:p>
          <a:p>
            <a:pPr marL="171450" indent="-171450">
              <a:buFont typeface="Arial" panose="020B0604020202020204" pitchFamily="34" charset="0"/>
              <a:buChar char="•"/>
            </a:pPr>
            <a:r>
              <a:rPr lang="en-US" sz="920" dirty="0">
                <a:solidFill>
                  <a:srgbClr val="1C1F25"/>
                </a:solidFill>
                <a:latin typeface="Arial" panose="020B0604020202020204" pitchFamily="34" charset="0"/>
              </a:rPr>
              <a:t>Only tested on normalization</a:t>
            </a:r>
          </a:p>
        </p:txBody>
      </p:sp>
      <p:sp>
        <p:nvSpPr>
          <p:cNvPr id="13" name="Rectangle 12">
            <a:extLst>
              <a:ext uri="{FF2B5EF4-FFF2-40B4-BE49-F238E27FC236}">
                <a16:creationId xmlns:a16="http://schemas.microsoft.com/office/drawing/2014/main" id="{26806080-5B88-4183-7894-4AE084B9F327}"/>
              </a:ext>
            </a:extLst>
          </p:cNvPr>
          <p:cNvSpPr/>
          <p:nvPr/>
        </p:nvSpPr>
        <p:spPr>
          <a:xfrm>
            <a:off x="4749800" y="1409700"/>
            <a:ext cx="3848100" cy="2768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C8B52B6-1793-A110-7F93-CEC02C366EDD}"/>
              </a:ext>
            </a:extLst>
          </p:cNvPr>
          <p:cNvSpPr/>
          <p:nvPr/>
        </p:nvSpPr>
        <p:spPr>
          <a:xfrm>
            <a:off x="4749800" y="1409700"/>
            <a:ext cx="38481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4C4A2373-2F34-A7BE-4166-6D7F7A8CA17A}"/>
              </a:ext>
            </a:extLst>
          </p:cNvPr>
          <p:cNvSpPr txBox="1"/>
          <p:nvPr/>
        </p:nvSpPr>
        <p:spPr>
          <a:xfrm>
            <a:off x="4889500" y="1536700"/>
            <a:ext cx="3568700" cy="215444"/>
          </a:xfrm>
          <a:prstGeom prst="rect">
            <a:avLst/>
          </a:prstGeom>
          <a:noFill/>
        </p:spPr>
        <p:txBody>
          <a:bodyPr vert="horz" wrap="square" lIns="0" tIns="0" rIns="0" bIns="0" rtlCol="0">
            <a:noAutofit/>
          </a:bodyPr>
          <a:lstStyle/>
          <a:p>
            <a:r>
              <a:rPr lang="fr-FR" sz="1150" b="1">
                <a:solidFill>
                  <a:srgbClr val="0E2F46"/>
                </a:solidFill>
                <a:latin typeface="Arial" panose="020B0604020202020204" pitchFamily="34" charset="0"/>
              </a:rPr>
              <a:t>NEXT STEPS</a:t>
            </a:r>
          </a:p>
        </p:txBody>
      </p:sp>
      <p:sp>
        <p:nvSpPr>
          <p:cNvPr id="16" name="ZoneTexte 15">
            <a:extLst>
              <a:ext uri="{FF2B5EF4-FFF2-40B4-BE49-F238E27FC236}">
                <a16:creationId xmlns:a16="http://schemas.microsoft.com/office/drawing/2014/main" id="{1E550541-B0D4-EA58-C73D-D182A42779BB}"/>
              </a:ext>
            </a:extLst>
          </p:cNvPr>
          <p:cNvSpPr txBox="1"/>
          <p:nvPr/>
        </p:nvSpPr>
        <p:spPr>
          <a:xfrm>
            <a:off x="4889500" y="1816100"/>
            <a:ext cx="3568700" cy="215444"/>
          </a:xfrm>
          <a:prstGeom prst="rect">
            <a:avLst/>
          </a:prstGeom>
          <a:noFill/>
        </p:spPr>
        <p:txBody>
          <a:bodyPr vert="horz" wrap="square" lIns="0" tIns="0" rIns="0" bIns="0" rtlCol="0">
            <a:noAutofit/>
          </a:bodyPr>
          <a:lstStyle/>
          <a:p>
            <a:pPr marL="171450" indent="-171450">
              <a:buFont typeface="Arial" panose="020B0604020202020204" pitchFamily="34" charset="0"/>
              <a:buChar char="•"/>
            </a:pPr>
            <a:r>
              <a:rPr lang="en-US" sz="920" dirty="0">
                <a:solidFill>
                  <a:srgbClr val="1C1F25"/>
                </a:solidFill>
                <a:latin typeface="Arial" panose="020B0604020202020204" pitchFamily="34" charset="0"/>
              </a:rPr>
              <a:t>broaden channels, topics, data source
calibrate synthetic edit density on gold train
test stronger/multiple evaluators</a:t>
            </a:r>
          </a:p>
          <a:p>
            <a:pPr marL="171450" indent="-171450">
              <a:buFont typeface="Arial" panose="020B0604020202020204" pitchFamily="34" charset="0"/>
              <a:buChar char="•"/>
            </a:pPr>
            <a:r>
              <a:rPr lang="en-US" sz="920" dirty="0">
                <a:solidFill>
                  <a:srgbClr val="1C1F25"/>
                </a:solidFill>
                <a:latin typeface="Arial" panose="020B0604020202020204" pitchFamily="34" charset="0"/>
              </a:rPr>
              <a:t>Involve more annotators
measure retrieval and translation gains</a:t>
            </a:r>
            <a:endParaRPr lang="fr-FR" sz="920" dirty="0">
              <a:solidFill>
                <a:srgbClr val="1C1F25"/>
              </a:solidFill>
              <a:latin typeface="Arial" panose="020B0604020202020204" pitchFamily="34" charset="0"/>
            </a:endParaRPr>
          </a:p>
        </p:txBody>
      </p:sp>
      <p:sp>
        <p:nvSpPr>
          <p:cNvPr id="7" name="Rectangle 6">
            <a:extLst>
              <a:ext uri="{FF2B5EF4-FFF2-40B4-BE49-F238E27FC236}">
                <a16:creationId xmlns:a16="http://schemas.microsoft.com/office/drawing/2014/main" id="{734EF8DB-0CC5-AD78-F5B4-6F856C1707C6}"/>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 coins arrondis 16">
            <a:extLst>
              <a:ext uri="{FF2B5EF4-FFF2-40B4-BE49-F238E27FC236}">
                <a16:creationId xmlns:a16="http://schemas.microsoft.com/office/drawing/2014/main" id="{699300C2-5663-F5C5-5A84-145284474AF8}"/>
              </a:ext>
            </a:extLst>
          </p:cNvPr>
          <p:cNvSpPr/>
          <p:nvPr/>
        </p:nvSpPr>
        <p:spPr>
          <a:xfrm>
            <a:off x="546100" y="317500"/>
            <a:ext cx="8890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21D4E3AE-0EEF-ACFB-DB69-81E757D9D2F8}"/>
              </a:ext>
            </a:extLst>
          </p:cNvPr>
          <p:cNvSpPr txBox="1"/>
          <p:nvPr/>
        </p:nvSpPr>
        <p:spPr>
          <a:xfrm>
            <a:off x="546100" y="381000"/>
            <a:ext cx="8890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Close</a:t>
            </a:r>
          </a:p>
        </p:txBody>
      </p:sp>
      <p:sp>
        <p:nvSpPr>
          <p:cNvPr id="4" name="ZoneTexte 3">
            <a:extLst>
              <a:ext uri="{FF2B5EF4-FFF2-40B4-BE49-F238E27FC236}">
                <a16:creationId xmlns:a16="http://schemas.microsoft.com/office/drawing/2014/main" id="{9FF67913-D339-9EBE-EF87-1CF6B424BA90}"/>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What the pilot establishes - and what it cannot</a:t>
            </a:r>
            <a:endParaRPr lang="fr-FR" sz="1900" b="1">
              <a:solidFill>
                <a:srgbClr val="57658D"/>
              </a:solidFill>
              <a:latin typeface="Arial" panose="020B0604020202020204" pitchFamily="34" charset="0"/>
            </a:endParaRPr>
          </a:p>
        </p:txBody>
      </p:sp>
      <p:sp>
        <p:nvSpPr>
          <p:cNvPr id="19" name="ZoneTexte 18">
            <a:extLst>
              <a:ext uri="{FF2B5EF4-FFF2-40B4-BE49-F238E27FC236}">
                <a16:creationId xmlns:a16="http://schemas.microsoft.com/office/drawing/2014/main" id="{D5DDCE8C-BBAF-6D71-E618-DE397AD78BB0}"/>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1" name="ZoneTexte 20">
            <a:extLst>
              <a:ext uri="{FF2B5EF4-FFF2-40B4-BE49-F238E27FC236}">
                <a16:creationId xmlns:a16="http://schemas.microsoft.com/office/drawing/2014/main" id="{AF39278B-5803-1926-183E-F62E3ED583E9}"/>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Limits and perspectives</a:t>
            </a:r>
          </a:p>
        </p:txBody>
      </p:sp>
      <p:sp>
        <p:nvSpPr>
          <p:cNvPr id="22" name="ZoneTexte 21">
            <a:extLst>
              <a:ext uri="{FF2B5EF4-FFF2-40B4-BE49-F238E27FC236}">
                <a16:creationId xmlns:a16="http://schemas.microsoft.com/office/drawing/2014/main" id="{54B5BA21-544E-F06B-884F-DC64D9FB32BD}"/>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18 / 36</a:t>
            </a:r>
          </a:p>
        </p:txBody>
      </p:sp>
      <p:pic>
        <p:nvPicPr>
          <p:cNvPr id="24" name="Image 23">
            <a:extLst>
              <a:ext uri="{FF2B5EF4-FFF2-40B4-BE49-F238E27FC236}">
                <a16:creationId xmlns:a16="http://schemas.microsoft.com/office/drawing/2014/main" id="{E23ACC50-9D85-C8BA-F1C4-173F63C7E531}"/>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371296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1587000A-93FD-8386-8DB0-F53C87F80804}"/>
              </a:ext>
            </a:extLst>
          </p:cNvPr>
          <p:cNvSpPr/>
          <p:nvPr/>
        </p:nvSpPr>
        <p:spPr>
          <a:xfrm>
            <a:off x="546100" y="317500"/>
            <a:ext cx="1308100" cy="2921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6EF8355-45EF-3CE4-5E85-3F323582A761}"/>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CONCLUSION</a:t>
            </a:r>
          </a:p>
        </p:txBody>
      </p:sp>
      <p:sp>
        <p:nvSpPr>
          <p:cNvPr id="9" name="Rectangle : coins arrondis 8">
            <a:extLst>
              <a:ext uri="{FF2B5EF4-FFF2-40B4-BE49-F238E27FC236}">
                <a16:creationId xmlns:a16="http://schemas.microsoft.com/office/drawing/2014/main" id="{CBCF7411-0208-1205-FC55-0CF715F23B34}"/>
              </a:ext>
            </a:extLst>
          </p:cNvPr>
          <p:cNvSpPr/>
          <p:nvPr/>
        </p:nvSpPr>
        <p:spPr>
          <a:xfrm>
            <a:off x="723900" y="1384300"/>
            <a:ext cx="7696200" cy="774700"/>
          </a:xfrm>
          <a:prstGeom prst="round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06BBF60-4915-B8C6-539A-8FAFAC348330}"/>
              </a:ext>
            </a:extLst>
          </p:cNvPr>
          <p:cNvSpPr txBox="1"/>
          <p:nvPr/>
        </p:nvSpPr>
        <p:spPr>
          <a:xfrm>
            <a:off x="1028700" y="1574800"/>
            <a:ext cx="7086600" cy="215444"/>
          </a:xfrm>
          <a:prstGeom prst="rect">
            <a:avLst/>
          </a:prstGeom>
          <a:noFill/>
        </p:spPr>
        <p:txBody>
          <a:bodyPr vert="horz" wrap="square" lIns="0" tIns="0" rIns="0" bIns="0" rtlCol="0">
            <a:noAutofit/>
          </a:bodyPr>
          <a:lstStyle/>
          <a:p>
            <a:pPr algn="ctr"/>
            <a:r>
              <a:rPr lang="en-US" sz="1200" b="1" i="1" dirty="0">
                <a:solidFill>
                  <a:srgbClr val="FFFFFF"/>
                </a:solidFill>
                <a:latin typeface="Arial" panose="020B0604020202020204" pitchFamily="34" charset="0"/>
              </a:rPr>
              <a:t>Synthetic pretraining transfers useful character patterns; none of the tested conditions delivers reliable word-level or exact normalization.</a:t>
            </a:r>
            <a:endParaRPr lang="fr-FR" sz="1200" b="1" i="1" dirty="0">
              <a:solidFill>
                <a:srgbClr val="FFFFFF"/>
              </a:solidFill>
              <a:latin typeface="Arial" panose="020B0604020202020204" pitchFamily="34" charset="0"/>
            </a:endParaRPr>
          </a:p>
        </p:txBody>
      </p:sp>
      <p:sp>
        <p:nvSpPr>
          <p:cNvPr id="23" name="ZoneTexte 22">
            <a:extLst>
              <a:ext uri="{FF2B5EF4-FFF2-40B4-BE49-F238E27FC236}">
                <a16:creationId xmlns:a16="http://schemas.microsoft.com/office/drawing/2014/main" id="{AA4EFD7A-9D1C-BA85-26DF-DA69480FB1FC}"/>
              </a:ext>
            </a:extLst>
          </p:cNvPr>
          <p:cNvSpPr txBox="1"/>
          <p:nvPr/>
        </p:nvSpPr>
        <p:spPr>
          <a:xfrm>
            <a:off x="2984500" y="4203700"/>
            <a:ext cx="3175000" cy="215444"/>
          </a:xfrm>
          <a:prstGeom prst="rect">
            <a:avLst/>
          </a:prstGeom>
          <a:noFill/>
        </p:spPr>
        <p:txBody>
          <a:bodyPr vert="horz" wrap="square" lIns="0" tIns="0" rIns="0" bIns="0" rtlCol="0">
            <a:noAutofit/>
          </a:bodyPr>
          <a:lstStyle/>
          <a:p>
            <a:pPr algn="ctr"/>
            <a:r>
              <a:rPr lang="fr-FR" sz="1700" b="1">
                <a:solidFill>
                  <a:srgbClr val="58658B"/>
                </a:solidFill>
                <a:latin typeface="Arial" panose="020B0604020202020204" pitchFamily="34" charset="0"/>
              </a:rPr>
              <a:t>Thank you · Questions</a:t>
            </a:r>
          </a:p>
        </p:txBody>
      </p:sp>
      <p:sp>
        <p:nvSpPr>
          <p:cNvPr id="7" name="Rectangle 6">
            <a:extLst>
              <a:ext uri="{FF2B5EF4-FFF2-40B4-BE49-F238E27FC236}">
                <a16:creationId xmlns:a16="http://schemas.microsoft.com/office/drawing/2014/main" id="{1B17B0BA-7DDA-4824-2158-DE37220EC78D}"/>
              </a:ext>
            </a:extLst>
          </p:cNvPr>
          <p:cNvSpPr/>
          <p:nvPr/>
        </p:nvSpPr>
        <p:spPr>
          <a:xfrm>
            <a:off x="609600" y="2603500"/>
            <a:ext cx="2463800" cy="13335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C2F3A114-E69B-3287-78C2-E08664219ACB}"/>
              </a:ext>
            </a:extLst>
          </p:cNvPr>
          <p:cNvSpPr/>
          <p:nvPr/>
        </p:nvSpPr>
        <p:spPr>
          <a:xfrm>
            <a:off x="609600" y="2603500"/>
            <a:ext cx="2463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361BD868-9DE9-D560-CE9B-B0D5D9CB494F}"/>
              </a:ext>
            </a:extLst>
          </p:cNvPr>
          <p:cNvSpPr txBox="1"/>
          <p:nvPr/>
        </p:nvSpPr>
        <p:spPr>
          <a:xfrm>
            <a:off x="749300" y="2730500"/>
            <a:ext cx="2184400" cy="215444"/>
          </a:xfrm>
          <a:prstGeom prst="rect">
            <a:avLst/>
          </a:prstGeom>
          <a:noFill/>
        </p:spPr>
        <p:txBody>
          <a:bodyPr vert="horz" wrap="square" lIns="0" tIns="0" rIns="0" bIns="0" rtlCol="0">
            <a:noAutofit/>
          </a:bodyPr>
          <a:lstStyle/>
          <a:p>
            <a:r>
              <a:rPr lang="fr-FR" sz="1100" b="1">
                <a:solidFill>
                  <a:srgbClr val="0E2F46"/>
                </a:solidFill>
                <a:latin typeface="Arial" panose="020B0604020202020204" pitchFamily="34" charset="0"/>
              </a:rPr>
              <a:t>1 · AUTHENTIC BENCHMARK</a:t>
            </a:r>
          </a:p>
        </p:txBody>
      </p:sp>
      <p:sp>
        <p:nvSpPr>
          <p:cNvPr id="30" name="ZoneTexte 29">
            <a:extLst>
              <a:ext uri="{FF2B5EF4-FFF2-40B4-BE49-F238E27FC236}">
                <a16:creationId xmlns:a16="http://schemas.microsoft.com/office/drawing/2014/main" id="{850DD240-9A49-DC12-30F9-D671E4D0017F}"/>
              </a:ext>
            </a:extLst>
          </p:cNvPr>
          <p:cNvSpPr txBox="1"/>
          <p:nvPr/>
        </p:nvSpPr>
        <p:spPr>
          <a:xfrm>
            <a:off x="749300" y="3200856"/>
            <a:ext cx="2184400" cy="215444"/>
          </a:xfrm>
          <a:prstGeom prst="rect">
            <a:avLst/>
          </a:prstGeom>
          <a:noFill/>
        </p:spPr>
        <p:txBody>
          <a:bodyPr vert="horz" wrap="square" lIns="0" tIns="0" rIns="0" bIns="0" rtlCol="0">
            <a:noAutofit/>
          </a:bodyPr>
          <a:lstStyle/>
          <a:p>
            <a:r>
              <a:rPr lang="en-US" sz="900" dirty="0">
                <a:solidFill>
                  <a:srgbClr val="1C1F25"/>
                </a:solidFill>
                <a:latin typeface="Arial" panose="020B0604020202020204" pitchFamily="34" charset="0"/>
              </a:rPr>
              <a:t>A manually normalized train/dev/test corpus split by video.</a:t>
            </a:r>
            <a:endParaRPr lang="fr-FR" sz="900" dirty="0">
              <a:solidFill>
                <a:srgbClr val="1C1F25"/>
              </a:solidFill>
              <a:latin typeface="Arial" panose="020B0604020202020204" pitchFamily="34" charset="0"/>
            </a:endParaRPr>
          </a:p>
        </p:txBody>
      </p:sp>
      <p:sp>
        <p:nvSpPr>
          <p:cNvPr id="32" name="Rectangle 31">
            <a:extLst>
              <a:ext uri="{FF2B5EF4-FFF2-40B4-BE49-F238E27FC236}">
                <a16:creationId xmlns:a16="http://schemas.microsoft.com/office/drawing/2014/main" id="{1763032B-2FD1-1564-0936-B21374756D7B}"/>
              </a:ext>
            </a:extLst>
          </p:cNvPr>
          <p:cNvSpPr/>
          <p:nvPr/>
        </p:nvSpPr>
        <p:spPr>
          <a:xfrm>
            <a:off x="3340100" y="2603500"/>
            <a:ext cx="2463800" cy="13335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D46CF3AE-97C4-3530-2E04-BD5674FD2215}"/>
              </a:ext>
            </a:extLst>
          </p:cNvPr>
          <p:cNvSpPr/>
          <p:nvPr/>
        </p:nvSpPr>
        <p:spPr>
          <a:xfrm>
            <a:off x="3340100" y="2603500"/>
            <a:ext cx="2463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A6E3D9A9-4DC7-7A54-780E-967D4CC2CB0B}"/>
              </a:ext>
            </a:extLst>
          </p:cNvPr>
          <p:cNvSpPr txBox="1"/>
          <p:nvPr/>
        </p:nvSpPr>
        <p:spPr>
          <a:xfrm>
            <a:off x="3479800" y="2730500"/>
            <a:ext cx="2184400" cy="215444"/>
          </a:xfrm>
          <a:prstGeom prst="rect">
            <a:avLst/>
          </a:prstGeom>
          <a:noFill/>
        </p:spPr>
        <p:txBody>
          <a:bodyPr vert="horz" wrap="square" lIns="0" tIns="0" rIns="0" bIns="0" rtlCol="0">
            <a:noAutofit/>
          </a:bodyPr>
          <a:lstStyle/>
          <a:p>
            <a:r>
              <a:rPr lang="fr-FR" sz="1100" b="1">
                <a:solidFill>
                  <a:srgbClr val="0E2F46"/>
                </a:solidFill>
                <a:latin typeface="Arial" panose="020B0604020202020204" pitchFamily="34" charset="0"/>
              </a:rPr>
              <a:t>2 · CONTROLLED COMPARISON</a:t>
            </a:r>
          </a:p>
        </p:txBody>
      </p:sp>
      <p:sp>
        <p:nvSpPr>
          <p:cNvPr id="38" name="ZoneTexte 37">
            <a:extLst>
              <a:ext uri="{FF2B5EF4-FFF2-40B4-BE49-F238E27FC236}">
                <a16:creationId xmlns:a16="http://schemas.microsoft.com/office/drawing/2014/main" id="{84145DE7-0E5C-1FA9-924F-2C9F00B11BBE}"/>
              </a:ext>
            </a:extLst>
          </p:cNvPr>
          <p:cNvSpPr txBox="1"/>
          <p:nvPr/>
        </p:nvSpPr>
        <p:spPr>
          <a:xfrm>
            <a:off x="3486150" y="3186518"/>
            <a:ext cx="2184400" cy="215444"/>
          </a:xfrm>
          <a:prstGeom prst="rect">
            <a:avLst/>
          </a:prstGeom>
          <a:noFill/>
        </p:spPr>
        <p:txBody>
          <a:bodyPr vert="horz" wrap="square" lIns="0" tIns="0" rIns="0" bIns="0" rtlCol="0">
            <a:noAutofit/>
          </a:bodyPr>
          <a:lstStyle/>
          <a:p>
            <a:r>
              <a:rPr lang="en-US" sz="900" dirty="0">
                <a:solidFill>
                  <a:srgbClr val="1C1F25"/>
                </a:solidFill>
                <a:latin typeface="Arial" panose="020B0604020202020204" pitchFamily="34" charset="0"/>
              </a:rPr>
              <a:t>Five generators, matched formal targets, one evaluator and one protocol.</a:t>
            </a:r>
            <a:endParaRPr lang="fr-FR" sz="900" dirty="0">
              <a:solidFill>
                <a:srgbClr val="1C1F25"/>
              </a:solidFill>
              <a:latin typeface="Arial" panose="020B0604020202020204" pitchFamily="34" charset="0"/>
            </a:endParaRPr>
          </a:p>
        </p:txBody>
      </p:sp>
      <p:sp>
        <p:nvSpPr>
          <p:cNvPr id="40" name="Rectangle 39">
            <a:extLst>
              <a:ext uri="{FF2B5EF4-FFF2-40B4-BE49-F238E27FC236}">
                <a16:creationId xmlns:a16="http://schemas.microsoft.com/office/drawing/2014/main" id="{0F46319A-2F6F-2B6B-540D-50E05AB078CB}"/>
              </a:ext>
            </a:extLst>
          </p:cNvPr>
          <p:cNvSpPr/>
          <p:nvPr/>
        </p:nvSpPr>
        <p:spPr>
          <a:xfrm>
            <a:off x="6070600" y="2603500"/>
            <a:ext cx="2463800" cy="13335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923695F6-E66F-4909-EEC8-C63D7874D1D6}"/>
              </a:ext>
            </a:extLst>
          </p:cNvPr>
          <p:cNvSpPr/>
          <p:nvPr/>
        </p:nvSpPr>
        <p:spPr>
          <a:xfrm>
            <a:off x="6070600" y="2603500"/>
            <a:ext cx="24638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EC630C0A-050A-E546-03A1-C4192C391F21}"/>
              </a:ext>
            </a:extLst>
          </p:cNvPr>
          <p:cNvSpPr txBox="1"/>
          <p:nvPr/>
        </p:nvSpPr>
        <p:spPr>
          <a:xfrm>
            <a:off x="6210300" y="2730500"/>
            <a:ext cx="2184400" cy="215444"/>
          </a:xfrm>
          <a:prstGeom prst="rect">
            <a:avLst/>
          </a:prstGeom>
          <a:noFill/>
        </p:spPr>
        <p:txBody>
          <a:bodyPr vert="horz" wrap="square" lIns="0" tIns="0" rIns="0" bIns="0" rtlCol="0">
            <a:noAutofit/>
          </a:bodyPr>
          <a:lstStyle/>
          <a:p>
            <a:r>
              <a:rPr lang="fr-FR" sz="1100" b="1">
                <a:solidFill>
                  <a:srgbClr val="976F1D"/>
                </a:solidFill>
                <a:latin typeface="Arial" panose="020B0604020202020204" pitchFamily="34" charset="0"/>
              </a:rPr>
              <a:t>3 · AUDITABLE ANALYSIS</a:t>
            </a:r>
          </a:p>
        </p:txBody>
      </p:sp>
      <p:sp>
        <p:nvSpPr>
          <p:cNvPr id="46" name="ZoneTexte 45">
            <a:extLst>
              <a:ext uri="{FF2B5EF4-FFF2-40B4-BE49-F238E27FC236}">
                <a16:creationId xmlns:a16="http://schemas.microsoft.com/office/drawing/2014/main" id="{F86F7538-D305-F5E2-983B-100A756785FC}"/>
              </a:ext>
            </a:extLst>
          </p:cNvPr>
          <p:cNvSpPr txBox="1"/>
          <p:nvPr/>
        </p:nvSpPr>
        <p:spPr>
          <a:xfrm>
            <a:off x="6210300" y="3086556"/>
            <a:ext cx="2184400" cy="215444"/>
          </a:xfrm>
          <a:prstGeom prst="rect">
            <a:avLst/>
          </a:prstGeom>
          <a:noFill/>
        </p:spPr>
        <p:txBody>
          <a:bodyPr vert="horz" wrap="square" lIns="0" tIns="0" rIns="0" bIns="0" rtlCol="0">
            <a:noAutofit/>
          </a:bodyPr>
          <a:lstStyle/>
          <a:p>
            <a:r>
              <a:rPr lang="en-US" sz="900" dirty="0">
                <a:solidFill>
                  <a:srgbClr val="1C1F25"/>
                </a:solidFill>
                <a:latin typeface="Arial" panose="020B0604020202020204" pitchFamily="34" charset="0"/>
              </a:rPr>
              <a:t>Gold transformations, generator mechanisms and strict edit behavior.</a:t>
            </a:r>
            <a:endParaRPr lang="fr-FR" sz="900" dirty="0">
              <a:solidFill>
                <a:srgbClr val="1C1F25"/>
              </a:solidFill>
              <a:latin typeface="Arial" panose="020B0604020202020204" pitchFamily="34" charset="0"/>
            </a:endParaRPr>
          </a:p>
        </p:txBody>
      </p:sp>
      <p:sp>
        <p:nvSpPr>
          <p:cNvPr id="6" name="Rectangle 5">
            <a:extLst>
              <a:ext uri="{FF2B5EF4-FFF2-40B4-BE49-F238E27FC236}">
                <a16:creationId xmlns:a16="http://schemas.microsoft.com/office/drawing/2014/main" id="{D1460207-7F5F-3711-7A2F-D84AC02EFA65}"/>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AF8912A4-D49B-0DDB-8D88-D69F78302A36}"/>
              </a:ext>
            </a:extLst>
          </p:cNvPr>
          <p:cNvSpPr/>
          <p:nvPr/>
        </p:nvSpPr>
        <p:spPr>
          <a:xfrm>
            <a:off x="546100" y="317500"/>
            <a:ext cx="8890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7BC97D08-4866-6876-3E10-9DC8B695E44A}"/>
              </a:ext>
            </a:extLst>
          </p:cNvPr>
          <p:cNvSpPr txBox="1"/>
          <p:nvPr/>
        </p:nvSpPr>
        <p:spPr>
          <a:xfrm>
            <a:off x="546100" y="381000"/>
            <a:ext cx="8890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Close</a:t>
            </a:r>
          </a:p>
        </p:txBody>
      </p:sp>
      <p:sp>
        <p:nvSpPr>
          <p:cNvPr id="4" name="ZoneTexte 3">
            <a:extLst>
              <a:ext uri="{FF2B5EF4-FFF2-40B4-BE49-F238E27FC236}">
                <a16:creationId xmlns:a16="http://schemas.microsoft.com/office/drawing/2014/main" id="{64DA1E75-1EC1-B8A9-1807-9D4611DBD4D2}"/>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Synthetic data helps - but calibration decides how</a:t>
            </a:r>
            <a:endParaRPr lang="fr-FR" sz="1900" b="1">
              <a:solidFill>
                <a:srgbClr val="57658D"/>
              </a:solidFill>
              <a:latin typeface="Arial" panose="020B0604020202020204" pitchFamily="34" charset="0"/>
            </a:endParaRPr>
          </a:p>
        </p:txBody>
      </p:sp>
      <p:sp>
        <p:nvSpPr>
          <p:cNvPr id="13" name="ZoneTexte 12">
            <a:extLst>
              <a:ext uri="{FF2B5EF4-FFF2-40B4-BE49-F238E27FC236}">
                <a16:creationId xmlns:a16="http://schemas.microsoft.com/office/drawing/2014/main" id="{8D824BC9-F086-E1C4-35C9-ECD4CD32B143}"/>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14" name="ZoneTexte 13">
            <a:extLst>
              <a:ext uri="{FF2B5EF4-FFF2-40B4-BE49-F238E27FC236}">
                <a16:creationId xmlns:a16="http://schemas.microsoft.com/office/drawing/2014/main" id="{9A1DE32F-730F-7027-1E7A-40E551539B8F}"/>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Conclusion</a:t>
            </a:r>
          </a:p>
        </p:txBody>
      </p:sp>
      <p:sp>
        <p:nvSpPr>
          <p:cNvPr id="15" name="ZoneTexte 14">
            <a:extLst>
              <a:ext uri="{FF2B5EF4-FFF2-40B4-BE49-F238E27FC236}">
                <a16:creationId xmlns:a16="http://schemas.microsoft.com/office/drawing/2014/main" id="{1F225977-D9C7-CE07-9E75-0367D97E41AC}"/>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19 / 36</a:t>
            </a:r>
          </a:p>
        </p:txBody>
      </p:sp>
      <p:pic>
        <p:nvPicPr>
          <p:cNvPr id="17" name="Image 16">
            <a:extLst>
              <a:ext uri="{FF2B5EF4-FFF2-40B4-BE49-F238E27FC236}">
                <a16:creationId xmlns:a16="http://schemas.microsoft.com/office/drawing/2014/main" id="{0EA8C767-6F9A-4BA0-017B-C22BEEB6B660}"/>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195754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3046"/>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ABB3F49B-CE3F-C4EE-46B1-4BE69B0B4AE7}"/>
              </a:ext>
            </a:extLst>
          </p:cNvPr>
          <p:cNvPicPr>
            <a:picLocks/>
          </p:cNvPicPr>
          <p:nvPr/>
        </p:nvPicPr>
        <p:blipFill>
          <a:blip r:embed="rId3"/>
          <a:stretch>
            <a:fillRect/>
          </a:stretch>
        </p:blipFill>
        <p:spPr>
          <a:xfrm>
            <a:off x="0" y="0"/>
            <a:ext cx="9144000" cy="5143500"/>
          </a:xfrm>
          <a:prstGeom prst="rect">
            <a:avLst/>
          </a:prstGeom>
        </p:spPr>
      </p:pic>
      <p:sp>
        <p:nvSpPr>
          <p:cNvPr id="14" name="Rectangle : coins arrondis 13">
            <a:extLst>
              <a:ext uri="{FF2B5EF4-FFF2-40B4-BE49-F238E27FC236}">
                <a16:creationId xmlns:a16="http://schemas.microsoft.com/office/drawing/2014/main" id="{581FEEED-4A29-A429-DF3E-CE72E653F20D}"/>
              </a:ext>
            </a:extLst>
          </p:cNvPr>
          <p:cNvSpPr/>
          <p:nvPr/>
        </p:nvSpPr>
        <p:spPr>
          <a:xfrm>
            <a:off x="546100" y="508000"/>
            <a:ext cx="9906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6CC67C2D-82FE-D42B-2DFA-6B9D4B65652B}"/>
              </a:ext>
            </a:extLst>
          </p:cNvPr>
          <p:cNvSpPr txBox="1"/>
          <p:nvPr/>
        </p:nvSpPr>
        <p:spPr>
          <a:xfrm>
            <a:off x="546100" y="571500"/>
            <a:ext cx="9906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16" name="ZoneTexte 15">
            <a:extLst>
              <a:ext uri="{FF2B5EF4-FFF2-40B4-BE49-F238E27FC236}">
                <a16:creationId xmlns:a16="http://schemas.microsoft.com/office/drawing/2014/main" id="{5DB1ED44-9FB7-AA98-5376-2276C51D211A}"/>
              </a:ext>
            </a:extLst>
          </p:cNvPr>
          <p:cNvSpPr txBox="1"/>
          <p:nvPr/>
        </p:nvSpPr>
        <p:spPr>
          <a:xfrm>
            <a:off x="546100" y="1625600"/>
            <a:ext cx="5207000" cy="215444"/>
          </a:xfrm>
          <a:prstGeom prst="rect">
            <a:avLst/>
          </a:prstGeom>
          <a:noFill/>
        </p:spPr>
        <p:txBody>
          <a:bodyPr vert="horz" wrap="square" lIns="0" tIns="0" rIns="0" bIns="0" rtlCol="0">
            <a:noAutofit/>
          </a:bodyPr>
          <a:lstStyle/>
          <a:p>
            <a:r>
              <a:rPr lang="fr-FR" sz="2600" b="1">
                <a:solidFill>
                  <a:srgbClr val="FFFFFF"/>
                </a:solidFill>
                <a:latin typeface="Arial" panose="020B0604020202020204" pitchFamily="34" charset="0"/>
              </a:rPr>
              <a:t>Backup slides</a:t>
            </a:r>
          </a:p>
        </p:txBody>
      </p:sp>
      <p:sp>
        <p:nvSpPr>
          <p:cNvPr id="17" name="ZoneTexte 16">
            <a:extLst>
              <a:ext uri="{FF2B5EF4-FFF2-40B4-BE49-F238E27FC236}">
                <a16:creationId xmlns:a16="http://schemas.microsoft.com/office/drawing/2014/main" id="{31495995-3E13-7FFD-D304-6CAC0E481F78}"/>
              </a:ext>
            </a:extLst>
          </p:cNvPr>
          <p:cNvSpPr txBox="1"/>
          <p:nvPr/>
        </p:nvSpPr>
        <p:spPr>
          <a:xfrm>
            <a:off x="546100" y="2171700"/>
            <a:ext cx="5461000" cy="215444"/>
          </a:xfrm>
          <a:prstGeom prst="rect">
            <a:avLst/>
          </a:prstGeom>
          <a:noFill/>
        </p:spPr>
        <p:txBody>
          <a:bodyPr vert="horz" wrap="square" lIns="0" tIns="0" rIns="0" bIns="0" rtlCol="0">
            <a:noAutofit/>
          </a:bodyPr>
          <a:lstStyle/>
          <a:p>
            <a:r>
              <a:rPr lang="fr-FR" sz="1300" i="1">
                <a:solidFill>
                  <a:srgbClr val="FFFFFF"/>
                </a:solidFill>
                <a:latin typeface="Georgia" panose="02040502050405020303" pitchFamily="18" charset="0"/>
              </a:rPr>
              <a:t>Additional evidence for discussion</a:t>
            </a:r>
          </a:p>
        </p:txBody>
      </p:sp>
      <p:sp>
        <p:nvSpPr>
          <p:cNvPr id="18" name="ZoneTexte 17">
            <a:extLst>
              <a:ext uri="{FF2B5EF4-FFF2-40B4-BE49-F238E27FC236}">
                <a16:creationId xmlns:a16="http://schemas.microsoft.com/office/drawing/2014/main" id="{236A7A69-6302-BD9F-48A0-AEA321A45AFC}"/>
              </a:ext>
            </a:extLst>
          </p:cNvPr>
          <p:cNvSpPr txBox="1"/>
          <p:nvPr/>
        </p:nvSpPr>
        <p:spPr>
          <a:xfrm>
            <a:off x="546100" y="2844800"/>
            <a:ext cx="6350000" cy="215444"/>
          </a:xfrm>
          <a:prstGeom prst="rect">
            <a:avLst/>
          </a:prstGeom>
          <a:noFill/>
        </p:spPr>
        <p:txBody>
          <a:bodyPr vert="horz" wrap="square" lIns="0" tIns="0" rIns="0" bIns="0" rtlCol="0">
            <a:noAutofit/>
          </a:bodyPr>
          <a:lstStyle/>
          <a:p>
            <a:r>
              <a:rPr lang="en-US" sz="930">
                <a:solidFill>
                  <a:srgbClr val="FFFFFF"/>
                </a:solidFill>
                <a:latin typeface="Arial" panose="020B0604020202020204" pitchFamily="34" charset="0"/>
              </a:rPr>
              <a:t>Gold patterns · generator mechanics · frozen predictions · reproducibility</a:t>
            </a:r>
            <a:endParaRPr lang="fr-FR" sz="930">
              <a:solidFill>
                <a:srgbClr val="FFFFFF"/>
              </a:solidFill>
              <a:latin typeface="Arial" panose="020B0604020202020204" pitchFamily="34" charset="0"/>
            </a:endParaRPr>
          </a:p>
        </p:txBody>
      </p:sp>
      <p:sp>
        <p:nvSpPr>
          <p:cNvPr id="19" name="ZoneTexte 18">
            <a:extLst>
              <a:ext uri="{FF2B5EF4-FFF2-40B4-BE49-F238E27FC236}">
                <a16:creationId xmlns:a16="http://schemas.microsoft.com/office/drawing/2014/main" id="{CF3BD958-F089-71FF-CDED-8BB97BF0CCBA}"/>
              </a:ext>
            </a:extLst>
          </p:cNvPr>
          <p:cNvSpPr txBox="1"/>
          <p:nvPr/>
        </p:nvSpPr>
        <p:spPr>
          <a:xfrm>
            <a:off x="546100" y="4851400"/>
            <a:ext cx="3556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0" name="ZoneTexte 19">
            <a:extLst>
              <a:ext uri="{FF2B5EF4-FFF2-40B4-BE49-F238E27FC236}">
                <a16:creationId xmlns:a16="http://schemas.microsoft.com/office/drawing/2014/main" id="{AF493E4B-835E-C05F-0D19-22A5FF08449A}"/>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FFFFFF"/>
                </a:solidFill>
                <a:latin typeface="Arial" panose="020B0604020202020204" pitchFamily="34" charset="0"/>
              </a:rPr>
              <a:t>20 / 36</a:t>
            </a:r>
          </a:p>
        </p:txBody>
      </p:sp>
    </p:spTree>
    <p:extLst>
      <p:ext uri="{BB962C8B-B14F-4D97-AF65-F5344CB8AC3E}">
        <p14:creationId xmlns:p14="http://schemas.microsoft.com/office/powerpoint/2010/main" val="1663592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36B8E138-383E-1364-C9F4-BA0D5F26920D}"/>
              </a:ext>
            </a:extLst>
          </p:cNvPr>
          <p:cNvSpPr/>
          <p:nvPr/>
        </p:nvSpPr>
        <p:spPr>
          <a:xfrm>
            <a:off x="546100" y="317500"/>
            <a:ext cx="1308100" cy="292100"/>
          </a:xfrm>
          <a:prstGeom prst="round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36B98A81-2301-383A-DEF9-A48806FBF916}"/>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BACKUP</a:t>
            </a:r>
          </a:p>
        </p:txBody>
      </p:sp>
      <p:pic>
        <p:nvPicPr>
          <p:cNvPr id="10" name="Image 9">
            <a:extLst>
              <a:ext uri="{FF2B5EF4-FFF2-40B4-BE49-F238E27FC236}">
                <a16:creationId xmlns:a16="http://schemas.microsoft.com/office/drawing/2014/main" id="{E35308E2-B829-F819-2203-C30A413DA48B}"/>
              </a:ext>
            </a:extLst>
          </p:cNvPr>
          <p:cNvPicPr>
            <a:picLocks noChangeAspect="1"/>
          </p:cNvPicPr>
          <p:nvPr/>
        </p:nvPicPr>
        <p:blipFill>
          <a:blip r:embed="rId3"/>
          <a:stretch>
            <a:fillRect/>
          </a:stretch>
        </p:blipFill>
        <p:spPr>
          <a:xfrm>
            <a:off x="3049200" y="1907822"/>
            <a:ext cx="3045601" cy="2039056"/>
          </a:xfrm>
          <a:prstGeom prst="rect">
            <a:avLst/>
          </a:prstGeom>
        </p:spPr>
      </p:pic>
      <p:sp>
        <p:nvSpPr>
          <p:cNvPr id="9" name="Rectangle 8">
            <a:extLst>
              <a:ext uri="{FF2B5EF4-FFF2-40B4-BE49-F238E27FC236}">
                <a16:creationId xmlns:a16="http://schemas.microsoft.com/office/drawing/2014/main" id="{054265AA-55FE-C1ED-CA41-6B8A20C2ED37}"/>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860702E-CFDB-58BC-57B8-A9EE99375EA9}"/>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D833B0BA-8933-40B4-73D5-18676A6B5E69}"/>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4" name="ZoneTexte 3">
            <a:extLst>
              <a:ext uri="{FF2B5EF4-FFF2-40B4-BE49-F238E27FC236}">
                <a16:creationId xmlns:a16="http://schemas.microsoft.com/office/drawing/2014/main" id="{9298202B-6EBB-5A95-1ED0-B10F32CBB847}"/>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Change rates differ sharply by grammatical category</a:t>
            </a:r>
            <a:endParaRPr lang="fr-FR" sz="1900" b="1">
              <a:solidFill>
                <a:srgbClr val="57658D"/>
              </a:solidFill>
              <a:latin typeface="Arial" panose="020B0604020202020204" pitchFamily="34" charset="0"/>
            </a:endParaRPr>
          </a:p>
        </p:txBody>
      </p:sp>
      <p:sp>
        <p:nvSpPr>
          <p:cNvPr id="14" name="ZoneTexte 13">
            <a:extLst>
              <a:ext uri="{FF2B5EF4-FFF2-40B4-BE49-F238E27FC236}">
                <a16:creationId xmlns:a16="http://schemas.microsoft.com/office/drawing/2014/main" id="{A43408CF-256D-149E-F24E-8A2CD8AC6CCC}"/>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15" name="ZoneTexte 14">
            <a:extLst>
              <a:ext uri="{FF2B5EF4-FFF2-40B4-BE49-F238E27FC236}">
                <a16:creationId xmlns:a16="http://schemas.microsoft.com/office/drawing/2014/main" id="{73D1F7F1-2081-6584-A873-294F345D581C}"/>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Gold POS analysis</a:t>
            </a:r>
          </a:p>
        </p:txBody>
      </p:sp>
      <p:sp>
        <p:nvSpPr>
          <p:cNvPr id="16" name="ZoneTexte 15">
            <a:extLst>
              <a:ext uri="{FF2B5EF4-FFF2-40B4-BE49-F238E27FC236}">
                <a16:creationId xmlns:a16="http://schemas.microsoft.com/office/drawing/2014/main" id="{7D2C9B9A-93D4-5FF7-FE15-77A274791EE3}"/>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21 / 36</a:t>
            </a:r>
          </a:p>
        </p:txBody>
      </p:sp>
      <p:pic>
        <p:nvPicPr>
          <p:cNvPr id="18" name="Image 17">
            <a:extLst>
              <a:ext uri="{FF2B5EF4-FFF2-40B4-BE49-F238E27FC236}">
                <a16:creationId xmlns:a16="http://schemas.microsoft.com/office/drawing/2014/main" id="{AA4A168A-D88D-C812-3A26-917F4F949F3E}"/>
              </a:ext>
            </a:extLst>
          </p:cNvPr>
          <p:cNvPicPr>
            <a:picLocks/>
          </p:cNvPicPr>
          <p:nvPr/>
        </p:nvPicPr>
        <p:blipFill>
          <a:blip r:embed="rId4"/>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788576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E112AA80-3839-22C0-BD55-DDB1C7F81EF5}"/>
              </a:ext>
            </a:extLst>
          </p:cNvPr>
          <p:cNvSpPr/>
          <p:nvPr/>
        </p:nvSpPr>
        <p:spPr>
          <a:xfrm>
            <a:off x="546100" y="317500"/>
            <a:ext cx="1308100" cy="292100"/>
          </a:xfrm>
          <a:prstGeom prst="round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A26F646-0391-C085-6A10-55EC7F3FF467}"/>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BACKUP</a:t>
            </a:r>
          </a:p>
        </p:txBody>
      </p:sp>
      <p:sp>
        <p:nvSpPr>
          <p:cNvPr id="4" name="ZoneTexte 3">
            <a:extLst>
              <a:ext uri="{FF2B5EF4-FFF2-40B4-BE49-F238E27FC236}">
                <a16:creationId xmlns:a16="http://schemas.microsoft.com/office/drawing/2014/main" id="{A6949177-3F21-8637-701E-10400DB029F3}"/>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700" b="1">
                <a:solidFill>
                  <a:srgbClr val="57658D"/>
                </a:solidFill>
                <a:latin typeface="Arial" panose="020B0604020202020204" pitchFamily="34" charset="0"/>
              </a:rPr>
              <a:t>Frozen predictions reveal partial repair and accumulated errors</a:t>
            </a:r>
            <a:endParaRPr lang="fr-FR" sz="1700" b="1">
              <a:solidFill>
                <a:srgbClr val="57658D"/>
              </a:solidFill>
              <a:latin typeface="Arial" panose="020B0604020202020204" pitchFamily="34" charset="0"/>
            </a:endParaRPr>
          </a:p>
        </p:txBody>
      </p:sp>
      <p:sp>
        <p:nvSpPr>
          <p:cNvPr id="9" name="Rectangle 8">
            <a:extLst>
              <a:ext uri="{FF2B5EF4-FFF2-40B4-BE49-F238E27FC236}">
                <a16:creationId xmlns:a16="http://schemas.microsoft.com/office/drawing/2014/main" id="{1290E388-6F32-D808-819E-BAAD6EFAA943}"/>
              </a:ext>
            </a:extLst>
          </p:cNvPr>
          <p:cNvSpPr/>
          <p:nvPr/>
        </p:nvSpPr>
        <p:spPr>
          <a:xfrm>
            <a:off x="546100" y="1371600"/>
            <a:ext cx="3860800" cy="27559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D7B4ED5F-1493-6DBF-19FB-D0588C6D7E9A}"/>
              </a:ext>
            </a:extLst>
          </p:cNvPr>
          <p:cNvSpPr/>
          <p:nvPr/>
        </p:nvSpPr>
        <p:spPr>
          <a:xfrm>
            <a:off x="546100" y="1371600"/>
            <a:ext cx="3860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60A1EDF-CEF9-56EA-D84A-5BDF831E1E03}"/>
              </a:ext>
            </a:extLst>
          </p:cNvPr>
          <p:cNvSpPr txBox="1"/>
          <p:nvPr/>
        </p:nvSpPr>
        <p:spPr>
          <a:xfrm>
            <a:off x="685800" y="1498600"/>
            <a:ext cx="3581400" cy="215444"/>
          </a:xfrm>
          <a:prstGeom prst="rect">
            <a:avLst/>
          </a:prstGeom>
          <a:noFill/>
        </p:spPr>
        <p:txBody>
          <a:bodyPr vert="horz" wrap="square" lIns="0" tIns="0" rIns="0" bIns="0" rtlCol="0">
            <a:noAutofit/>
          </a:bodyPr>
          <a:lstStyle/>
          <a:p>
            <a:r>
              <a:rPr lang="fr-FR" sz="1050" b="1">
                <a:solidFill>
                  <a:srgbClr val="0E2F46"/>
                </a:solidFill>
                <a:latin typeface="Arial" panose="020B0604020202020204" pitchFamily="34" charset="0"/>
              </a:rPr>
              <a:t>SHORTER EXAMPLE</a:t>
            </a:r>
          </a:p>
        </p:txBody>
      </p:sp>
      <p:sp>
        <p:nvSpPr>
          <p:cNvPr id="12" name="ZoneTexte 11">
            <a:extLst>
              <a:ext uri="{FF2B5EF4-FFF2-40B4-BE49-F238E27FC236}">
                <a16:creationId xmlns:a16="http://schemas.microsoft.com/office/drawing/2014/main" id="{A4A529F1-65CB-A616-3F46-B12F8432CAFF}"/>
              </a:ext>
            </a:extLst>
          </p:cNvPr>
          <p:cNvSpPr txBox="1"/>
          <p:nvPr/>
        </p:nvSpPr>
        <p:spPr>
          <a:xfrm>
            <a:off x="685800" y="1778000"/>
            <a:ext cx="3581400" cy="215444"/>
          </a:xfrm>
          <a:prstGeom prst="rect">
            <a:avLst/>
          </a:prstGeom>
          <a:noFill/>
        </p:spPr>
        <p:txBody>
          <a:bodyPr vert="horz" wrap="square" lIns="0" tIns="0" rIns="0" bIns="0" rtlCol="0">
            <a:noAutofit/>
          </a:bodyPr>
          <a:lstStyle/>
          <a:p>
            <a:r>
              <a:rPr lang="fr-FR" sz="850" dirty="0">
                <a:solidFill>
                  <a:srgbClr val="1C1F25"/>
                </a:solidFill>
                <a:latin typeface="Arial" panose="020B0604020202020204" pitchFamily="34" charset="0"/>
              </a:rPr>
              <a:t>Input: mareme </a:t>
            </a:r>
            <a:r>
              <a:rPr lang="fr-FR" sz="850" dirty="0" err="1">
                <a:solidFill>
                  <a:srgbClr val="1C1F25"/>
                </a:solidFill>
                <a:latin typeface="Arial" panose="020B0604020202020204" pitchFamily="34" charset="0"/>
              </a:rPr>
              <a:t>mom</a:t>
            </a:r>
            <a:r>
              <a:rPr lang="fr-FR" sz="850" dirty="0">
                <a:solidFill>
                  <a:srgbClr val="1C1F25"/>
                </a:solidFill>
                <a:latin typeface="Arial" panose="020B0604020202020204" pitchFamily="34" charset="0"/>
              </a:rPr>
              <a:t> dey forcer trop vraiment </a:t>
            </a:r>
            <a:r>
              <a:rPr lang="fr-FR" sz="850" dirty="0" err="1">
                <a:solidFill>
                  <a:srgbClr val="1C1F25"/>
                </a:solidFill>
                <a:latin typeface="Arial" panose="020B0604020202020204" pitchFamily="34" charset="0"/>
              </a:rPr>
              <a:t>amoufi</a:t>
            </a:r>
            <a:r>
              <a:rPr lang="fr-FR" sz="850" dirty="0">
                <a:solidFill>
                  <a:srgbClr val="1C1F25"/>
                </a:solidFill>
                <a:latin typeface="Arial" panose="020B0604020202020204" pitchFamily="34" charset="0"/>
              </a:rPr>
              <a:t> place
Gold: mareme </a:t>
            </a:r>
            <a:r>
              <a:rPr lang="fr-FR" sz="850" dirty="0" err="1">
                <a:solidFill>
                  <a:srgbClr val="1C1F25"/>
                </a:solidFill>
                <a:latin typeface="Arial" panose="020B0604020202020204" pitchFamily="34" charset="0"/>
              </a:rPr>
              <a:t>moom</a:t>
            </a:r>
            <a:r>
              <a:rPr lang="fr-FR" sz="850" dirty="0">
                <a:solidFill>
                  <a:srgbClr val="1C1F25"/>
                </a:solidFill>
                <a:latin typeface="Arial" panose="020B0604020202020204" pitchFamily="34" charset="0"/>
              </a:rPr>
              <a:t> dey forcer trop vraiment </a:t>
            </a:r>
            <a:r>
              <a:rPr lang="fr-FR" sz="850" dirty="0" err="1">
                <a:solidFill>
                  <a:srgbClr val="1C1F25"/>
                </a:solidFill>
                <a:latin typeface="Arial" panose="020B0604020202020204" pitchFamily="34" charset="0"/>
              </a:rPr>
              <a:t>amu</a:t>
            </a:r>
            <a:r>
              <a:rPr lang="fr-FR" sz="850" dirty="0">
                <a:solidFill>
                  <a:srgbClr val="1C1F25"/>
                </a:solidFill>
                <a:latin typeface="Arial" panose="020B0604020202020204" pitchFamily="34" charset="0"/>
              </a:rPr>
              <a:t> fi place
M1/M4/M6: mareme </a:t>
            </a:r>
            <a:r>
              <a:rPr lang="fr-FR" sz="850" dirty="0" err="1">
                <a:solidFill>
                  <a:srgbClr val="1C1F25"/>
                </a:solidFill>
                <a:latin typeface="Arial" panose="020B0604020202020204" pitchFamily="34" charset="0"/>
              </a:rPr>
              <a:t>mom</a:t>
            </a:r>
            <a:r>
              <a:rPr lang="fr-FR" sz="850" dirty="0">
                <a:solidFill>
                  <a:srgbClr val="1C1F25"/>
                </a:solidFill>
                <a:latin typeface="Arial" panose="020B0604020202020204" pitchFamily="34" charset="0"/>
              </a:rPr>
              <a:t> dey forcer trop vraiment </a:t>
            </a:r>
            <a:r>
              <a:rPr lang="fr-FR" sz="850" dirty="0" err="1">
                <a:solidFill>
                  <a:srgbClr val="1C1F25"/>
                </a:solidFill>
                <a:latin typeface="Arial" panose="020B0604020202020204" pitchFamily="34" charset="0"/>
              </a:rPr>
              <a:t>amufi</a:t>
            </a:r>
            <a:r>
              <a:rPr lang="fr-FR" sz="850" dirty="0">
                <a:solidFill>
                  <a:srgbClr val="1C1F25"/>
                </a:solidFill>
                <a:latin typeface="Arial" panose="020B0604020202020204" pitchFamily="34" charset="0"/>
              </a:rPr>
              <a:t> place
Character </a:t>
            </a:r>
            <a:r>
              <a:rPr lang="fr-FR" sz="850" dirty="0" err="1">
                <a:solidFill>
                  <a:srgbClr val="1C1F25"/>
                </a:solidFill>
                <a:latin typeface="Arial" panose="020B0604020202020204" pitchFamily="34" charset="0"/>
              </a:rPr>
              <a:t>repair</a:t>
            </a:r>
            <a:r>
              <a:rPr lang="fr-FR" sz="850" dirty="0">
                <a:solidFill>
                  <a:srgbClr val="1C1F25"/>
                </a:solidFill>
                <a:latin typeface="Arial" panose="020B0604020202020204" pitchFamily="34" charset="0"/>
              </a:rPr>
              <a:t> </a:t>
            </a:r>
            <a:r>
              <a:rPr lang="fr-FR" sz="850" dirty="0" err="1">
                <a:solidFill>
                  <a:srgbClr val="1C1F25"/>
                </a:solidFill>
                <a:latin typeface="Arial" panose="020B0604020202020204" pitchFamily="34" charset="0"/>
              </a:rPr>
              <a:t>occurs</a:t>
            </a:r>
            <a:r>
              <a:rPr lang="fr-FR" sz="850" dirty="0">
                <a:solidFill>
                  <a:srgbClr val="1C1F25"/>
                </a:solidFill>
                <a:latin typeface="Arial" panose="020B0604020202020204" pitchFamily="34" charset="0"/>
              </a:rPr>
              <a:t>, but </a:t>
            </a:r>
            <a:r>
              <a:rPr lang="fr-FR" sz="850" dirty="0" err="1">
                <a:solidFill>
                  <a:srgbClr val="1C1F25"/>
                </a:solidFill>
                <a:latin typeface="Arial" panose="020B0604020202020204" pitchFamily="34" charset="0"/>
              </a:rPr>
              <a:t>vowel</a:t>
            </a:r>
            <a:r>
              <a:rPr lang="fr-FR" sz="850" dirty="0">
                <a:solidFill>
                  <a:srgbClr val="1C1F25"/>
                </a:solidFill>
                <a:latin typeface="Arial" panose="020B0604020202020204" pitchFamily="34" charset="0"/>
              </a:rPr>
              <a:t> </a:t>
            </a:r>
            <a:r>
              <a:rPr lang="fr-FR" sz="850" dirty="0" err="1">
                <a:solidFill>
                  <a:srgbClr val="1C1F25"/>
                </a:solidFill>
                <a:latin typeface="Arial" panose="020B0604020202020204" pitchFamily="34" charset="0"/>
              </a:rPr>
              <a:t>length</a:t>
            </a:r>
            <a:r>
              <a:rPr lang="fr-FR" sz="850" dirty="0">
                <a:solidFill>
                  <a:srgbClr val="1C1F25"/>
                </a:solidFill>
                <a:latin typeface="Arial" panose="020B0604020202020204" pitchFamily="34" charset="0"/>
              </a:rPr>
              <a:t> and </a:t>
            </a:r>
            <a:r>
              <a:rPr lang="fr-FR" sz="850" dirty="0" err="1">
                <a:solidFill>
                  <a:srgbClr val="1C1F25"/>
                </a:solidFill>
                <a:latin typeface="Arial" panose="020B0604020202020204" pitchFamily="34" charset="0"/>
              </a:rPr>
              <a:t>spacing</a:t>
            </a:r>
            <a:r>
              <a:rPr lang="fr-FR" sz="850" dirty="0">
                <a:solidFill>
                  <a:srgbClr val="1C1F25"/>
                </a:solidFill>
                <a:latin typeface="Arial" panose="020B0604020202020204" pitchFamily="34" charset="0"/>
              </a:rPr>
              <a:t> remain wrong.</a:t>
            </a:r>
          </a:p>
        </p:txBody>
      </p:sp>
      <p:sp>
        <p:nvSpPr>
          <p:cNvPr id="13" name="Rectangle 12">
            <a:extLst>
              <a:ext uri="{FF2B5EF4-FFF2-40B4-BE49-F238E27FC236}">
                <a16:creationId xmlns:a16="http://schemas.microsoft.com/office/drawing/2014/main" id="{363EB528-4986-0C76-B09C-3C487484CBB5}"/>
              </a:ext>
            </a:extLst>
          </p:cNvPr>
          <p:cNvSpPr/>
          <p:nvPr/>
        </p:nvSpPr>
        <p:spPr>
          <a:xfrm>
            <a:off x="4737100" y="1371600"/>
            <a:ext cx="3860800" cy="27559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0ED16C5D-AD88-69C9-CDE6-94BEAE0FE984}"/>
              </a:ext>
            </a:extLst>
          </p:cNvPr>
          <p:cNvSpPr/>
          <p:nvPr/>
        </p:nvSpPr>
        <p:spPr>
          <a:xfrm>
            <a:off x="4737100" y="1371600"/>
            <a:ext cx="38608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9BEF6976-7C15-B37C-A718-86462342FAE7}"/>
              </a:ext>
            </a:extLst>
          </p:cNvPr>
          <p:cNvSpPr txBox="1"/>
          <p:nvPr/>
        </p:nvSpPr>
        <p:spPr>
          <a:xfrm>
            <a:off x="4876800" y="1498600"/>
            <a:ext cx="3581400" cy="215444"/>
          </a:xfrm>
          <a:prstGeom prst="rect">
            <a:avLst/>
          </a:prstGeom>
          <a:noFill/>
        </p:spPr>
        <p:txBody>
          <a:bodyPr vert="horz" wrap="square" lIns="0" tIns="0" rIns="0" bIns="0" rtlCol="0">
            <a:noAutofit/>
          </a:bodyPr>
          <a:lstStyle/>
          <a:p>
            <a:r>
              <a:rPr lang="fr-FR" sz="1050" b="1">
                <a:solidFill>
                  <a:srgbClr val="976F1D"/>
                </a:solidFill>
                <a:latin typeface="Arial" panose="020B0604020202020204" pitchFamily="34" charset="0"/>
              </a:rPr>
              <a:t>LONGER EXAMPLE</a:t>
            </a:r>
          </a:p>
        </p:txBody>
      </p:sp>
      <p:sp>
        <p:nvSpPr>
          <p:cNvPr id="16" name="ZoneTexte 15">
            <a:extLst>
              <a:ext uri="{FF2B5EF4-FFF2-40B4-BE49-F238E27FC236}">
                <a16:creationId xmlns:a16="http://schemas.microsoft.com/office/drawing/2014/main" id="{0267A304-DFCD-63F6-AA90-E1593D097AC1}"/>
              </a:ext>
            </a:extLst>
          </p:cNvPr>
          <p:cNvSpPr txBox="1"/>
          <p:nvPr/>
        </p:nvSpPr>
        <p:spPr>
          <a:xfrm>
            <a:off x="4876800" y="1778000"/>
            <a:ext cx="3581400" cy="215444"/>
          </a:xfrm>
          <a:prstGeom prst="rect">
            <a:avLst/>
          </a:prstGeom>
          <a:noFill/>
        </p:spPr>
        <p:txBody>
          <a:bodyPr vert="horz" wrap="square" lIns="0" tIns="0" rIns="0" bIns="0" rtlCol="0">
            <a:noAutofit/>
          </a:bodyPr>
          <a:lstStyle/>
          <a:p>
            <a:r>
              <a:rPr lang="fr-FR" sz="850">
                <a:solidFill>
                  <a:srgbClr val="1C1F25"/>
                </a:solidFill>
                <a:latin typeface="Arial" panose="020B0604020202020204" pitchFamily="34" charset="0"/>
              </a:rPr>
              <a:t>Input: bass miii kou beugue leuffff leu boy biii...
M4: bass miii ku bëgëe lëffff lu boy biii...
M6: bass miii kñu bggggg léfff lë boy biji...
Locally plausible edits accumulate into new corruption.</a:t>
            </a:r>
          </a:p>
        </p:txBody>
      </p:sp>
      <p:sp>
        <p:nvSpPr>
          <p:cNvPr id="17" name="ZoneTexte 16">
            <a:extLst>
              <a:ext uri="{FF2B5EF4-FFF2-40B4-BE49-F238E27FC236}">
                <a16:creationId xmlns:a16="http://schemas.microsoft.com/office/drawing/2014/main" id="{27970A3D-FC42-F6C3-3A4B-93951082A04E}"/>
              </a:ext>
            </a:extLst>
          </p:cNvPr>
          <p:cNvSpPr txBox="1"/>
          <p:nvPr/>
        </p:nvSpPr>
        <p:spPr>
          <a:xfrm>
            <a:off x="1625600" y="4330700"/>
            <a:ext cx="5892800" cy="215444"/>
          </a:xfrm>
          <a:prstGeom prst="rect">
            <a:avLst/>
          </a:prstGeom>
          <a:noFill/>
        </p:spPr>
        <p:txBody>
          <a:bodyPr vert="horz" wrap="square" lIns="0" tIns="0" rIns="0" bIns="0" rtlCol="0">
            <a:noAutofit/>
          </a:bodyPr>
          <a:lstStyle/>
          <a:p>
            <a:pPr algn="ctr"/>
            <a:r>
              <a:rPr lang="en-US" sz="1000" b="1" i="1" dirty="0">
                <a:solidFill>
                  <a:srgbClr val="606774"/>
                </a:solidFill>
                <a:latin typeface="Arial" panose="020B0604020202020204" pitchFamily="34" charset="0"/>
              </a:rPr>
              <a:t>These are frozen-test normalizer outputs - not generator examples.</a:t>
            </a:r>
            <a:endParaRPr lang="fr-FR" sz="1000" b="1" i="1" dirty="0">
              <a:solidFill>
                <a:srgbClr val="606774"/>
              </a:solidFill>
              <a:latin typeface="Arial" panose="020B0604020202020204" pitchFamily="34" charset="0"/>
            </a:endParaRPr>
          </a:p>
        </p:txBody>
      </p:sp>
      <p:sp>
        <p:nvSpPr>
          <p:cNvPr id="18" name="Rectangle 17">
            <a:extLst>
              <a:ext uri="{FF2B5EF4-FFF2-40B4-BE49-F238E27FC236}">
                <a16:creationId xmlns:a16="http://schemas.microsoft.com/office/drawing/2014/main" id="{556A0F8A-E6A7-93A6-ADE1-110C942F8046}"/>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3AABFBD1-A827-B961-653B-ED040E8C2CF9}"/>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10CB3F07-363D-C46F-BD64-FAA262DF1B89}"/>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2" name="ZoneTexte 21">
            <a:extLst>
              <a:ext uri="{FF2B5EF4-FFF2-40B4-BE49-F238E27FC236}">
                <a16:creationId xmlns:a16="http://schemas.microsoft.com/office/drawing/2014/main" id="{2D7F8D2C-8AEF-67A1-3A58-71132CDFAFC4}"/>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3" name="ZoneTexte 22">
            <a:extLst>
              <a:ext uri="{FF2B5EF4-FFF2-40B4-BE49-F238E27FC236}">
                <a16:creationId xmlns:a16="http://schemas.microsoft.com/office/drawing/2014/main" id="{0F0438DE-A915-2095-2CCB-82F0B83AF52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Prediction examples</a:t>
            </a:r>
          </a:p>
        </p:txBody>
      </p:sp>
      <p:sp>
        <p:nvSpPr>
          <p:cNvPr id="24" name="ZoneTexte 23">
            <a:extLst>
              <a:ext uri="{FF2B5EF4-FFF2-40B4-BE49-F238E27FC236}">
                <a16:creationId xmlns:a16="http://schemas.microsoft.com/office/drawing/2014/main" id="{BED4DC0D-0F5A-756A-F5D4-027D552EEBB0}"/>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22 / 36</a:t>
            </a:r>
          </a:p>
        </p:txBody>
      </p:sp>
      <p:pic>
        <p:nvPicPr>
          <p:cNvPr id="26" name="Image 25">
            <a:extLst>
              <a:ext uri="{FF2B5EF4-FFF2-40B4-BE49-F238E27FC236}">
                <a16:creationId xmlns:a16="http://schemas.microsoft.com/office/drawing/2014/main" id="{152192A6-3064-3D7C-025E-84DF54BFCDC0}"/>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815400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CDC44193-A229-B3D6-EF15-0615D08B4442}"/>
              </a:ext>
            </a:extLst>
          </p:cNvPr>
          <p:cNvSpPr/>
          <p:nvPr/>
        </p:nvSpPr>
        <p:spPr>
          <a:xfrm>
            <a:off x="546100" y="317500"/>
            <a:ext cx="1308100" cy="292100"/>
          </a:xfrm>
          <a:prstGeom prst="roundRect">
            <a:avLst/>
          </a:prstGeom>
          <a:solidFill>
            <a:srgbClr val="58658B"/>
          </a:solidFill>
          <a:ln w="0">
            <a:solidFill>
              <a:srgbClr val="5865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7C2591FF-D035-DB08-F0BD-85ABC1063CD4}"/>
              </a:ext>
            </a:extLst>
          </p:cNvPr>
          <p:cNvSpPr txBox="1"/>
          <p:nvPr/>
        </p:nvSpPr>
        <p:spPr>
          <a:xfrm>
            <a:off x="546100" y="381000"/>
            <a:ext cx="1308100" cy="215444"/>
          </a:xfrm>
          <a:prstGeom prst="rect">
            <a:avLst/>
          </a:prstGeom>
          <a:noFill/>
        </p:spPr>
        <p:txBody>
          <a:bodyPr vert="horz" wrap="square" lIns="0" tIns="0" rIns="0" bIns="0" rtlCol="0">
            <a:noAutofit/>
          </a:bodyPr>
          <a:lstStyle/>
          <a:p>
            <a:pPr algn="ctr"/>
            <a:r>
              <a:rPr lang="fr-FR" sz="760" b="1">
                <a:solidFill>
                  <a:srgbClr val="FFFFFF"/>
                </a:solidFill>
                <a:latin typeface="Arial" panose="020B0604020202020204" pitchFamily="34" charset="0"/>
              </a:rPr>
              <a:t>BACKUP</a:t>
            </a:r>
          </a:p>
        </p:txBody>
      </p:sp>
      <p:sp>
        <p:nvSpPr>
          <p:cNvPr id="4" name="ZoneTexte 3">
            <a:extLst>
              <a:ext uri="{FF2B5EF4-FFF2-40B4-BE49-F238E27FC236}">
                <a16:creationId xmlns:a16="http://schemas.microsoft.com/office/drawing/2014/main" id="{34941C13-C5F0-3CB6-A1FD-47A7AA26B4C1}"/>
              </a:ext>
            </a:extLst>
          </p:cNvPr>
          <p:cNvSpPr txBox="1"/>
          <p:nvPr/>
        </p:nvSpPr>
        <p:spPr>
          <a:xfrm>
            <a:off x="546100" y="749300"/>
            <a:ext cx="8064500" cy="457200"/>
          </a:xfrm>
          <a:prstGeom prst="rect">
            <a:avLst/>
          </a:prstGeom>
          <a:noFill/>
        </p:spPr>
        <p:txBody>
          <a:bodyPr vert="horz" wrap="square" lIns="0" tIns="0" rIns="0" bIns="0" rtlCol="0">
            <a:noAutofit/>
          </a:bodyPr>
          <a:lstStyle/>
          <a:p>
            <a:r>
              <a:rPr lang="fr-FR" sz="1900" b="1">
                <a:solidFill>
                  <a:srgbClr val="57658D"/>
                </a:solidFill>
                <a:latin typeface="Arial" panose="020B0604020202020204" pitchFamily="34" charset="0"/>
              </a:rPr>
              <a:t>Reproducibility and comparison boundaries</a:t>
            </a:r>
          </a:p>
        </p:txBody>
      </p:sp>
      <p:sp>
        <p:nvSpPr>
          <p:cNvPr id="9" name="Rectangle 8">
            <a:extLst>
              <a:ext uri="{FF2B5EF4-FFF2-40B4-BE49-F238E27FC236}">
                <a16:creationId xmlns:a16="http://schemas.microsoft.com/office/drawing/2014/main" id="{71DFFECD-9E40-B8FD-CB7A-1507DF4BA0D3}"/>
              </a:ext>
            </a:extLst>
          </p:cNvPr>
          <p:cNvSpPr/>
          <p:nvPr/>
        </p:nvSpPr>
        <p:spPr>
          <a:xfrm>
            <a:off x="546100" y="1473200"/>
            <a:ext cx="2489200" cy="1981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5001A634-9838-003E-209D-28A3A9153D4A}"/>
              </a:ext>
            </a:extLst>
          </p:cNvPr>
          <p:cNvSpPr/>
          <p:nvPr/>
        </p:nvSpPr>
        <p:spPr>
          <a:xfrm>
            <a:off x="546100" y="14732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1CE9DF62-2444-C263-E85C-F0C0A2F4928D}"/>
              </a:ext>
            </a:extLst>
          </p:cNvPr>
          <p:cNvSpPr txBox="1"/>
          <p:nvPr/>
        </p:nvSpPr>
        <p:spPr>
          <a:xfrm>
            <a:off x="685800" y="1600200"/>
            <a:ext cx="2209800" cy="215444"/>
          </a:xfrm>
          <a:prstGeom prst="rect">
            <a:avLst/>
          </a:prstGeom>
          <a:noFill/>
        </p:spPr>
        <p:txBody>
          <a:bodyPr vert="horz" wrap="square" lIns="0" tIns="0" rIns="0" bIns="0" rtlCol="0">
            <a:noAutofit/>
          </a:bodyPr>
          <a:lstStyle/>
          <a:p>
            <a:r>
              <a:rPr lang="fr-FR" sz="1100" b="1">
                <a:solidFill>
                  <a:srgbClr val="0E2F46"/>
                </a:solidFill>
                <a:latin typeface="Arial" panose="020B0604020202020204" pitchFamily="34" charset="0"/>
              </a:rPr>
              <a:t>LOCKED</a:t>
            </a:r>
          </a:p>
        </p:txBody>
      </p:sp>
      <p:sp>
        <p:nvSpPr>
          <p:cNvPr id="12" name="ZoneTexte 11">
            <a:extLst>
              <a:ext uri="{FF2B5EF4-FFF2-40B4-BE49-F238E27FC236}">
                <a16:creationId xmlns:a16="http://schemas.microsoft.com/office/drawing/2014/main" id="{1B4B9A87-7B26-2FC5-6AD3-D32081B67D0D}"/>
              </a:ext>
            </a:extLst>
          </p:cNvPr>
          <p:cNvSpPr txBox="1"/>
          <p:nvPr/>
        </p:nvSpPr>
        <p:spPr>
          <a:xfrm>
            <a:off x="685800" y="1879600"/>
            <a:ext cx="22098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Video split · seed 2026 · 3,330 target IDs · model architecture · schedules · metric code · frozen test</a:t>
            </a:r>
            <a:endParaRPr lang="fr-FR" sz="920">
              <a:solidFill>
                <a:srgbClr val="1C1F25"/>
              </a:solidFill>
              <a:latin typeface="Arial" panose="020B0604020202020204" pitchFamily="34" charset="0"/>
            </a:endParaRPr>
          </a:p>
        </p:txBody>
      </p:sp>
      <p:sp>
        <p:nvSpPr>
          <p:cNvPr id="13" name="Rectangle 12">
            <a:extLst>
              <a:ext uri="{FF2B5EF4-FFF2-40B4-BE49-F238E27FC236}">
                <a16:creationId xmlns:a16="http://schemas.microsoft.com/office/drawing/2014/main" id="{EA6283CD-C78F-B0D6-79A4-FED602D8BAAC}"/>
              </a:ext>
            </a:extLst>
          </p:cNvPr>
          <p:cNvSpPr/>
          <p:nvPr/>
        </p:nvSpPr>
        <p:spPr>
          <a:xfrm>
            <a:off x="3327400" y="1473200"/>
            <a:ext cx="2489200" cy="1981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0A2ED4B-1894-829B-1370-1D3215421553}"/>
              </a:ext>
            </a:extLst>
          </p:cNvPr>
          <p:cNvSpPr/>
          <p:nvPr/>
        </p:nvSpPr>
        <p:spPr>
          <a:xfrm>
            <a:off x="3327400" y="14732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80216C0C-C507-02F6-BB8F-35C44F2D5E0D}"/>
              </a:ext>
            </a:extLst>
          </p:cNvPr>
          <p:cNvSpPr txBox="1"/>
          <p:nvPr/>
        </p:nvSpPr>
        <p:spPr>
          <a:xfrm>
            <a:off x="3467100" y="1600200"/>
            <a:ext cx="2209800" cy="215444"/>
          </a:xfrm>
          <a:prstGeom prst="rect">
            <a:avLst/>
          </a:prstGeom>
          <a:noFill/>
        </p:spPr>
        <p:txBody>
          <a:bodyPr vert="horz" wrap="square" lIns="0" tIns="0" rIns="0" bIns="0" rtlCol="0">
            <a:noAutofit/>
          </a:bodyPr>
          <a:lstStyle/>
          <a:p>
            <a:r>
              <a:rPr lang="fr-FR" sz="1100" b="1">
                <a:solidFill>
                  <a:srgbClr val="0E2F46"/>
                </a:solidFill>
                <a:latin typeface="Arial" panose="020B0604020202020204" pitchFamily="34" charset="0"/>
              </a:rPr>
              <a:t>AUDITABLE</a:t>
            </a:r>
          </a:p>
        </p:txBody>
      </p:sp>
      <p:sp>
        <p:nvSpPr>
          <p:cNvPr id="16" name="ZoneTexte 15">
            <a:extLst>
              <a:ext uri="{FF2B5EF4-FFF2-40B4-BE49-F238E27FC236}">
                <a16:creationId xmlns:a16="http://schemas.microsoft.com/office/drawing/2014/main" id="{95BD8DD9-CD4F-F61C-22EE-406AC75F2DEA}"/>
              </a:ext>
            </a:extLst>
          </p:cNvPr>
          <p:cNvSpPr txBox="1"/>
          <p:nvPr/>
        </p:nvSpPr>
        <p:spPr>
          <a:xfrm>
            <a:off x="3467100" y="1879600"/>
            <a:ext cx="2209800" cy="215444"/>
          </a:xfrm>
          <a:prstGeom prst="rect">
            <a:avLst/>
          </a:prstGeom>
          <a:noFill/>
        </p:spPr>
        <p:txBody>
          <a:bodyPr vert="horz" wrap="square" lIns="0" tIns="0" rIns="0" bIns="0" rtlCol="0">
            <a:noAutofit/>
          </a:bodyPr>
          <a:lstStyle/>
          <a:p>
            <a:r>
              <a:rPr lang="fr-FR" sz="920">
                <a:solidFill>
                  <a:srgbClr val="1C1F25"/>
                </a:solidFill>
                <a:latin typeface="Arial" panose="020B0604020202020204" pitchFamily="34" charset="0"/>
              </a:rPr>
              <a:t>Generator traces · source IDs · M6 evidence counts · prediction files · training plots · manifests</a:t>
            </a:r>
          </a:p>
        </p:txBody>
      </p:sp>
      <p:sp>
        <p:nvSpPr>
          <p:cNvPr id="17" name="Rectangle 16">
            <a:extLst>
              <a:ext uri="{FF2B5EF4-FFF2-40B4-BE49-F238E27FC236}">
                <a16:creationId xmlns:a16="http://schemas.microsoft.com/office/drawing/2014/main" id="{85722013-6242-63BE-2A41-8536B620B6EE}"/>
              </a:ext>
            </a:extLst>
          </p:cNvPr>
          <p:cNvSpPr/>
          <p:nvPr/>
        </p:nvSpPr>
        <p:spPr>
          <a:xfrm>
            <a:off x="6108700" y="1473200"/>
            <a:ext cx="2489200" cy="19812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ACC58A19-4C2F-4F8B-9086-3A3F147244D4}"/>
              </a:ext>
            </a:extLst>
          </p:cNvPr>
          <p:cNvSpPr/>
          <p:nvPr/>
        </p:nvSpPr>
        <p:spPr>
          <a:xfrm>
            <a:off x="6108700" y="1473200"/>
            <a:ext cx="2489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CC767DE6-FC34-82F5-6C54-E1F811E0BB61}"/>
              </a:ext>
            </a:extLst>
          </p:cNvPr>
          <p:cNvSpPr txBox="1"/>
          <p:nvPr/>
        </p:nvSpPr>
        <p:spPr>
          <a:xfrm>
            <a:off x="6248400" y="1600200"/>
            <a:ext cx="2209800" cy="215444"/>
          </a:xfrm>
          <a:prstGeom prst="rect">
            <a:avLst/>
          </a:prstGeom>
          <a:noFill/>
        </p:spPr>
        <p:txBody>
          <a:bodyPr vert="horz" wrap="square" lIns="0" tIns="0" rIns="0" bIns="0" rtlCol="0">
            <a:noAutofit/>
          </a:bodyPr>
          <a:lstStyle/>
          <a:p>
            <a:r>
              <a:rPr lang="fr-FR" sz="1100" b="1">
                <a:solidFill>
                  <a:srgbClr val="976F1D"/>
                </a:solidFill>
                <a:latin typeface="Arial" panose="020B0604020202020204" pitchFamily="34" charset="0"/>
              </a:rPr>
              <a:t>NOT REPRODUCIBLE</a:t>
            </a:r>
          </a:p>
        </p:txBody>
      </p:sp>
      <p:sp>
        <p:nvSpPr>
          <p:cNvPr id="20" name="ZoneTexte 19">
            <a:extLst>
              <a:ext uri="{FF2B5EF4-FFF2-40B4-BE49-F238E27FC236}">
                <a16:creationId xmlns:a16="http://schemas.microsoft.com/office/drawing/2014/main" id="{EB1D6EB4-3AF4-6E8B-919E-835A25270B95}"/>
              </a:ext>
            </a:extLst>
          </p:cNvPr>
          <p:cNvSpPr txBox="1"/>
          <p:nvPr/>
        </p:nvSpPr>
        <p:spPr>
          <a:xfrm>
            <a:off x="6248400" y="1879600"/>
            <a:ext cx="2209800" cy="215444"/>
          </a:xfrm>
          <a:prstGeom prst="rect">
            <a:avLst/>
          </a:prstGeom>
          <a:noFill/>
        </p:spPr>
        <p:txBody>
          <a:bodyPr vert="horz" wrap="square" lIns="0" tIns="0" rIns="0" bIns="0" rtlCol="0">
            <a:noAutofit/>
          </a:bodyPr>
          <a:lstStyle/>
          <a:p>
            <a:r>
              <a:rPr lang="en-US" sz="920">
                <a:solidFill>
                  <a:srgbClr val="1C1F25"/>
                </a:solidFill>
                <a:latin typeface="Arial" panose="020B0604020202020204" pitchFamily="34" charset="0"/>
              </a:rPr>
              <a:t>Oolel's original LLM prompt, sampling seed and decoding configuration are not available in this project.</a:t>
            </a:r>
            <a:endParaRPr lang="fr-FR" sz="920">
              <a:solidFill>
                <a:srgbClr val="1C1F25"/>
              </a:solidFill>
              <a:latin typeface="Arial" panose="020B0604020202020204" pitchFamily="34" charset="0"/>
            </a:endParaRPr>
          </a:p>
        </p:txBody>
      </p:sp>
      <p:sp>
        <p:nvSpPr>
          <p:cNvPr id="21" name="ZoneTexte 20">
            <a:extLst>
              <a:ext uri="{FF2B5EF4-FFF2-40B4-BE49-F238E27FC236}">
                <a16:creationId xmlns:a16="http://schemas.microsoft.com/office/drawing/2014/main" id="{1C72ECBA-0305-AC90-5A41-C880408749B5}"/>
              </a:ext>
            </a:extLst>
          </p:cNvPr>
          <p:cNvSpPr txBox="1"/>
          <p:nvPr/>
        </p:nvSpPr>
        <p:spPr>
          <a:xfrm>
            <a:off x="1054100" y="3911600"/>
            <a:ext cx="7035800" cy="215444"/>
          </a:xfrm>
          <a:prstGeom prst="rect">
            <a:avLst/>
          </a:prstGeom>
          <a:noFill/>
        </p:spPr>
        <p:txBody>
          <a:bodyPr vert="horz" wrap="square" lIns="0" tIns="0" rIns="0" bIns="0" rtlCol="0">
            <a:noAutofit/>
          </a:bodyPr>
          <a:lstStyle/>
          <a:p>
            <a:pPr algn="ctr"/>
            <a:r>
              <a:rPr lang="en-US" sz="1100" b="1" i="1" dirty="0">
                <a:solidFill>
                  <a:srgbClr val="0E2F46"/>
                </a:solidFill>
                <a:latin typeface="Arial" panose="020B0604020202020204" pitchFamily="34" charset="0"/>
              </a:rPr>
              <a:t>The benchmark evaluates saved data utility; it does not claim identical generation-cost reproducibility.</a:t>
            </a:r>
            <a:endParaRPr lang="fr-FR" sz="1100" b="1" i="1" dirty="0">
              <a:solidFill>
                <a:srgbClr val="0E2F46"/>
              </a:solidFill>
              <a:latin typeface="Arial" panose="020B0604020202020204" pitchFamily="34" charset="0"/>
            </a:endParaRPr>
          </a:p>
        </p:txBody>
      </p:sp>
      <p:sp>
        <p:nvSpPr>
          <p:cNvPr id="22" name="Rectangle 21">
            <a:extLst>
              <a:ext uri="{FF2B5EF4-FFF2-40B4-BE49-F238E27FC236}">
                <a16:creationId xmlns:a16="http://schemas.microsoft.com/office/drawing/2014/main" id="{05F601AD-7450-5D4C-C625-F952FFFCF3FE}"/>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1CC03837-87CE-3F36-9705-A6B4D8509B88}"/>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86884C6D-B253-AE54-FD0B-D2169CF84FEE}"/>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6" name="ZoneTexte 25">
            <a:extLst>
              <a:ext uri="{FF2B5EF4-FFF2-40B4-BE49-F238E27FC236}">
                <a16:creationId xmlns:a16="http://schemas.microsoft.com/office/drawing/2014/main" id="{AD6AFFC9-2086-89D4-4295-BC9570619266}"/>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7" name="ZoneTexte 26">
            <a:extLst>
              <a:ext uri="{FF2B5EF4-FFF2-40B4-BE49-F238E27FC236}">
                <a16:creationId xmlns:a16="http://schemas.microsoft.com/office/drawing/2014/main" id="{D2EDA4BB-6956-0752-4F8D-368EF24C8737}"/>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Audit trail</a:t>
            </a:r>
          </a:p>
        </p:txBody>
      </p:sp>
      <p:sp>
        <p:nvSpPr>
          <p:cNvPr id="28" name="ZoneTexte 27">
            <a:extLst>
              <a:ext uri="{FF2B5EF4-FFF2-40B4-BE49-F238E27FC236}">
                <a16:creationId xmlns:a16="http://schemas.microsoft.com/office/drawing/2014/main" id="{DB3B4E77-D6D3-F54D-7346-DCE824187C0E}"/>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23 / 36</a:t>
            </a:r>
          </a:p>
        </p:txBody>
      </p:sp>
      <p:pic>
        <p:nvPicPr>
          <p:cNvPr id="30" name="Image 29">
            <a:extLst>
              <a:ext uri="{FF2B5EF4-FFF2-40B4-BE49-F238E27FC236}">
                <a16:creationId xmlns:a16="http://schemas.microsoft.com/office/drawing/2014/main" id="{53089151-0FFE-6751-9D8A-8DC3B52DFCAF}"/>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740789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7A1E34-6589-C007-3350-1CBC71D809E3}"/>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4FD54EDC-4CF6-3777-9BA5-3D605F65BCFC}"/>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0CECBC7C-4148-EF68-E231-107EBFAB99A3}"/>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Where the formal and authentic data come from</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14601D0F-7143-601A-BF17-F39C9F294693}"/>
              </a:ext>
            </a:extLst>
          </p:cNvPr>
          <p:cNvSpPr/>
          <p:nvPr/>
        </p:nvSpPr>
        <p:spPr>
          <a:xfrm>
            <a:off x="546100" y="1320800"/>
            <a:ext cx="3784600" cy="23114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853267BA-FE8E-E35A-6256-FAF4B96E8BDF}"/>
              </a:ext>
            </a:extLst>
          </p:cNvPr>
          <p:cNvSpPr/>
          <p:nvPr/>
        </p:nvSpPr>
        <p:spPr>
          <a:xfrm>
            <a:off x="546100" y="1320800"/>
            <a:ext cx="3784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552BE93C-0077-BEB3-AEFC-32AD46D448D6}"/>
              </a:ext>
            </a:extLst>
          </p:cNvPr>
          <p:cNvSpPr txBox="1"/>
          <p:nvPr/>
        </p:nvSpPr>
        <p:spPr>
          <a:xfrm>
            <a:off x="673100" y="1435100"/>
            <a:ext cx="3530600" cy="215444"/>
          </a:xfrm>
          <a:prstGeom prst="rect">
            <a:avLst/>
          </a:prstGeom>
          <a:noFill/>
        </p:spPr>
        <p:txBody>
          <a:bodyPr vert="horz" wrap="square" lIns="0" tIns="0" rIns="0" bIns="0" rtlCol="0">
            <a:noAutofit/>
          </a:bodyPr>
          <a:lstStyle/>
          <a:p>
            <a:r>
              <a:rPr lang="fr-FR" sz="950" b="1">
                <a:solidFill>
                  <a:srgbClr val="0E2F46"/>
                </a:solidFill>
                <a:latin typeface="Arial" panose="020B0604020202020204" pitchFamily="34" charset="0"/>
              </a:rPr>
              <a:t>FORMAL REFERENCE POOL</a:t>
            </a:r>
          </a:p>
        </p:txBody>
      </p:sp>
      <p:sp>
        <p:nvSpPr>
          <p:cNvPr id="14" name="ZoneTexte 13">
            <a:extLst>
              <a:ext uri="{FF2B5EF4-FFF2-40B4-BE49-F238E27FC236}">
                <a16:creationId xmlns:a16="http://schemas.microsoft.com/office/drawing/2014/main" id="{14612E61-6D5C-821E-3B2F-2047955A561B}"/>
              </a:ext>
            </a:extLst>
          </p:cNvPr>
          <p:cNvSpPr txBox="1"/>
          <p:nvPr/>
        </p:nvSpPr>
        <p:spPr>
          <a:xfrm>
            <a:off x="673100" y="1689100"/>
            <a:ext cx="3530600" cy="215444"/>
          </a:xfrm>
          <a:prstGeom prst="rect">
            <a:avLst/>
          </a:prstGeom>
          <a:noFill/>
        </p:spPr>
        <p:txBody>
          <a:bodyPr vert="horz" wrap="square" lIns="0" tIns="0" rIns="0" bIns="0" rtlCol="0">
            <a:noAutofit/>
          </a:bodyPr>
          <a:lstStyle/>
          <a:p>
            <a:r>
              <a:rPr lang="fr-FR" sz="850">
                <a:solidFill>
                  <a:srgbClr val="1C1F25"/>
                </a:solidFill>
                <a:latin typeface="Arial" panose="020B0604020202020204" pitchFamily="34" charset="0"/>
              </a:rPr>
              <a:t>17,777 French-Wolof pairs
Hugging Face: galsenai/french-wolof-translation
Google SMOL     7,405
mafand              6,366
FLORES              2,009
Microsoft NTREX  1,997</a:t>
            </a:r>
          </a:p>
        </p:txBody>
      </p:sp>
      <p:sp>
        <p:nvSpPr>
          <p:cNvPr id="15" name="Rectangle 14">
            <a:extLst>
              <a:ext uri="{FF2B5EF4-FFF2-40B4-BE49-F238E27FC236}">
                <a16:creationId xmlns:a16="http://schemas.microsoft.com/office/drawing/2014/main" id="{5DAA6E05-1F81-512D-DAE6-418F6AFDEFA8}"/>
              </a:ext>
            </a:extLst>
          </p:cNvPr>
          <p:cNvSpPr/>
          <p:nvPr/>
        </p:nvSpPr>
        <p:spPr>
          <a:xfrm>
            <a:off x="4813300" y="1320800"/>
            <a:ext cx="3784600" cy="23114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B43094D3-19C4-E0BA-AB38-6375677D4C79}"/>
              </a:ext>
            </a:extLst>
          </p:cNvPr>
          <p:cNvSpPr/>
          <p:nvPr/>
        </p:nvSpPr>
        <p:spPr>
          <a:xfrm>
            <a:off x="4813300" y="1320800"/>
            <a:ext cx="3784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79D397AD-DF8D-C426-50DB-C8A5E501DF4E}"/>
              </a:ext>
            </a:extLst>
          </p:cNvPr>
          <p:cNvSpPr txBox="1"/>
          <p:nvPr/>
        </p:nvSpPr>
        <p:spPr>
          <a:xfrm>
            <a:off x="4940300" y="1435100"/>
            <a:ext cx="3530600" cy="215444"/>
          </a:xfrm>
          <a:prstGeom prst="rect">
            <a:avLst/>
          </a:prstGeom>
          <a:noFill/>
        </p:spPr>
        <p:txBody>
          <a:bodyPr vert="horz" wrap="square" lIns="0" tIns="0" rIns="0" bIns="0" rtlCol="0">
            <a:noAutofit/>
          </a:bodyPr>
          <a:lstStyle/>
          <a:p>
            <a:r>
              <a:rPr lang="fr-FR" sz="950" b="1">
                <a:solidFill>
                  <a:srgbClr val="976F1D"/>
                </a:solidFill>
                <a:latin typeface="Arial" panose="020B0604020202020204" pitchFamily="34" charset="0"/>
              </a:rPr>
              <a:t>WHAT 'FORMAL' MEANS HERE</a:t>
            </a:r>
          </a:p>
        </p:txBody>
      </p:sp>
      <p:sp>
        <p:nvSpPr>
          <p:cNvPr id="18" name="ZoneTexte 17">
            <a:extLst>
              <a:ext uri="{FF2B5EF4-FFF2-40B4-BE49-F238E27FC236}">
                <a16:creationId xmlns:a16="http://schemas.microsoft.com/office/drawing/2014/main" id="{38819BE9-9EFD-7CBA-07F6-50C4B7079387}"/>
              </a:ext>
            </a:extLst>
          </p:cNvPr>
          <p:cNvSpPr txBox="1"/>
          <p:nvPr/>
        </p:nvSpPr>
        <p:spPr>
          <a:xfrm>
            <a:off x="4940300" y="1689100"/>
            <a:ext cx="3530600" cy="215444"/>
          </a:xfrm>
          <a:prstGeom prst="rect">
            <a:avLst/>
          </a:prstGeom>
          <a:noFill/>
        </p:spPr>
        <p:txBody>
          <a:bodyPr vert="horz" wrap="square" lIns="0" tIns="0" rIns="0" bIns="0" rtlCol="0">
            <a:noAutofit/>
          </a:bodyPr>
          <a:lstStyle/>
          <a:p>
            <a:r>
              <a:rPr lang="en-US" sz="830">
                <a:solidFill>
                  <a:srgbClr val="1C1F25"/>
                </a:solidFill>
                <a:latin typeface="Arial" panose="020B0604020202020204" pitchFamily="34" charset="0"/>
              </a:rPr>
              <a:t>The Wolof side is used as the operational standardized target of curated translation resources.
Checks: Unicode/empty values, canonicalization, duplicates, common targets, hashes.
Limit: all 17,777 rows were not independently re-certified by a Wolof linguist.</a:t>
            </a:r>
            <a:endParaRPr lang="fr-FR" sz="830">
              <a:solidFill>
                <a:srgbClr val="1C1F25"/>
              </a:solidFill>
              <a:latin typeface="Arial" panose="020B0604020202020204" pitchFamily="34" charset="0"/>
            </a:endParaRPr>
          </a:p>
        </p:txBody>
      </p:sp>
      <p:sp>
        <p:nvSpPr>
          <p:cNvPr id="19" name="ZoneTexte 18">
            <a:extLst>
              <a:ext uri="{FF2B5EF4-FFF2-40B4-BE49-F238E27FC236}">
                <a16:creationId xmlns:a16="http://schemas.microsoft.com/office/drawing/2014/main" id="{C878B397-5EAD-A3C2-90CE-6934A70B9E7E}"/>
              </a:ext>
            </a:extLst>
          </p:cNvPr>
          <p:cNvSpPr txBox="1"/>
          <p:nvPr/>
        </p:nvSpPr>
        <p:spPr>
          <a:xfrm>
            <a:off x="596900" y="3937000"/>
            <a:ext cx="12065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396,559 RAW</a:t>
            </a:r>
          </a:p>
        </p:txBody>
      </p:sp>
      <p:cxnSp>
        <p:nvCxnSpPr>
          <p:cNvPr id="20" name="Connecteur droit 19">
            <a:extLst>
              <a:ext uri="{FF2B5EF4-FFF2-40B4-BE49-F238E27FC236}">
                <a16:creationId xmlns:a16="http://schemas.microsoft.com/office/drawing/2014/main" id="{FE0AED9C-74C3-6054-A449-FFAE85A5FDEE}"/>
              </a:ext>
            </a:extLst>
          </p:cNvPr>
          <p:cNvCxnSpPr/>
          <p:nvPr/>
        </p:nvCxnSpPr>
        <p:spPr>
          <a:xfrm>
            <a:off x="1816100" y="4038600"/>
            <a:ext cx="4445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26D5FE1D-B65D-18D5-91C4-9EBBEAF22B7D}"/>
              </a:ext>
            </a:extLst>
          </p:cNvPr>
          <p:cNvSpPr txBox="1"/>
          <p:nvPr/>
        </p:nvSpPr>
        <p:spPr>
          <a:xfrm>
            <a:off x="2298700" y="3937000"/>
            <a:ext cx="13335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242,174 CLEAN</a:t>
            </a:r>
          </a:p>
        </p:txBody>
      </p:sp>
      <p:cxnSp>
        <p:nvCxnSpPr>
          <p:cNvPr id="22" name="Connecteur droit 21">
            <a:extLst>
              <a:ext uri="{FF2B5EF4-FFF2-40B4-BE49-F238E27FC236}">
                <a16:creationId xmlns:a16="http://schemas.microsoft.com/office/drawing/2014/main" id="{EF9AB63A-A760-7B9F-AF71-97A2DE2C5FB0}"/>
              </a:ext>
            </a:extLst>
          </p:cNvPr>
          <p:cNvCxnSpPr/>
          <p:nvPr/>
        </p:nvCxnSpPr>
        <p:spPr>
          <a:xfrm>
            <a:off x="3657600" y="4038600"/>
            <a:ext cx="4445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7EC79A95-3BE3-BCA5-D9A3-87410E39B60B}"/>
              </a:ext>
            </a:extLst>
          </p:cNvPr>
          <p:cNvSpPr txBox="1"/>
          <p:nvPr/>
        </p:nvSpPr>
        <p:spPr>
          <a:xfrm>
            <a:off x="4140200" y="3937000"/>
            <a:ext cx="1651000" cy="215444"/>
          </a:xfrm>
          <a:prstGeom prst="rect">
            <a:avLst/>
          </a:prstGeom>
          <a:noFill/>
        </p:spPr>
        <p:txBody>
          <a:bodyPr vert="horz" wrap="square" lIns="0" tIns="0" rIns="0" bIns="0" rtlCol="0">
            <a:noAutofit/>
          </a:bodyPr>
          <a:lstStyle/>
          <a:p>
            <a:pPr algn="ctr"/>
            <a:r>
              <a:rPr lang="fr-FR" sz="1000" b="1">
                <a:solidFill>
                  <a:srgbClr val="0E2F46"/>
                </a:solidFill>
                <a:latin typeface="Arial" panose="020B0604020202020204" pitchFamily="34" charset="0"/>
              </a:rPr>
              <a:t>5,498 CANDIDATES</a:t>
            </a:r>
          </a:p>
        </p:txBody>
      </p:sp>
      <p:cxnSp>
        <p:nvCxnSpPr>
          <p:cNvPr id="24" name="Connecteur droit 23">
            <a:extLst>
              <a:ext uri="{FF2B5EF4-FFF2-40B4-BE49-F238E27FC236}">
                <a16:creationId xmlns:a16="http://schemas.microsoft.com/office/drawing/2014/main" id="{974C092C-F70A-070E-0F31-1EE41572FCD7}"/>
              </a:ext>
            </a:extLst>
          </p:cNvPr>
          <p:cNvCxnSpPr/>
          <p:nvPr/>
        </p:nvCxnSpPr>
        <p:spPr>
          <a:xfrm>
            <a:off x="5816600" y="4038600"/>
            <a:ext cx="4445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42821A9F-B877-F04E-9013-90EEEA7092F6}"/>
              </a:ext>
            </a:extLst>
          </p:cNvPr>
          <p:cNvSpPr txBox="1"/>
          <p:nvPr/>
        </p:nvSpPr>
        <p:spPr>
          <a:xfrm>
            <a:off x="6311900" y="3937000"/>
            <a:ext cx="1066800" cy="215444"/>
          </a:xfrm>
          <a:prstGeom prst="rect">
            <a:avLst/>
          </a:prstGeom>
          <a:noFill/>
        </p:spPr>
        <p:txBody>
          <a:bodyPr vert="horz" wrap="square" lIns="0" tIns="0" rIns="0" bIns="0" rtlCol="0">
            <a:noAutofit/>
          </a:bodyPr>
          <a:lstStyle/>
          <a:p>
            <a:pPr algn="ctr"/>
            <a:r>
              <a:rPr lang="fr-FR" sz="1000" b="1">
                <a:solidFill>
                  <a:srgbClr val="976F1D"/>
                </a:solidFill>
                <a:latin typeface="Arial" panose="020B0604020202020204" pitchFamily="34" charset="0"/>
              </a:rPr>
              <a:t>201 GOLD</a:t>
            </a:r>
          </a:p>
        </p:txBody>
      </p:sp>
      <p:sp>
        <p:nvSpPr>
          <p:cNvPr id="26" name="ZoneTexte 25">
            <a:extLst>
              <a:ext uri="{FF2B5EF4-FFF2-40B4-BE49-F238E27FC236}">
                <a16:creationId xmlns:a16="http://schemas.microsoft.com/office/drawing/2014/main" id="{4D04149C-8D85-38EA-F97A-D04CEBB95954}"/>
              </a:ext>
            </a:extLst>
          </p:cNvPr>
          <p:cNvSpPr txBox="1"/>
          <p:nvPr/>
        </p:nvSpPr>
        <p:spPr>
          <a:xfrm>
            <a:off x="1790700" y="4279900"/>
            <a:ext cx="2616200" cy="215444"/>
          </a:xfrm>
          <a:prstGeom prst="rect">
            <a:avLst/>
          </a:prstGeom>
          <a:noFill/>
        </p:spPr>
        <p:txBody>
          <a:bodyPr vert="horz" wrap="square" lIns="0" tIns="0" rIns="0" bIns="0" rtlCol="0">
            <a:noAutofit/>
          </a:bodyPr>
          <a:lstStyle/>
          <a:p>
            <a:pPr algn="ctr"/>
            <a:r>
              <a:rPr lang="fr-FR" sz="760">
                <a:solidFill>
                  <a:srgbClr val="606774"/>
                </a:solidFill>
                <a:latin typeface="Arial" panose="020B0604020202020204" pitchFamily="34" charset="0"/>
              </a:rPr>
              <a:t>Mechanical cleaning + heuristic LID</a:t>
            </a:r>
          </a:p>
        </p:txBody>
      </p:sp>
      <p:sp>
        <p:nvSpPr>
          <p:cNvPr id="27" name="ZoneTexte 26">
            <a:extLst>
              <a:ext uri="{FF2B5EF4-FFF2-40B4-BE49-F238E27FC236}">
                <a16:creationId xmlns:a16="http://schemas.microsoft.com/office/drawing/2014/main" id="{198A79D8-8F3A-8F2D-3820-A69677A11E42}"/>
              </a:ext>
            </a:extLst>
          </p:cNvPr>
          <p:cNvSpPr txBox="1"/>
          <p:nvPr/>
        </p:nvSpPr>
        <p:spPr>
          <a:xfrm>
            <a:off x="4495800" y="4279900"/>
            <a:ext cx="1485900" cy="215444"/>
          </a:xfrm>
          <a:prstGeom prst="rect">
            <a:avLst/>
          </a:prstGeom>
          <a:noFill/>
        </p:spPr>
        <p:txBody>
          <a:bodyPr vert="horz" wrap="square" lIns="0" tIns="0" rIns="0" bIns="0" rtlCol="0">
            <a:noAutofit/>
          </a:bodyPr>
          <a:lstStyle/>
          <a:p>
            <a:pPr algn="ctr"/>
            <a:r>
              <a:rPr lang="fr-FR" sz="760">
                <a:solidFill>
                  <a:srgbClr val="606774"/>
                </a:solidFill>
                <a:latin typeface="Arial" panose="020B0604020202020204" pitchFamily="34" charset="0"/>
              </a:rPr>
              <a:t>Gemma prioritization</a:t>
            </a:r>
          </a:p>
        </p:txBody>
      </p:sp>
      <p:sp>
        <p:nvSpPr>
          <p:cNvPr id="28" name="ZoneTexte 27">
            <a:extLst>
              <a:ext uri="{FF2B5EF4-FFF2-40B4-BE49-F238E27FC236}">
                <a16:creationId xmlns:a16="http://schemas.microsoft.com/office/drawing/2014/main" id="{E17C0374-BD42-9F60-9285-1211B72B1C1F}"/>
              </a:ext>
            </a:extLst>
          </p:cNvPr>
          <p:cNvSpPr txBox="1"/>
          <p:nvPr/>
        </p:nvSpPr>
        <p:spPr>
          <a:xfrm>
            <a:off x="6273800" y="4279900"/>
            <a:ext cx="1143000" cy="215444"/>
          </a:xfrm>
          <a:prstGeom prst="rect">
            <a:avLst/>
          </a:prstGeom>
          <a:noFill/>
        </p:spPr>
        <p:txBody>
          <a:bodyPr vert="horz" wrap="square" lIns="0" tIns="0" rIns="0" bIns="0" rtlCol="0">
            <a:noAutofit/>
          </a:bodyPr>
          <a:lstStyle/>
          <a:p>
            <a:pPr algn="ctr"/>
            <a:r>
              <a:rPr lang="fr-FR" sz="760">
                <a:solidFill>
                  <a:srgbClr val="606774"/>
                </a:solidFill>
                <a:latin typeface="Arial" panose="020B0604020202020204" pitchFamily="34" charset="0"/>
              </a:rPr>
              <a:t>Manual decision</a:t>
            </a:r>
          </a:p>
        </p:txBody>
      </p:sp>
      <p:sp>
        <p:nvSpPr>
          <p:cNvPr id="29" name="Rectangle 28">
            <a:extLst>
              <a:ext uri="{FF2B5EF4-FFF2-40B4-BE49-F238E27FC236}">
                <a16:creationId xmlns:a16="http://schemas.microsoft.com/office/drawing/2014/main" id="{6C9E783B-3F4C-0675-C987-FEBA826705FE}"/>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 coins arrondis 29">
            <a:extLst>
              <a:ext uri="{FF2B5EF4-FFF2-40B4-BE49-F238E27FC236}">
                <a16:creationId xmlns:a16="http://schemas.microsoft.com/office/drawing/2014/main" id="{A1C3E1F3-0A75-EA37-4CA4-EA1AC8091426}"/>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ZoneTexte 30">
            <a:extLst>
              <a:ext uri="{FF2B5EF4-FFF2-40B4-BE49-F238E27FC236}">
                <a16:creationId xmlns:a16="http://schemas.microsoft.com/office/drawing/2014/main" id="{B059036E-62A9-791D-BF58-FE895816ECA0}"/>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32" name="ZoneTexte 31">
            <a:extLst>
              <a:ext uri="{FF2B5EF4-FFF2-40B4-BE49-F238E27FC236}">
                <a16:creationId xmlns:a16="http://schemas.microsoft.com/office/drawing/2014/main" id="{0683D6E6-FDF6-455D-26E7-2739EC598EA2}"/>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33" name="ZoneTexte 32">
            <a:extLst>
              <a:ext uri="{FF2B5EF4-FFF2-40B4-BE49-F238E27FC236}">
                <a16:creationId xmlns:a16="http://schemas.microsoft.com/office/drawing/2014/main" id="{267253DD-30B4-A21D-47F2-A98F8249AE5B}"/>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Data provenance</a:t>
            </a:r>
          </a:p>
        </p:txBody>
      </p:sp>
      <p:sp>
        <p:nvSpPr>
          <p:cNvPr id="34" name="ZoneTexte 33">
            <a:extLst>
              <a:ext uri="{FF2B5EF4-FFF2-40B4-BE49-F238E27FC236}">
                <a16:creationId xmlns:a16="http://schemas.microsoft.com/office/drawing/2014/main" id="{EA35F3FD-7032-547B-48A8-3F939E415909}"/>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24 / 36</a:t>
            </a:r>
          </a:p>
        </p:txBody>
      </p:sp>
      <p:pic>
        <p:nvPicPr>
          <p:cNvPr id="36" name="Image 35">
            <a:extLst>
              <a:ext uri="{FF2B5EF4-FFF2-40B4-BE49-F238E27FC236}">
                <a16:creationId xmlns:a16="http://schemas.microsoft.com/office/drawing/2014/main" id="{1C9C68D9-C104-0DBF-5A18-AAD929294877}"/>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023846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7D86BF-469D-974D-B2BA-8BBD129D5939}"/>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1DF246E4-0BDF-61A6-AE0C-844CACFEF827}"/>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E6BDCBAB-1E01-A437-E7BD-300B88FB9C55}"/>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What was manual, automatic, and scored?</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850938CE-C1EB-0644-4668-EA443461DD88}"/>
              </a:ext>
            </a:extLst>
          </p:cNvPr>
          <p:cNvSpPr/>
          <p:nvPr/>
        </p:nvSpPr>
        <p:spPr>
          <a:xfrm>
            <a:off x="546100" y="1346200"/>
            <a:ext cx="2489200" cy="26924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034600BD-2358-B392-75AC-CC948CB8C129}"/>
              </a:ext>
            </a:extLst>
          </p:cNvPr>
          <p:cNvSpPr/>
          <p:nvPr/>
        </p:nvSpPr>
        <p:spPr>
          <a:xfrm>
            <a:off x="546100" y="13462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4AA0BD5-B6EC-DEC1-6828-9EB3DC983C89}"/>
              </a:ext>
            </a:extLst>
          </p:cNvPr>
          <p:cNvSpPr txBox="1"/>
          <p:nvPr/>
        </p:nvSpPr>
        <p:spPr>
          <a:xfrm>
            <a:off x="673100" y="1460500"/>
            <a:ext cx="2235200" cy="215444"/>
          </a:xfrm>
          <a:prstGeom prst="rect">
            <a:avLst/>
          </a:prstGeom>
          <a:noFill/>
        </p:spPr>
        <p:txBody>
          <a:bodyPr vert="horz" wrap="square" lIns="0" tIns="0" rIns="0" bIns="0" rtlCol="0">
            <a:noAutofit/>
          </a:bodyPr>
          <a:lstStyle/>
          <a:p>
            <a:r>
              <a:rPr lang="fr-FR" sz="920" b="1">
                <a:solidFill>
                  <a:srgbClr val="0E2F46"/>
                </a:solidFill>
                <a:latin typeface="Arial" panose="020B0604020202020204" pitchFamily="34" charset="0"/>
              </a:rPr>
              <a:t>MANUAL GOLD ANNOTATION</a:t>
            </a:r>
          </a:p>
        </p:txBody>
      </p:sp>
      <p:sp>
        <p:nvSpPr>
          <p:cNvPr id="14" name="ZoneTexte 13">
            <a:extLst>
              <a:ext uri="{FF2B5EF4-FFF2-40B4-BE49-F238E27FC236}">
                <a16:creationId xmlns:a16="http://schemas.microsoft.com/office/drawing/2014/main" id="{5BD8485A-A5EC-9F88-2F7D-7F532B699F2C}"/>
              </a:ext>
            </a:extLst>
          </p:cNvPr>
          <p:cNvSpPr txBox="1"/>
          <p:nvPr/>
        </p:nvSpPr>
        <p:spPr>
          <a:xfrm>
            <a:off x="673100" y="1714500"/>
            <a:ext cx="2235200" cy="215444"/>
          </a:xfrm>
          <a:prstGeom prst="rect">
            <a:avLst/>
          </a:prstGeom>
          <a:noFill/>
        </p:spPr>
        <p:txBody>
          <a:bodyPr vert="horz" wrap="square" lIns="0" tIns="0" rIns="0" bIns="0" rtlCol="0">
            <a:noAutofit/>
          </a:bodyPr>
          <a:lstStyle/>
          <a:p>
            <a:r>
              <a:rPr lang="fr-FR" sz="820">
                <a:solidFill>
                  <a:srgbClr val="1C1F25"/>
                </a:solidFill>
                <a:latin typeface="Arial" panose="020B0604020202020204" pitchFamily="34" charset="0"/>
              </a:rPr>
              <a:t>Complete informal-to-formal sentence
Token correspondences
POS, language, entity, protection
Multi-label linguistic errors
201 pairs; enrichment only on 142 Gold-train sentences</a:t>
            </a:r>
          </a:p>
        </p:txBody>
      </p:sp>
      <p:sp>
        <p:nvSpPr>
          <p:cNvPr id="15" name="Rectangle 14">
            <a:extLst>
              <a:ext uri="{FF2B5EF4-FFF2-40B4-BE49-F238E27FC236}">
                <a16:creationId xmlns:a16="http://schemas.microsoft.com/office/drawing/2014/main" id="{FE1FFC93-8732-3B2D-61F2-E280DCDF5656}"/>
              </a:ext>
            </a:extLst>
          </p:cNvPr>
          <p:cNvSpPr/>
          <p:nvPr/>
        </p:nvSpPr>
        <p:spPr>
          <a:xfrm>
            <a:off x="3327400" y="1346200"/>
            <a:ext cx="2489200" cy="26924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C7AAEFD-CD5B-09F6-64DE-227F6A851526}"/>
              </a:ext>
            </a:extLst>
          </p:cNvPr>
          <p:cNvSpPr/>
          <p:nvPr/>
        </p:nvSpPr>
        <p:spPr>
          <a:xfrm>
            <a:off x="3327400" y="1346200"/>
            <a:ext cx="2489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D4089B85-D137-40C8-A214-391055D09255}"/>
              </a:ext>
            </a:extLst>
          </p:cNvPr>
          <p:cNvSpPr txBox="1"/>
          <p:nvPr/>
        </p:nvSpPr>
        <p:spPr>
          <a:xfrm>
            <a:off x="3454400" y="1460500"/>
            <a:ext cx="2235200" cy="215444"/>
          </a:xfrm>
          <a:prstGeom prst="rect">
            <a:avLst/>
          </a:prstGeom>
          <a:noFill/>
        </p:spPr>
        <p:txBody>
          <a:bodyPr vert="horz" wrap="square" lIns="0" tIns="0" rIns="0" bIns="0" rtlCol="0">
            <a:noAutofit/>
          </a:bodyPr>
          <a:lstStyle/>
          <a:p>
            <a:r>
              <a:rPr lang="fr-FR" sz="920" b="1">
                <a:solidFill>
                  <a:srgbClr val="976F1D"/>
                </a:solidFill>
                <a:latin typeface="Arial" panose="020B0604020202020204" pitchFamily="34" charset="0"/>
              </a:rPr>
              <a:t>AUTOMATIC TNT TARGETS</a:t>
            </a:r>
          </a:p>
        </p:txBody>
      </p:sp>
      <p:sp>
        <p:nvSpPr>
          <p:cNvPr id="18" name="ZoneTexte 17">
            <a:extLst>
              <a:ext uri="{FF2B5EF4-FFF2-40B4-BE49-F238E27FC236}">
                <a16:creationId xmlns:a16="http://schemas.microsoft.com/office/drawing/2014/main" id="{9E40F294-21E3-CB77-034B-700FDFE643F6}"/>
              </a:ext>
            </a:extLst>
          </p:cNvPr>
          <p:cNvSpPr txBox="1"/>
          <p:nvPr/>
        </p:nvSpPr>
        <p:spPr>
          <a:xfrm>
            <a:off x="3454400" y="1714500"/>
            <a:ext cx="2235200" cy="215444"/>
          </a:xfrm>
          <a:prstGeom prst="rect">
            <a:avLst/>
          </a:prstGeom>
          <a:noFill/>
        </p:spPr>
        <p:txBody>
          <a:bodyPr vert="horz" wrap="square" lIns="0" tIns="0" rIns="0" bIns="0" rtlCol="0">
            <a:noAutofit/>
          </a:bodyPr>
          <a:lstStyle/>
          <a:p>
            <a:r>
              <a:rPr lang="en-US" sz="820">
                <a:solidFill>
                  <a:srgbClr val="1C1F25"/>
                </a:solidFill>
                <a:latin typeface="Arial" panose="020B0604020202020204" pitchFamily="34" charset="0"/>
              </a:rPr>
              <a:t>Levenshtein character alignment
KEEP  same character
DELETE  emit nothing
SUBSTITUTE  one new character
EXPAND  multi-character segment
Gold train: 81.06% KEEP</a:t>
            </a:r>
            <a:endParaRPr lang="fr-FR" sz="820">
              <a:solidFill>
                <a:srgbClr val="1C1F25"/>
              </a:solidFill>
              <a:latin typeface="Arial" panose="020B0604020202020204" pitchFamily="34" charset="0"/>
            </a:endParaRPr>
          </a:p>
        </p:txBody>
      </p:sp>
      <p:sp>
        <p:nvSpPr>
          <p:cNvPr id="19" name="Rectangle 18">
            <a:extLst>
              <a:ext uri="{FF2B5EF4-FFF2-40B4-BE49-F238E27FC236}">
                <a16:creationId xmlns:a16="http://schemas.microsoft.com/office/drawing/2014/main" id="{E783D528-CE20-7A89-CD7C-27557C36AFF4}"/>
              </a:ext>
            </a:extLst>
          </p:cNvPr>
          <p:cNvSpPr/>
          <p:nvPr/>
        </p:nvSpPr>
        <p:spPr>
          <a:xfrm>
            <a:off x="6108700" y="1346200"/>
            <a:ext cx="2489200" cy="26924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64A3468B-3714-07DB-4171-FF8DCD04ADB4}"/>
              </a:ext>
            </a:extLst>
          </p:cNvPr>
          <p:cNvSpPr/>
          <p:nvPr/>
        </p:nvSpPr>
        <p:spPr>
          <a:xfrm>
            <a:off x="6108700" y="13462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BC12C0D2-00C3-53DC-1923-EA1ADE703F76}"/>
              </a:ext>
            </a:extLst>
          </p:cNvPr>
          <p:cNvSpPr txBox="1"/>
          <p:nvPr/>
        </p:nvSpPr>
        <p:spPr>
          <a:xfrm>
            <a:off x="6235700" y="1460500"/>
            <a:ext cx="2235200" cy="215444"/>
          </a:xfrm>
          <a:prstGeom prst="rect">
            <a:avLst/>
          </a:prstGeom>
          <a:noFill/>
        </p:spPr>
        <p:txBody>
          <a:bodyPr vert="horz" wrap="square" lIns="0" tIns="0" rIns="0" bIns="0" rtlCol="0">
            <a:noAutofit/>
          </a:bodyPr>
          <a:lstStyle/>
          <a:p>
            <a:r>
              <a:rPr lang="fr-FR" sz="920" b="1">
                <a:solidFill>
                  <a:srgbClr val="0E2F46"/>
                </a:solidFill>
                <a:latin typeface="Arial" panose="020B0604020202020204" pitchFamily="34" charset="0"/>
              </a:rPr>
              <a:t>AUTOMATIC EVALUATION</a:t>
            </a:r>
          </a:p>
        </p:txBody>
      </p:sp>
      <p:sp>
        <p:nvSpPr>
          <p:cNvPr id="22" name="ZoneTexte 21">
            <a:extLst>
              <a:ext uri="{FF2B5EF4-FFF2-40B4-BE49-F238E27FC236}">
                <a16:creationId xmlns:a16="http://schemas.microsoft.com/office/drawing/2014/main" id="{0E8F476F-FAD9-3D9C-2970-78E65189A5C9}"/>
              </a:ext>
            </a:extLst>
          </p:cNvPr>
          <p:cNvSpPr txBox="1"/>
          <p:nvPr/>
        </p:nvSpPr>
        <p:spPr>
          <a:xfrm>
            <a:off x="6235700" y="1714500"/>
            <a:ext cx="2235200" cy="215444"/>
          </a:xfrm>
          <a:prstGeom prst="rect">
            <a:avLst/>
          </a:prstGeom>
          <a:noFill/>
        </p:spPr>
        <p:txBody>
          <a:bodyPr vert="horz" wrap="square" lIns="0" tIns="0" rIns="0" bIns="0" rtlCol="0">
            <a:noAutofit/>
          </a:bodyPr>
          <a:lstStyle/>
          <a:p>
            <a:r>
              <a:rPr lang="fr-FR" sz="820">
                <a:solidFill>
                  <a:srgbClr val="1C1F25"/>
                </a:solidFill>
                <a:latin typeface="Arial" panose="020B0604020202020204" pitchFamily="34" charset="0"/>
              </a:rPr>
              <a:t>CER  character edit distance
WER  token edit distance
chrF  character n-gram F-score
Exact  whole sentence
Correction P/R/F1 uses exact source-span + replacement signatures</a:t>
            </a:r>
          </a:p>
        </p:txBody>
      </p:sp>
      <p:sp>
        <p:nvSpPr>
          <p:cNvPr id="23" name="ZoneTexte 22">
            <a:extLst>
              <a:ext uri="{FF2B5EF4-FFF2-40B4-BE49-F238E27FC236}">
                <a16:creationId xmlns:a16="http://schemas.microsoft.com/office/drawing/2014/main" id="{F681B6FF-4FE8-DA31-3399-593D2EA065C9}"/>
              </a:ext>
            </a:extLst>
          </p:cNvPr>
          <p:cNvSpPr txBox="1"/>
          <p:nvPr/>
        </p:nvSpPr>
        <p:spPr>
          <a:xfrm>
            <a:off x="1130300" y="4279900"/>
            <a:ext cx="6934200" cy="215444"/>
          </a:xfrm>
          <a:prstGeom prst="rect">
            <a:avLst/>
          </a:prstGeom>
          <a:noFill/>
        </p:spPr>
        <p:txBody>
          <a:bodyPr vert="horz" wrap="square" lIns="0" tIns="0" rIns="0" bIns="0" rtlCol="0">
            <a:noAutofit/>
          </a:bodyPr>
          <a:lstStyle/>
          <a:p>
            <a:pPr algn="ctr"/>
            <a:r>
              <a:rPr lang="en-US" sz="1050" b="1" i="1">
                <a:solidFill>
                  <a:srgbClr val="0E2F46"/>
                </a:solidFill>
                <a:latin typeface="Arial" panose="020B0604020202020204" pitchFamily="34" charset="0"/>
              </a:rPr>
              <a:t>String operation is not linguistic interpretation or an evaluation signature</a:t>
            </a:r>
            <a:endParaRPr lang="fr-FR" sz="1050" b="1" i="1">
              <a:solidFill>
                <a:srgbClr val="0E2F46"/>
              </a:solidFill>
              <a:latin typeface="Arial" panose="020B0604020202020204" pitchFamily="34" charset="0"/>
            </a:endParaRPr>
          </a:p>
        </p:txBody>
      </p:sp>
      <p:sp>
        <p:nvSpPr>
          <p:cNvPr id="24" name="Rectangle 23">
            <a:extLst>
              <a:ext uri="{FF2B5EF4-FFF2-40B4-BE49-F238E27FC236}">
                <a16:creationId xmlns:a16="http://schemas.microsoft.com/office/drawing/2014/main" id="{2CB9273C-6BE0-D561-77C1-D0E04785E674}"/>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AF34370A-882A-DF7E-B6C2-560E5854545B}"/>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2346DF11-9A75-D70D-91DE-E7BAEAD461C1}"/>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7" name="ZoneTexte 26">
            <a:extLst>
              <a:ext uri="{FF2B5EF4-FFF2-40B4-BE49-F238E27FC236}">
                <a16:creationId xmlns:a16="http://schemas.microsoft.com/office/drawing/2014/main" id="{5E9E2EF4-46AF-427D-4CBB-EBFBDE43A5E6}"/>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8" name="ZoneTexte 27">
            <a:extLst>
              <a:ext uri="{FF2B5EF4-FFF2-40B4-BE49-F238E27FC236}">
                <a16:creationId xmlns:a16="http://schemas.microsoft.com/office/drawing/2014/main" id="{7637F292-4704-2904-89BA-994CBA7FB9F3}"/>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Annotation and alignment</a:t>
            </a:r>
          </a:p>
        </p:txBody>
      </p:sp>
      <p:sp>
        <p:nvSpPr>
          <p:cNvPr id="29" name="ZoneTexte 28">
            <a:extLst>
              <a:ext uri="{FF2B5EF4-FFF2-40B4-BE49-F238E27FC236}">
                <a16:creationId xmlns:a16="http://schemas.microsoft.com/office/drawing/2014/main" id="{8876EE26-FAB2-CD5C-07EB-07FD9B2C7242}"/>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25 / 36</a:t>
            </a:r>
          </a:p>
        </p:txBody>
      </p:sp>
      <p:pic>
        <p:nvPicPr>
          <p:cNvPr id="31" name="Image 30">
            <a:extLst>
              <a:ext uri="{FF2B5EF4-FFF2-40B4-BE49-F238E27FC236}">
                <a16:creationId xmlns:a16="http://schemas.microsoft.com/office/drawing/2014/main" id="{D42EBD56-4C4E-BD91-327F-D09AF984D13C}"/>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258444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9FD343-E76E-46F2-91BD-75CB700A6679}"/>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FB887D4B-84D0-0BCD-D635-FAB71BF59828}"/>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F222832A-E59F-C44E-A812-267DA1033721}"/>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M2 and M3: two code-switching mechanisms</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088B89C7-6E5A-C482-B331-EB433C634586}"/>
              </a:ext>
            </a:extLst>
          </p:cNvPr>
          <p:cNvSpPr/>
          <p:nvPr/>
        </p:nvSpPr>
        <p:spPr>
          <a:xfrm>
            <a:off x="546100" y="1333500"/>
            <a:ext cx="3784600" cy="25146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64D924D8-9C28-699A-5A68-7C7D8A90AFFB}"/>
              </a:ext>
            </a:extLst>
          </p:cNvPr>
          <p:cNvSpPr/>
          <p:nvPr/>
        </p:nvSpPr>
        <p:spPr>
          <a:xfrm>
            <a:off x="546100" y="1333500"/>
            <a:ext cx="3784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67D96A5C-0D2E-5AB9-4BE2-E50F55226A0B}"/>
              </a:ext>
            </a:extLst>
          </p:cNvPr>
          <p:cNvSpPr txBox="1"/>
          <p:nvPr/>
        </p:nvSpPr>
        <p:spPr>
          <a:xfrm>
            <a:off x="673100" y="1447800"/>
            <a:ext cx="3530600" cy="215444"/>
          </a:xfrm>
          <a:prstGeom prst="rect">
            <a:avLst/>
          </a:prstGeom>
          <a:noFill/>
        </p:spPr>
        <p:txBody>
          <a:bodyPr vert="horz" wrap="square" lIns="0" tIns="0" rIns="0" bIns="0" rtlCol="0">
            <a:noAutofit/>
          </a:bodyPr>
          <a:lstStyle/>
          <a:p>
            <a:r>
              <a:rPr lang="fr-FR" sz="950" b="1">
                <a:solidFill>
                  <a:srgbClr val="0E2F46"/>
                </a:solidFill>
                <a:latin typeface="Arial" panose="020B0604020202020204" pitchFamily="34" charset="0"/>
              </a:rPr>
              <a:t>M2 | EFLOMAL ALIGNMENT</a:t>
            </a:r>
          </a:p>
        </p:txBody>
      </p:sp>
      <p:sp>
        <p:nvSpPr>
          <p:cNvPr id="14" name="ZoneTexte 13">
            <a:extLst>
              <a:ext uri="{FF2B5EF4-FFF2-40B4-BE49-F238E27FC236}">
                <a16:creationId xmlns:a16="http://schemas.microsoft.com/office/drawing/2014/main" id="{EA204100-EA71-B4B1-D77E-CA0716C7A0A1}"/>
              </a:ext>
            </a:extLst>
          </p:cNvPr>
          <p:cNvSpPr txBox="1"/>
          <p:nvPr/>
        </p:nvSpPr>
        <p:spPr>
          <a:xfrm>
            <a:off x="673100" y="1701800"/>
            <a:ext cx="3530600" cy="215444"/>
          </a:xfrm>
          <a:prstGeom prst="rect">
            <a:avLst/>
          </a:prstGeom>
          <a:noFill/>
        </p:spPr>
        <p:txBody>
          <a:bodyPr vert="horz" wrap="square" lIns="0" tIns="0" rIns="0" bIns="0" rtlCol="0">
            <a:noAutofit/>
          </a:bodyPr>
          <a:lstStyle/>
          <a:p>
            <a:r>
              <a:rPr lang="en-US" sz="820">
                <a:solidFill>
                  <a:srgbClr val="1C1F25"/>
                </a:solidFill>
                <a:latin typeface="Arial" panose="020B0604020202020204" pitchFamily="34" charset="0"/>
              </a:rPr>
              <a:t>Learn Wolof-to-French probabilities from 17,777 paired sentences.
Keep links: count &gt;= 3 and probability &gt;= 0.10.
Replace about 20% of eligible positions with French words from the paired French sentence.
Protect inserted French, then apply M1 rules.</a:t>
            </a:r>
            <a:endParaRPr lang="fr-FR" sz="820">
              <a:solidFill>
                <a:srgbClr val="1C1F25"/>
              </a:solidFill>
              <a:latin typeface="Arial" panose="020B0604020202020204" pitchFamily="34" charset="0"/>
            </a:endParaRPr>
          </a:p>
        </p:txBody>
      </p:sp>
      <p:sp>
        <p:nvSpPr>
          <p:cNvPr id="15" name="Rectangle 14">
            <a:extLst>
              <a:ext uri="{FF2B5EF4-FFF2-40B4-BE49-F238E27FC236}">
                <a16:creationId xmlns:a16="http://schemas.microsoft.com/office/drawing/2014/main" id="{D7F2B8F7-368F-FBA2-ECB8-DC8B26F5EFE2}"/>
              </a:ext>
            </a:extLst>
          </p:cNvPr>
          <p:cNvSpPr/>
          <p:nvPr/>
        </p:nvSpPr>
        <p:spPr>
          <a:xfrm>
            <a:off x="4813300" y="1333500"/>
            <a:ext cx="3784600" cy="25146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5FB5FEF0-76BE-BECF-DE02-D7A5D2D5F3B2}"/>
              </a:ext>
            </a:extLst>
          </p:cNvPr>
          <p:cNvSpPr/>
          <p:nvPr/>
        </p:nvSpPr>
        <p:spPr>
          <a:xfrm>
            <a:off x="4813300" y="1333500"/>
            <a:ext cx="3784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E8F2610F-FB49-44F7-6E27-05E7DEFA5473}"/>
              </a:ext>
            </a:extLst>
          </p:cNvPr>
          <p:cNvSpPr txBox="1"/>
          <p:nvPr/>
        </p:nvSpPr>
        <p:spPr>
          <a:xfrm>
            <a:off x="4940300" y="1447800"/>
            <a:ext cx="3530600" cy="215444"/>
          </a:xfrm>
          <a:prstGeom prst="rect">
            <a:avLst/>
          </a:prstGeom>
          <a:noFill/>
        </p:spPr>
        <p:txBody>
          <a:bodyPr vert="horz" wrap="square" lIns="0" tIns="0" rIns="0" bIns="0" rtlCol="0">
            <a:noAutofit/>
          </a:bodyPr>
          <a:lstStyle/>
          <a:p>
            <a:r>
              <a:rPr lang="fr-FR" sz="950" b="1">
                <a:solidFill>
                  <a:srgbClr val="976F1D"/>
                </a:solidFill>
                <a:latin typeface="Arial" panose="020B0604020202020204" pitchFamily="34" charset="0"/>
              </a:rPr>
              <a:t>M3 | CMDR-STYLE RANKING</a:t>
            </a:r>
          </a:p>
        </p:txBody>
      </p:sp>
      <p:sp>
        <p:nvSpPr>
          <p:cNvPr id="18" name="ZoneTexte 17">
            <a:extLst>
              <a:ext uri="{FF2B5EF4-FFF2-40B4-BE49-F238E27FC236}">
                <a16:creationId xmlns:a16="http://schemas.microsoft.com/office/drawing/2014/main" id="{79232A2E-AC06-9E73-484F-2B4972D6D5A2}"/>
              </a:ext>
            </a:extLst>
          </p:cNvPr>
          <p:cNvSpPr txBox="1"/>
          <p:nvPr/>
        </p:nvSpPr>
        <p:spPr>
          <a:xfrm>
            <a:off x="4940300" y="1701800"/>
            <a:ext cx="3530600" cy="215444"/>
          </a:xfrm>
          <a:prstGeom prst="rect">
            <a:avLst/>
          </a:prstGeom>
          <a:noFill/>
        </p:spPr>
        <p:txBody>
          <a:bodyPr vert="horz" wrap="square" lIns="0" tIns="0" rIns="0" bIns="0" rtlCol="0">
            <a:noAutofit/>
          </a:bodyPr>
          <a:lstStyle/>
          <a:p>
            <a:r>
              <a:rPr lang="en-US" sz="820" dirty="0">
                <a:solidFill>
                  <a:srgbClr val="1C1F25"/>
                </a:solidFill>
                <a:latin typeface="Arial" panose="020B0604020202020204" pitchFamily="34" charset="0"/>
              </a:rPr>
              <a:t>Shared 150-d Word2Vec over bilingual n-grams.
Score = similarity x bilingual evidence x position x n-gram penalty.
Require similarity &gt;= 0.70 and evidence &gt;= 0.01; at most two substitutions.
Protect inserted French, then apply M1 rules.</a:t>
            </a:r>
            <a:endParaRPr lang="fr-FR" sz="820" dirty="0">
              <a:solidFill>
                <a:srgbClr val="1C1F25"/>
              </a:solidFill>
              <a:latin typeface="Arial" panose="020B0604020202020204" pitchFamily="34" charset="0"/>
            </a:endParaRPr>
          </a:p>
        </p:txBody>
      </p:sp>
      <p:sp>
        <p:nvSpPr>
          <p:cNvPr id="19" name="ZoneTexte 18">
            <a:extLst>
              <a:ext uri="{FF2B5EF4-FFF2-40B4-BE49-F238E27FC236}">
                <a16:creationId xmlns:a16="http://schemas.microsoft.com/office/drawing/2014/main" id="{0CB3E23D-A707-5475-502A-33571D940677}"/>
              </a:ext>
            </a:extLst>
          </p:cNvPr>
          <p:cNvSpPr txBox="1"/>
          <p:nvPr/>
        </p:nvSpPr>
        <p:spPr>
          <a:xfrm>
            <a:off x="546100" y="4076700"/>
            <a:ext cx="1638300" cy="215444"/>
          </a:xfrm>
          <a:prstGeom prst="rect">
            <a:avLst/>
          </a:prstGeom>
          <a:noFill/>
        </p:spPr>
        <p:txBody>
          <a:bodyPr vert="horz" wrap="square" lIns="0" tIns="0" rIns="0" bIns="0" rtlCol="0">
            <a:noAutofit/>
          </a:bodyPr>
          <a:lstStyle/>
          <a:p>
            <a:r>
              <a:rPr lang="fr-FR" sz="780" b="1">
                <a:solidFill>
                  <a:srgbClr val="606774"/>
                </a:solidFill>
                <a:latin typeface="Arial" panose="020B0604020202020204" pitchFamily="34" charset="0"/>
              </a:rPr>
              <a:t>MATCHED 3,330 ROWS</a:t>
            </a:r>
          </a:p>
        </p:txBody>
      </p:sp>
      <p:sp>
        <p:nvSpPr>
          <p:cNvPr id="20" name="ZoneTexte 19">
            <a:extLst>
              <a:ext uri="{FF2B5EF4-FFF2-40B4-BE49-F238E27FC236}">
                <a16:creationId xmlns:a16="http://schemas.microsoft.com/office/drawing/2014/main" id="{7E511900-8695-871D-B3DC-56DDD16C9F06}"/>
              </a:ext>
            </a:extLst>
          </p:cNvPr>
          <p:cNvSpPr txBox="1"/>
          <p:nvPr/>
        </p:nvSpPr>
        <p:spPr>
          <a:xfrm>
            <a:off x="2298700" y="4051300"/>
            <a:ext cx="2717800" cy="215444"/>
          </a:xfrm>
          <a:prstGeom prst="rect">
            <a:avLst/>
          </a:prstGeom>
          <a:noFill/>
        </p:spPr>
        <p:txBody>
          <a:bodyPr vert="horz" wrap="square" lIns="0" tIns="0" rIns="0" bIns="0" rtlCol="0">
            <a:noAutofit/>
          </a:bodyPr>
          <a:lstStyle/>
          <a:p>
            <a:r>
              <a:rPr lang="fr-FR" sz="900" b="1">
                <a:solidFill>
                  <a:srgbClr val="0E2F46"/>
                </a:solidFill>
                <a:latin typeface="Arial" panose="020B0604020202020204" pitchFamily="34" charset="0"/>
              </a:rPr>
              <a:t>M2  94.5% rows | 2.62 substitutions/row</a:t>
            </a:r>
          </a:p>
        </p:txBody>
      </p:sp>
      <p:sp>
        <p:nvSpPr>
          <p:cNvPr id="21" name="ZoneTexte 20">
            <a:extLst>
              <a:ext uri="{FF2B5EF4-FFF2-40B4-BE49-F238E27FC236}">
                <a16:creationId xmlns:a16="http://schemas.microsoft.com/office/drawing/2014/main" id="{60DBBB83-CF61-6432-D9DC-3B15C8ABF1EC}"/>
              </a:ext>
            </a:extLst>
          </p:cNvPr>
          <p:cNvSpPr txBox="1"/>
          <p:nvPr/>
        </p:nvSpPr>
        <p:spPr>
          <a:xfrm>
            <a:off x="5334000" y="4051300"/>
            <a:ext cx="2717800" cy="215444"/>
          </a:xfrm>
          <a:prstGeom prst="rect">
            <a:avLst/>
          </a:prstGeom>
          <a:noFill/>
        </p:spPr>
        <p:txBody>
          <a:bodyPr vert="horz" wrap="square" lIns="0" tIns="0" rIns="0" bIns="0" rtlCol="0">
            <a:noAutofit/>
          </a:bodyPr>
          <a:lstStyle/>
          <a:p>
            <a:r>
              <a:rPr lang="fr-FR" sz="900" b="1">
                <a:solidFill>
                  <a:srgbClr val="976F1D"/>
                </a:solidFill>
                <a:latin typeface="Arial" panose="020B0604020202020204" pitchFamily="34" charset="0"/>
              </a:rPr>
              <a:t>M3  32.9% rows | 0.46 substitutions/row</a:t>
            </a:r>
          </a:p>
        </p:txBody>
      </p:sp>
      <p:sp>
        <p:nvSpPr>
          <p:cNvPr id="22" name="Rectangle 21">
            <a:extLst>
              <a:ext uri="{FF2B5EF4-FFF2-40B4-BE49-F238E27FC236}">
                <a16:creationId xmlns:a16="http://schemas.microsoft.com/office/drawing/2014/main" id="{AE34313F-20CE-ABE5-C7A0-3074E434F3D2}"/>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21BBB1C1-CB00-8418-35D6-9D41A46C7FEF}"/>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3B561A44-9888-F3BE-CB47-88E245B1B4B5}"/>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5" name="ZoneTexte 24">
            <a:extLst>
              <a:ext uri="{FF2B5EF4-FFF2-40B4-BE49-F238E27FC236}">
                <a16:creationId xmlns:a16="http://schemas.microsoft.com/office/drawing/2014/main" id="{E0173FEA-4092-3989-2E73-6BD6CC3D509A}"/>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6" name="ZoneTexte 25">
            <a:extLst>
              <a:ext uri="{FF2B5EF4-FFF2-40B4-BE49-F238E27FC236}">
                <a16:creationId xmlns:a16="http://schemas.microsoft.com/office/drawing/2014/main" id="{3D07078E-4F1D-0544-4C7F-791B4380460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Method detail</a:t>
            </a:r>
          </a:p>
        </p:txBody>
      </p:sp>
      <p:sp>
        <p:nvSpPr>
          <p:cNvPr id="27" name="ZoneTexte 26">
            <a:extLst>
              <a:ext uri="{FF2B5EF4-FFF2-40B4-BE49-F238E27FC236}">
                <a16:creationId xmlns:a16="http://schemas.microsoft.com/office/drawing/2014/main" id="{F53434FF-5E07-008A-A47C-71200F2CEEC1}"/>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26 / 36</a:t>
            </a:r>
          </a:p>
        </p:txBody>
      </p:sp>
      <p:pic>
        <p:nvPicPr>
          <p:cNvPr id="29" name="Image 28">
            <a:extLst>
              <a:ext uri="{FF2B5EF4-FFF2-40B4-BE49-F238E27FC236}">
                <a16:creationId xmlns:a16="http://schemas.microsoft.com/office/drawing/2014/main" id="{9E410759-0F91-7285-4E9E-7928C7E3DACE}"/>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978529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439191-18C8-01A8-ADBF-CDE85D51D9A5}"/>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BE3B4E3D-1577-DAD4-53F0-B5750BC08BFC}"/>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11" name="Rectangle 10">
            <a:extLst>
              <a:ext uri="{FF2B5EF4-FFF2-40B4-BE49-F238E27FC236}">
                <a16:creationId xmlns:a16="http://schemas.microsoft.com/office/drawing/2014/main" id="{7D73C43B-6F95-1C70-6435-2167F8E244CC}"/>
              </a:ext>
            </a:extLst>
          </p:cNvPr>
          <p:cNvSpPr/>
          <p:nvPr/>
        </p:nvSpPr>
        <p:spPr>
          <a:xfrm>
            <a:off x="546100" y="1333500"/>
            <a:ext cx="3784600" cy="27940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BEB717BD-03C3-67A6-7E2E-5DF8DF8D2577}"/>
              </a:ext>
            </a:extLst>
          </p:cNvPr>
          <p:cNvSpPr/>
          <p:nvPr/>
        </p:nvSpPr>
        <p:spPr>
          <a:xfrm>
            <a:off x="546100" y="1333500"/>
            <a:ext cx="3784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ED731D2-E5FF-E15C-EE6E-C72BDD0C7A86}"/>
              </a:ext>
            </a:extLst>
          </p:cNvPr>
          <p:cNvSpPr txBox="1"/>
          <p:nvPr/>
        </p:nvSpPr>
        <p:spPr>
          <a:xfrm>
            <a:off x="673100" y="1447800"/>
            <a:ext cx="3530600" cy="215444"/>
          </a:xfrm>
          <a:prstGeom prst="rect">
            <a:avLst/>
          </a:prstGeom>
          <a:noFill/>
        </p:spPr>
        <p:txBody>
          <a:bodyPr vert="horz" wrap="square" lIns="0" tIns="0" rIns="0" bIns="0" rtlCol="0">
            <a:noAutofit/>
          </a:bodyPr>
          <a:lstStyle/>
          <a:p>
            <a:r>
              <a:rPr lang="fr-FR" sz="950" b="1">
                <a:solidFill>
                  <a:srgbClr val="0E2F46"/>
                </a:solidFill>
                <a:latin typeface="Arial" panose="020B0604020202020204" pitchFamily="34" charset="0"/>
              </a:rPr>
              <a:t>M5 | DOCUMENTED, NOT HIDDEN</a:t>
            </a:r>
          </a:p>
        </p:txBody>
      </p:sp>
      <p:sp>
        <p:nvSpPr>
          <p:cNvPr id="14" name="ZoneTexte 13">
            <a:extLst>
              <a:ext uri="{FF2B5EF4-FFF2-40B4-BE49-F238E27FC236}">
                <a16:creationId xmlns:a16="http://schemas.microsoft.com/office/drawing/2014/main" id="{65997326-5EBE-76DB-EFD3-1F0EBE4FBBF0}"/>
              </a:ext>
            </a:extLst>
          </p:cNvPr>
          <p:cNvSpPr txBox="1"/>
          <p:nvPr/>
        </p:nvSpPr>
        <p:spPr>
          <a:xfrm>
            <a:off x="673100" y="1701800"/>
            <a:ext cx="3530600" cy="215444"/>
          </a:xfrm>
          <a:prstGeom prst="rect">
            <a:avLst/>
          </a:prstGeom>
          <a:noFill/>
        </p:spPr>
        <p:txBody>
          <a:bodyPr vert="horz" wrap="square" lIns="0" tIns="0" rIns="0" bIns="0" rtlCol="0">
            <a:noAutofit/>
          </a:bodyPr>
          <a:lstStyle/>
          <a:p>
            <a:r>
              <a:rPr lang="en-US" sz="840">
                <a:solidFill>
                  <a:srgbClr val="1C1F25"/>
                </a:solidFill>
                <a:latin typeface="Arial" panose="020B0604020202020204" pitchFamily="34" charset="0"/>
              </a:rPr>
              <a:t>Unsupervised YouTube lexical mining after held-out-video exclusion.
19,828 candidates -&gt; 114 accepted mappings.
17,777 exported rows, but only 1,821 changed; 15,956 remained identity.
Excluded because the final comparison would mainly test identity pretraining.</a:t>
            </a:r>
            <a:endParaRPr lang="fr-FR" sz="840">
              <a:solidFill>
                <a:srgbClr val="1C1F25"/>
              </a:solidFill>
              <a:latin typeface="Arial" panose="020B0604020202020204" pitchFamily="34" charset="0"/>
            </a:endParaRPr>
          </a:p>
        </p:txBody>
      </p:sp>
      <p:sp>
        <p:nvSpPr>
          <p:cNvPr id="15" name="Rectangle 14">
            <a:extLst>
              <a:ext uri="{FF2B5EF4-FFF2-40B4-BE49-F238E27FC236}">
                <a16:creationId xmlns:a16="http://schemas.microsoft.com/office/drawing/2014/main" id="{96028B5E-154D-E727-BCEF-D90AEAFB29F3}"/>
              </a:ext>
            </a:extLst>
          </p:cNvPr>
          <p:cNvSpPr/>
          <p:nvPr/>
        </p:nvSpPr>
        <p:spPr>
          <a:xfrm>
            <a:off x="4813300" y="1333500"/>
            <a:ext cx="3784600" cy="27940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33F2297A-C878-6B15-6372-27BF5B9B607C}"/>
              </a:ext>
            </a:extLst>
          </p:cNvPr>
          <p:cNvSpPr/>
          <p:nvPr/>
        </p:nvSpPr>
        <p:spPr>
          <a:xfrm>
            <a:off x="4813300" y="1333500"/>
            <a:ext cx="3784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FF8FCADC-23F6-B988-8A56-99E58C95031F}"/>
              </a:ext>
            </a:extLst>
          </p:cNvPr>
          <p:cNvSpPr txBox="1"/>
          <p:nvPr/>
        </p:nvSpPr>
        <p:spPr>
          <a:xfrm>
            <a:off x="4940300" y="1447800"/>
            <a:ext cx="3530600" cy="215444"/>
          </a:xfrm>
          <a:prstGeom prst="rect">
            <a:avLst/>
          </a:prstGeom>
          <a:noFill/>
        </p:spPr>
        <p:txBody>
          <a:bodyPr vert="horz" wrap="square" lIns="0" tIns="0" rIns="0" bIns="0" rtlCol="0">
            <a:noAutofit/>
          </a:bodyPr>
          <a:lstStyle/>
          <a:p>
            <a:r>
              <a:rPr lang="fr-FR" sz="950" b="1">
                <a:solidFill>
                  <a:srgbClr val="976F1D"/>
                </a:solidFill>
                <a:latin typeface="Arial" panose="020B0604020202020204" pitchFamily="34" charset="0"/>
              </a:rPr>
              <a:t>M6 | GOLD-TRAIN-INFORMED</a:t>
            </a:r>
          </a:p>
        </p:txBody>
      </p:sp>
      <p:sp>
        <p:nvSpPr>
          <p:cNvPr id="18" name="ZoneTexte 17">
            <a:extLst>
              <a:ext uri="{FF2B5EF4-FFF2-40B4-BE49-F238E27FC236}">
                <a16:creationId xmlns:a16="http://schemas.microsoft.com/office/drawing/2014/main" id="{0D99CEB6-BE2F-7A2F-C44C-6C49B8803C87}"/>
              </a:ext>
            </a:extLst>
          </p:cNvPr>
          <p:cNvSpPr txBox="1"/>
          <p:nvPr/>
        </p:nvSpPr>
        <p:spPr>
          <a:xfrm>
            <a:off x="4940300" y="1701800"/>
            <a:ext cx="3530600" cy="215444"/>
          </a:xfrm>
          <a:prstGeom prst="rect">
            <a:avLst/>
          </a:prstGeom>
          <a:noFill/>
        </p:spPr>
        <p:txBody>
          <a:bodyPr vert="horz" wrap="square" lIns="0" tIns="0" rIns="0" bIns="0" rtlCol="0">
            <a:noAutofit/>
          </a:bodyPr>
          <a:lstStyle/>
          <a:p>
            <a:r>
              <a:rPr lang="en-US" sz="840">
                <a:solidFill>
                  <a:srgbClr val="1C1F25"/>
                </a:solidFill>
                <a:latin typeface="Arial" panose="020B0604020202020204" pitchFamily="34" charset="0"/>
              </a:rPr>
              <a:t>865 eligible reviewed Wolof occurrences; 588 changed.
171 dominant lexical mappings
105 POS/context character templates
Source-ID-stable seed samples an empirical edit budget; candidates are weighted; overlaps and protected content are rejected.</a:t>
            </a:r>
            <a:endParaRPr lang="fr-FR" sz="840">
              <a:solidFill>
                <a:srgbClr val="1C1F25"/>
              </a:solidFill>
              <a:latin typeface="Arial" panose="020B0604020202020204" pitchFamily="34" charset="0"/>
            </a:endParaRPr>
          </a:p>
        </p:txBody>
      </p:sp>
      <p:sp>
        <p:nvSpPr>
          <p:cNvPr id="19" name="ZoneTexte 18">
            <a:extLst>
              <a:ext uri="{FF2B5EF4-FFF2-40B4-BE49-F238E27FC236}">
                <a16:creationId xmlns:a16="http://schemas.microsoft.com/office/drawing/2014/main" id="{E56CBA22-94B9-770A-B757-AC05C9EF4217}"/>
              </a:ext>
            </a:extLst>
          </p:cNvPr>
          <p:cNvSpPr txBox="1"/>
          <p:nvPr/>
        </p:nvSpPr>
        <p:spPr>
          <a:xfrm>
            <a:off x="1117600" y="4368800"/>
            <a:ext cx="6959600" cy="215444"/>
          </a:xfrm>
          <a:prstGeom prst="rect">
            <a:avLst/>
          </a:prstGeom>
          <a:noFill/>
        </p:spPr>
        <p:txBody>
          <a:bodyPr vert="horz" wrap="square" lIns="0" tIns="0" rIns="0" bIns="0" rtlCol="0">
            <a:noAutofit/>
          </a:bodyPr>
          <a:lstStyle/>
          <a:p>
            <a:pPr algn="ctr"/>
            <a:r>
              <a:rPr lang="en-US" sz="850" b="1">
                <a:solidFill>
                  <a:srgbClr val="0E2F46"/>
                </a:solidFill>
                <a:latin typeface="Arial" panose="020B0604020202020204" pitchFamily="34" charset="0"/>
              </a:rPr>
              <a:t>M6 uses no Gold-dev/test annotation: supervised train-only feature extraction, not held-out leakage.</a:t>
            </a:r>
            <a:endParaRPr lang="fr-FR" sz="850" b="1">
              <a:solidFill>
                <a:srgbClr val="0E2F46"/>
              </a:solidFill>
              <a:latin typeface="Arial" panose="020B0604020202020204" pitchFamily="34" charset="0"/>
            </a:endParaRPr>
          </a:p>
        </p:txBody>
      </p:sp>
      <p:sp>
        <p:nvSpPr>
          <p:cNvPr id="20" name="Rectangle 19">
            <a:extLst>
              <a:ext uri="{FF2B5EF4-FFF2-40B4-BE49-F238E27FC236}">
                <a16:creationId xmlns:a16="http://schemas.microsoft.com/office/drawing/2014/main" id="{09F627FF-DEC7-BF55-446F-AAAE27975E49}"/>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A1EB3180-EF55-EC88-1BE5-D31F95439B57}"/>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7DFB9FA7-8213-510A-6B5E-2C82D03F7354}"/>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8E2DC718-A8EA-3E70-26FD-F25F12A60D4E}"/>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Why M5 was excluded - and what M6 actually learns</a:t>
            </a:r>
            <a:endParaRPr lang="fr-FR" sz="1900" b="1">
              <a:solidFill>
                <a:srgbClr val="57658D"/>
              </a:solidFill>
              <a:latin typeface="Arial" panose="020B0604020202020204" pitchFamily="34" charset="0"/>
            </a:endParaRPr>
          </a:p>
        </p:txBody>
      </p:sp>
      <p:sp>
        <p:nvSpPr>
          <p:cNvPr id="23" name="ZoneTexte 22">
            <a:extLst>
              <a:ext uri="{FF2B5EF4-FFF2-40B4-BE49-F238E27FC236}">
                <a16:creationId xmlns:a16="http://schemas.microsoft.com/office/drawing/2014/main" id="{1B43B5AB-AC4E-CCBD-CF2A-D462B5870ECA}"/>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4" name="ZoneTexte 23">
            <a:extLst>
              <a:ext uri="{FF2B5EF4-FFF2-40B4-BE49-F238E27FC236}">
                <a16:creationId xmlns:a16="http://schemas.microsoft.com/office/drawing/2014/main" id="{461A8E33-25C7-6AA5-01C4-E038A14C64B0}"/>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Method controls</a:t>
            </a:r>
          </a:p>
        </p:txBody>
      </p:sp>
      <p:sp>
        <p:nvSpPr>
          <p:cNvPr id="25" name="ZoneTexte 24">
            <a:extLst>
              <a:ext uri="{FF2B5EF4-FFF2-40B4-BE49-F238E27FC236}">
                <a16:creationId xmlns:a16="http://schemas.microsoft.com/office/drawing/2014/main" id="{1B69AFAD-3010-2F64-A8C8-C3DD1969FA53}"/>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27 / 36</a:t>
            </a:r>
          </a:p>
        </p:txBody>
      </p:sp>
      <p:pic>
        <p:nvPicPr>
          <p:cNvPr id="27" name="Image 26">
            <a:extLst>
              <a:ext uri="{FF2B5EF4-FFF2-40B4-BE49-F238E27FC236}">
                <a16:creationId xmlns:a16="http://schemas.microsoft.com/office/drawing/2014/main" id="{FFEBD4E8-A934-191A-9F6A-C29E961D2F91}"/>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994562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456C21-F01A-FF43-5674-2F9C5E37C151}"/>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A846C0AC-4502-561D-D135-3C3D7CA62F0A}"/>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28CFB43A-2EAE-9644-9DA0-898DD986AFF5}"/>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How TNT was adapted to Wolof normalization</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A44FDF18-27DC-196B-5AF4-07FB37DE2368}"/>
              </a:ext>
            </a:extLst>
          </p:cNvPr>
          <p:cNvSpPr/>
          <p:nvPr/>
        </p:nvSpPr>
        <p:spPr>
          <a:xfrm>
            <a:off x="546100" y="1498600"/>
            <a:ext cx="1905000" cy="1600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D17C8CEF-85D5-6DCE-5F73-EB41356454FA}"/>
              </a:ext>
            </a:extLst>
          </p:cNvPr>
          <p:cNvSpPr/>
          <p:nvPr/>
        </p:nvSpPr>
        <p:spPr>
          <a:xfrm>
            <a:off x="546100" y="1498600"/>
            <a:ext cx="1905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0718651D-435B-4264-FCAD-9F405D179907}"/>
              </a:ext>
            </a:extLst>
          </p:cNvPr>
          <p:cNvSpPr txBox="1"/>
          <p:nvPr/>
        </p:nvSpPr>
        <p:spPr>
          <a:xfrm>
            <a:off x="673100" y="1612900"/>
            <a:ext cx="1651000" cy="215444"/>
          </a:xfrm>
          <a:prstGeom prst="rect">
            <a:avLst/>
          </a:prstGeom>
          <a:noFill/>
        </p:spPr>
        <p:txBody>
          <a:bodyPr vert="horz" wrap="square" lIns="0" tIns="0" rIns="0" bIns="0" rtlCol="0">
            <a:noAutofit/>
          </a:bodyPr>
          <a:lstStyle/>
          <a:p>
            <a:r>
              <a:rPr lang="fr-FR" sz="870" b="1">
                <a:solidFill>
                  <a:srgbClr val="0E2F46"/>
                </a:solidFill>
                <a:latin typeface="Arial" panose="020B0604020202020204" pitchFamily="34" charset="0"/>
              </a:rPr>
              <a:t>INPUT AND ALIGNMENT</a:t>
            </a:r>
          </a:p>
        </p:txBody>
      </p:sp>
      <p:sp>
        <p:nvSpPr>
          <p:cNvPr id="14" name="ZoneTexte 13">
            <a:extLst>
              <a:ext uri="{FF2B5EF4-FFF2-40B4-BE49-F238E27FC236}">
                <a16:creationId xmlns:a16="http://schemas.microsoft.com/office/drawing/2014/main" id="{C062697D-C307-11D4-C0F0-54A7A615B44A}"/>
              </a:ext>
            </a:extLst>
          </p:cNvPr>
          <p:cNvSpPr txBox="1"/>
          <p:nvPr/>
        </p:nvSpPr>
        <p:spPr>
          <a:xfrm>
            <a:off x="673100" y="1866900"/>
            <a:ext cx="1651000" cy="215444"/>
          </a:xfrm>
          <a:prstGeom prst="rect">
            <a:avLst/>
          </a:prstGeom>
          <a:noFill/>
        </p:spPr>
        <p:txBody>
          <a:bodyPr vert="horz" wrap="square" lIns="0" tIns="0" rIns="0" bIns="0" rtlCol="0">
            <a:noAutofit/>
          </a:bodyPr>
          <a:lstStyle/>
          <a:p>
            <a:r>
              <a:rPr lang="en-US" sz="770">
                <a:solidFill>
                  <a:srgbClr val="1C1F25"/>
                </a:solidFill>
                <a:latin typeface="Arial" panose="020B0604020202020204" pitchFamily="34" charset="0"/>
              </a:rPr>
              <a:t>Informal sentence at character level
120-symbol vocabulary | max 256
Deterministic Levenshtein targets</a:t>
            </a:r>
            <a:endParaRPr lang="fr-FR" sz="770">
              <a:solidFill>
                <a:srgbClr val="1C1F25"/>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94B4001A-1568-7BE4-CD05-E8708CCD5B42}"/>
              </a:ext>
            </a:extLst>
          </p:cNvPr>
          <p:cNvCxnSpPr/>
          <p:nvPr/>
        </p:nvCxnSpPr>
        <p:spPr>
          <a:xfrm>
            <a:off x="2489200" y="2298700"/>
            <a:ext cx="1651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67645A2-F47B-8E59-B1FB-AFFE32894BC5}"/>
              </a:ext>
            </a:extLst>
          </p:cNvPr>
          <p:cNvSpPr/>
          <p:nvPr/>
        </p:nvSpPr>
        <p:spPr>
          <a:xfrm>
            <a:off x="2705100" y="1498600"/>
            <a:ext cx="1905000" cy="1600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81C197B5-8D9C-E4B2-7A99-1B2741C3A340}"/>
              </a:ext>
            </a:extLst>
          </p:cNvPr>
          <p:cNvSpPr/>
          <p:nvPr/>
        </p:nvSpPr>
        <p:spPr>
          <a:xfrm>
            <a:off x="2705100" y="1498600"/>
            <a:ext cx="1905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8FEB286F-96E4-7B6F-C60C-A7F45701CC29}"/>
              </a:ext>
            </a:extLst>
          </p:cNvPr>
          <p:cNvSpPr txBox="1"/>
          <p:nvPr/>
        </p:nvSpPr>
        <p:spPr>
          <a:xfrm>
            <a:off x="2832100" y="1612900"/>
            <a:ext cx="1651000" cy="215444"/>
          </a:xfrm>
          <a:prstGeom prst="rect">
            <a:avLst/>
          </a:prstGeom>
          <a:noFill/>
        </p:spPr>
        <p:txBody>
          <a:bodyPr vert="horz" wrap="square" lIns="0" tIns="0" rIns="0" bIns="0" rtlCol="0">
            <a:noAutofit/>
          </a:bodyPr>
          <a:lstStyle/>
          <a:p>
            <a:r>
              <a:rPr lang="fr-FR" sz="870" b="1">
                <a:solidFill>
                  <a:srgbClr val="0E2F46"/>
                </a:solidFill>
                <a:latin typeface="Arial" panose="020B0604020202020204" pitchFamily="34" charset="0"/>
              </a:rPr>
              <a:t>SHARED ENCODER</a:t>
            </a:r>
          </a:p>
        </p:txBody>
      </p:sp>
      <p:sp>
        <p:nvSpPr>
          <p:cNvPr id="19" name="ZoneTexte 18">
            <a:extLst>
              <a:ext uri="{FF2B5EF4-FFF2-40B4-BE49-F238E27FC236}">
                <a16:creationId xmlns:a16="http://schemas.microsoft.com/office/drawing/2014/main" id="{99B20FB4-13D0-C3FF-0F62-2610FAA2A09D}"/>
              </a:ext>
            </a:extLst>
          </p:cNvPr>
          <p:cNvSpPr txBox="1"/>
          <p:nvPr/>
        </p:nvSpPr>
        <p:spPr>
          <a:xfrm>
            <a:off x="2832100" y="1866900"/>
            <a:ext cx="1651000" cy="215444"/>
          </a:xfrm>
          <a:prstGeom prst="rect">
            <a:avLst/>
          </a:prstGeom>
          <a:noFill/>
        </p:spPr>
        <p:txBody>
          <a:bodyPr vert="horz" wrap="square" lIns="0" tIns="0" rIns="0" bIns="0" rtlCol="0">
            <a:noAutofit/>
          </a:bodyPr>
          <a:lstStyle/>
          <a:p>
            <a:r>
              <a:rPr lang="fr-FR" sz="770">
                <a:solidFill>
                  <a:srgbClr val="1C1F25"/>
                </a:solidFill>
                <a:latin typeface="Arial" panose="020B0604020202020204" pitchFamily="34" charset="0"/>
              </a:rPr>
              <a:t>3 Transformer layers
d_model 192 | 4 heads
FFN 768 | dropout 0.1</a:t>
            </a:r>
          </a:p>
        </p:txBody>
      </p:sp>
      <p:cxnSp>
        <p:nvCxnSpPr>
          <p:cNvPr id="20" name="Connecteur droit 19">
            <a:extLst>
              <a:ext uri="{FF2B5EF4-FFF2-40B4-BE49-F238E27FC236}">
                <a16:creationId xmlns:a16="http://schemas.microsoft.com/office/drawing/2014/main" id="{467DE503-C1F3-7B47-CC33-8514DEEBFCBB}"/>
              </a:ext>
            </a:extLst>
          </p:cNvPr>
          <p:cNvCxnSpPr/>
          <p:nvPr/>
        </p:nvCxnSpPr>
        <p:spPr>
          <a:xfrm>
            <a:off x="4648200" y="2298700"/>
            <a:ext cx="1651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84B96A0-5588-A4A3-2627-761736451221}"/>
              </a:ext>
            </a:extLst>
          </p:cNvPr>
          <p:cNvSpPr/>
          <p:nvPr/>
        </p:nvSpPr>
        <p:spPr>
          <a:xfrm>
            <a:off x="4864100" y="1498600"/>
            <a:ext cx="2095500" cy="16002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E78C6B62-2664-7529-024A-987ADEA76811}"/>
              </a:ext>
            </a:extLst>
          </p:cNvPr>
          <p:cNvSpPr/>
          <p:nvPr/>
        </p:nvSpPr>
        <p:spPr>
          <a:xfrm>
            <a:off x="4864100" y="1498600"/>
            <a:ext cx="20955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19B21CB9-70BE-5DEA-46FF-633AFEEAE54C}"/>
              </a:ext>
            </a:extLst>
          </p:cNvPr>
          <p:cNvSpPr txBox="1"/>
          <p:nvPr/>
        </p:nvSpPr>
        <p:spPr>
          <a:xfrm>
            <a:off x="4991100" y="1612900"/>
            <a:ext cx="1841500" cy="215444"/>
          </a:xfrm>
          <a:prstGeom prst="rect">
            <a:avLst/>
          </a:prstGeom>
          <a:noFill/>
        </p:spPr>
        <p:txBody>
          <a:bodyPr vert="horz" wrap="square" lIns="0" tIns="0" rIns="0" bIns="0" rtlCol="0">
            <a:noAutofit/>
          </a:bodyPr>
          <a:lstStyle/>
          <a:p>
            <a:r>
              <a:rPr lang="fr-FR" sz="870" b="1">
                <a:solidFill>
                  <a:srgbClr val="976F1D"/>
                </a:solidFill>
                <a:latin typeface="Arial" panose="020B0604020202020204" pitchFamily="34" charset="0"/>
              </a:rPr>
              <a:t>PARALLEL HEADS</a:t>
            </a:r>
          </a:p>
        </p:txBody>
      </p:sp>
      <p:sp>
        <p:nvSpPr>
          <p:cNvPr id="24" name="ZoneTexte 23">
            <a:extLst>
              <a:ext uri="{FF2B5EF4-FFF2-40B4-BE49-F238E27FC236}">
                <a16:creationId xmlns:a16="http://schemas.microsoft.com/office/drawing/2014/main" id="{4FC8F53E-8166-4BB6-4C89-087182C7EA86}"/>
              </a:ext>
            </a:extLst>
          </p:cNvPr>
          <p:cNvSpPr txBox="1"/>
          <p:nvPr/>
        </p:nvSpPr>
        <p:spPr>
          <a:xfrm>
            <a:off x="4991100" y="1866900"/>
            <a:ext cx="1841500" cy="215444"/>
          </a:xfrm>
          <a:prstGeom prst="rect">
            <a:avLst/>
          </a:prstGeom>
          <a:noFill/>
        </p:spPr>
        <p:txBody>
          <a:bodyPr vert="horz" wrap="square" lIns="0" tIns="0" rIns="0" bIns="0" rtlCol="0">
            <a:noAutofit/>
          </a:bodyPr>
          <a:lstStyle/>
          <a:p>
            <a:r>
              <a:rPr lang="en-US" sz="770">
                <a:solidFill>
                  <a:srgbClr val="1C1F25"/>
                </a:solidFill>
                <a:latin typeface="Arial" panose="020B0604020202020204" pitchFamily="34" charset="0"/>
              </a:rPr>
              <a:t>Operation: K / D / S / E
Segment: up to 32 chars
No autoregressive feedback</a:t>
            </a:r>
            <a:endParaRPr lang="fr-FR" sz="770">
              <a:solidFill>
                <a:srgbClr val="1C1F25"/>
              </a:solidFill>
              <a:latin typeface="Arial" panose="020B0604020202020204" pitchFamily="34" charset="0"/>
            </a:endParaRPr>
          </a:p>
        </p:txBody>
      </p:sp>
      <p:cxnSp>
        <p:nvCxnSpPr>
          <p:cNvPr id="25" name="Connecteur droit 24">
            <a:extLst>
              <a:ext uri="{FF2B5EF4-FFF2-40B4-BE49-F238E27FC236}">
                <a16:creationId xmlns:a16="http://schemas.microsoft.com/office/drawing/2014/main" id="{BF1224AA-7E2A-AA25-0EF5-2CF378EEAB5F}"/>
              </a:ext>
            </a:extLst>
          </p:cNvPr>
          <p:cNvCxnSpPr/>
          <p:nvPr/>
        </p:nvCxnSpPr>
        <p:spPr>
          <a:xfrm>
            <a:off x="6997700" y="2298700"/>
            <a:ext cx="1651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CBBFA7B-052C-A5A1-2F83-9C774591A1B6}"/>
              </a:ext>
            </a:extLst>
          </p:cNvPr>
          <p:cNvSpPr/>
          <p:nvPr/>
        </p:nvSpPr>
        <p:spPr>
          <a:xfrm>
            <a:off x="7213600" y="1498600"/>
            <a:ext cx="1384300" cy="1600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E3EFC84E-2EB0-2D25-12DD-F2985DE3C469}"/>
              </a:ext>
            </a:extLst>
          </p:cNvPr>
          <p:cNvSpPr/>
          <p:nvPr/>
        </p:nvSpPr>
        <p:spPr>
          <a:xfrm>
            <a:off x="7213600" y="1498600"/>
            <a:ext cx="13843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0653730F-B43B-CAC1-E81A-FC4FF81BECC7}"/>
              </a:ext>
            </a:extLst>
          </p:cNvPr>
          <p:cNvSpPr txBox="1"/>
          <p:nvPr/>
        </p:nvSpPr>
        <p:spPr>
          <a:xfrm>
            <a:off x="7340600" y="1612900"/>
            <a:ext cx="1130300" cy="215444"/>
          </a:xfrm>
          <a:prstGeom prst="rect">
            <a:avLst/>
          </a:prstGeom>
          <a:noFill/>
        </p:spPr>
        <p:txBody>
          <a:bodyPr vert="horz" wrap="square" lIns="0" tIns="0" rIns="0" bIns="0" rtlCol="0">
            <a:noAutofit/>
          </a:bodyPr>
          <a:lstStyle/>
          <a:p>
            <a:r>
              <a:rPr lang="fr-FR" sz="870" b="1">
                <a:solidFill>
                  <a:srgbClr val="976F1D"/>
                </a:solidFill>
                <a:latin typeface="Arial" panose="020B0604020202020204" pitchFamily="34" charset="0"/>
              </a:rPr>
              <a:t>OUTPUT</a:t>
            </a:r>
          </a:p>
        </p:txBody>
      </p:sp>
      <p:sp>
        <p:nvSpPr>
          <p:cNvPr id="29" name="ZoneTexte 28">
            <a:extLst>
              <a:ext uri="{FF2B5EF4-FFF2-40B4-BE49-F238E27FC236}">
                <a16:creationId xmlns:a16="http://schemas.microsoft.com/office/drawing/2014/main" id="{ED3F4AE9-AFAF-485A-7075-3BE39445DB70}"/>
              </a:ext>
            </a:extLst>
          </p:cNvPr>
          <p:cNvSpPr txBox="1"/>
          <p:nvPr/>
        </p:nvSpPr>
        <p:spPr>
          <a:xfrm>
            <a:off x="7340600" y="1866900"/>
            <a:ext cx="1130300" cy="215444"/>
          </a:xfrm>
          <a:prstGeom prst="rect">
            <a:avLst/>
          </a:prstGeom>
          <a:noFill/>
        </p:spPr>
        <p:txBody>
          <a:bodyPr vert="horz" wrap="square" lIns="0" tIns="0" rIns="0" bIns="0" rtlCol="0">
            <a:noAutofit/>
          </a:bodyPr>
          <a:lstStyle/>
          <a:p>
            <a:r>
              <a:rPr lang="en-US" sz="740">
                <a:solidFill>
                  <a:srgbClr val="1C1F25"/>
                </a:solidFill>
                <a:latin typeface="Arial" panose="020B0604020202020204" pitchFamily="34" charset="0"/>
              </a:rPr>
              <a:t>Assemble segments in source order
Informal to formal</a:t>
            </a:r>
            <a:endParaRPr lang="fr-FR" sz="740">
              <a:solidFill>
                <a:srgbClr val="1C1F25"/>
              </a:solidFill>
              <a:latin typeface="Arial" panose="020B0604020202020204" pitchFamily="34" charset="0"/>
            </a:endParaRPr>
          </a:p>
        </p:txBody>
      </p:sp>
      <p:sp>
        <p:nvSpPr>
          <p:cNvPr id="30" name="Rectangle 29">
            <a:extLst>
              <a:ext uri="{FF2B5EF4-FFF2-40B4-BE49-F238E27FC236}">
                <a16:creationId xmlns:a16="http://schemas.microsoft.com/office/drawing/2014/main" id="{F75870CF-740E-86FE-08C9-5610B3D7B18A}"/>
              </a:ext>
            </a:extLst>
          </p:cNvPr>
          <p:cNvSpPr/>
          <p:nvPr/>
        </p:nvSpPr>
        <p:spPr>
          <a:xfrm>
            <a:off x="1066800" y="3454400"/>
            <a:ext cx="7010400" cy="10414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a:extLst>
              <a:ext uri="{FF2B5EF4-FFF2-40B4-BE49-F238E27FC236}">
                <a16:creationId xmlns:a16="http://schemas.microsoft.com/office/drawing/2014/main" id="{9A84CA43-937C-E48A-1514-0582E11E846B}"/>
              </a:ext>
            </a:extLst>
          </p:cNvPr>
          <p:cNvSpPr/>
          <p:nvPr/>
        </p:nvSpPr>
        <p:spPr>
          <a:xfrm>
            <a:off x="1066800" y="3454400"/>
            <a:ext cx="70104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E3A30264-A5B7-EB17-049D-C3B38F3DD214}"/>
              </a:ext>
            </a:extLst>
          </p:cNvPr>
          <p:cNvSpPr txBox="1"/>
          <p:nvPr/>
        </p:nvSpPr>
        <p:spPr>
          <a:xfrm>
            <a:off x="1193800" y="3568700"/>
            <a:ext cx="6756400" cy="215444"/>
          </a:xfrm>
          <a:prstGeom prst="rect">
            <a:avLst/>
          </a:prstGeom>
          <a:noFill/>
        </p:spPr>
        <p:txBody>
          <a:bodyPr vert="horz" wrap="square" lIns="0" tIns="0" rIns="0" bIns="0" rtlCol="0">
            <a:noAutofit/>
          </a:bodyPr>
          <a:lstStyle/>
          <a:p>
            <a:r>
              <a:rPr lang="fr-FR" sz="930" b="1">
                <a:solidFill>
                  <a:srgbClr val="0E2F46"/>
                </a:solidFill>
                <a:latin typeface="Arial" panose="020B0604020202020204" pitchFamily="34" charset="0"/>
              </a:rPr>
              <a:t>CONTROLLED TRAINING</a:t>
            </a:r>
          </a:p>
        </p:txBody>
      </p:sp>
      <p:sp>
        <p:nvSpPr>
          <p:cNvPr id="33" name="ZoneTexte 32">
            <a:extLst>
              <a:ext uri="{FF2B5EF4-FFF2-40B4-BE49-F238E27FC236}">
                <a16:creationId xmlns:a16="http://schemas.microsoft.com/office/drawing/2014/main" id="{BEA7F83F-FEDE-7A9E-C097-B13A9BBAF21A}"/>
              </a:ext>
            </a:extLst>
          </p:cNvPr>
          <p:cNvSpPr txBox="1"/>
          <p:nvPr/>
        </p:nvSpPr>
        <p:spPr>
          <a:xfrm>
            <a:off x="1193800" y="3822700"/>
            <a:ext cx="6756400" cy="215444"/>
          </a:xfrm>
          <a:prstGeom prst="rect">
            <a:avLst/>
          </a:prstGeom>
          <a:noFill/>
        </p:spPr>
        <p:txBody>
          <a:bodyPr vert="horz" wrap="square" lIns="0" tIns="0" rIns="0" bIns="0" rtlCol="0">
            <a:noAutofit/>
          </a:bodyPr>
          <a:lstStyle/>
          <a:p>
            <a:r>
              <a:rPr lang="en-US" sz="820">
                <a:solidFill>
                  <a:srgbClr val="1C1F25"/>
                </a:solidFill>
                <a:latin typeface="Arial" panose="020B0604020202020204" pitchFamily="34" charset="0"/>
              </a:rPr>
              <a:t>2.15M parameters | same vocabulary, initialization, architecture and seed
Gold-only: 20 epochs on 142 pairs
Each method: 20 synthetic epochs on 3,330 pairs -&gt; optimizer reset -&gt; 20 Gold epochs
Gold-dev CER selects among scheduled checkpoints; test stays sealed</a:t>
            </a:r>
            <a:endParaRPr lang="fr-FR" sz="820">
              <a:solidFill>
                <a:srgbClr val="1C1F25"/>
              </a:solidFill>
              <a:latin typeface="Arial" panose="020B0604020202020204" pitchFamily="34" charset="0"/>
            </a:endParaRPr>
          </a:p>
        </p:txBody>
      </p:sp>
      <p:sp>
        <p:nvSpPr>
          <p:cNvPr id="34" name="Rectangle 33">
            <a:extLst>
              <a:ext uri="{FF2B5EF4-FFF2-40B4-BE49-F238E27FC236}">
                <a16:creationId xmlns:a16="http://schemas.microsoft.com/office/drawing/2014/main" id="{7B9EAEF5-F915-1F84-9AEB-D7FDE3B17B03}"/>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 coins arrondis 34">
            <a:extLst>
              <a:ext uri="{FF2B5EF4-FFF2-40B4-BE49-F238E27FC236}">
                <a16:creationId xmlns:a16="http://schemas.microsoft.com/office/drawing/2014/main" id="{9E2D5501-B581-17D5-78FA-A59EC4671AA4}"/>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58604606-F135-2746-FED5-7CB7CFCF5E91}"/>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37" name="ZoneTexte 36">
            <a:extLst>
              <a:ext uri="{FF2B5EF4-FFF2-40B4-BE49-F238E27FC236}">
                <a16:creationId xmlns:a16="http://schemas.microsoft.com/office/drawing/2014/main" id="{DB899E38-4CFC-66D5-12DA-1C1CE4674916}"/>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38" name="ZoneTexte 37">
            <a:extLst>
              <a:ext uri="{FF2B5EF4-FFF2-40B4-BE49-F238E27FC236}">
                <a16:creationId xmlns:a16="http://schemas.microsoft.com/office/drawing/2014/main" id="{E020DA36-C6C8-77FE-58EB-DEA3F39C3CDE}"/>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Evaluator architecture</a:t>
            </a:r>
          </a:p>
        </p:txBody>
      </p:sp>
      <p:sp>
        <p:nvSpPr>
          <p:cNvPr id="39" name="ZoneTexte 38">
            <a:extLst>
              <a:ext uri="{FF2B5EF4-FFF2-40B4-BE49-F238E27FC236}">
                <a16:creationId xmlns:a16="http://schemas.microsoft.com/office/drawing/2014/main" id="{F39B6E44-738C-8606-A542-C8EA03CCD7D3}"/>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28 / 36</a:t>
            </a:r>
          </a:p>
        </p:txBody>
      </p:sp>
      <p:pic>
        <p:nvPicPr>
          <p:cNvPr id="41" name="Image 40">
            <a:extLst>
              <a:ext uri="{FF2B5EF4-FFF2-40B4-BE49-F238E27FC236}">
                <a16:creationId xmlns:a16="http://schemas.microsoft.com/office/drawing/2014/main" id="{45F0EBEF-3E51-DB24-90F3-6C9F0829687A}"/>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756852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7C0720-CB3D-F939-18E9-066A5BECB5AE}"/>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FE57EB49-9602-E160-D78A-FF22B711942B}"/>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11" name="Rectangle 10">
            <a:extLst>
              <a:ext uri="{FF2B5EF4-FFF2-40B4-BE49-F238E27FC236}">
                <a16:creationId xmlns:a16="http://schemas.microsoft.com/office/drawing/2014/main" id="{22777E78-BA81-8D72-A791-F7775DA49226}"/>
              </a:ext>
            </a:extLst>
          </p:cNvPr>
          <p:cNvSpPr/>
          <p:nvPr/>
        </p:nvSpPr>
        <p:spPr>
          <a:xfrm>
            <a:off x="546100" y="1320800"/>
            <a:ext cx="3784600" cy="2425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1280EBA-CA18-B303-A5DD-E414E0D4134D}"/>
              </a:ext>
            </a:extLst>
          </p:cNvPr>
          <p:cNvSpPr/>
          <p:nvPr/>
        </p:nvSpPr>
        <p:spPr>
          <a:xfrm>
            <a:off x="546100" y="1320800"/>
            <a:ext cx="3784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DC8BC9C-FEA1-F1D8-94DD-B25ED563F5F8}"/>
              </a:ext>
            </a:extLst>
          </p:cNvPr>
          <p:cNvSpPr txBox="1"/>
          <p:nvPr/>
        </p:nvSpPr>
        <p:spPr>
          <a:xfrm>
            <a:off x="673100" y="1435100"/>
            <a:ext cx="3530600" cy="215444"/>
          </a:xfrm>
          <a:prstGeom prst="rect">
            <a:avLst/>
          </a:prstGeom>
          <a:noFill/>
        </p:spPr>
        <p:txBody>
          <a:bodyPr vert="horz" wrap="square" lIns="0" tIns="0" rIns="0" bIns="0" rtlCol="0">
            <a:noAutofit/>
          </a:bodyPr>
          <a:lstStyle/>
          <a:p>
            <a:r>
              <a:rPr lang="fr-FR" sz="950" b="1">
                <a:solidFill>
                  <a:srgbClr val="0E2F46"/>
                </a:solidFill>
                <a:latin typeface="Arial" panose="020B0604020202020204" pitchFamily="34" charset="0"/>
              </a:rPr>
              <a:t>WHY THESE METRICS?</a:t>
            </a:r>
          </a:p>
        </p:txBody>
      </p:sp>
      <p:sp>
        <p:nvSpPr>
          <p:cNvPr id="14" name="ZoneTexte 13">
            <a:extLst>
              <a:ext uri="{FF2B5EF4-FFF2-40B4-BE49-F238E27FC236}">
                <a16:creationId xmlns:a16="http://schemas.microsoft.com/office/drawing/2014/main" id="{F58C5FA2-AFE8-BE09-D5DC-D4213C357B1A}"/>
              </a:ext>
            </a:extLst>
          </p:cNvPr>
          <p:cNvSpPr txBox="1"/>
          <p:nvPr/>
        </p:nvSpPr>
        <p:spPr>
          <a:xfrm>
            <a:off x="673100" y="1689100"/>
            <a:ext cx="3530600" cy="215444"/>
          </a:xfrm>
          <a:prstGeom prst="rect">
            <a:avLst/>
          </a:prstGeom>
          <a:noFill/>
        </p:spPr>
        <p:txBody>
          <a:bodyPr vert="horz" wrap="square" lIns="0" tIns="0" rIns="0" bIns="0" rtlCol="0">
            <a:noAutofit/>
          </a:bodyPr>
          <a:lstStyle/>
          <a:p>
            <a:r>
              <a:rPr lang="en-US" sz="810">
                <a:solidFill>
                  <a:srgbClr val="1C1F25"/>
                </a:solidFill>
                <a:latin typeface="Arial" panose="020B0604020202020204" pitchFamily="34" charset="0"/>
              </a:rPr>
              <a:t>CER = character edit distance / reference characters
WER = token edit distance / reference tokens
chrF = character n-gram F-score (1-6, beta=2)
Exact = complete sentence match
Plain accuracy would be dominated by KEEP and mishandle splits/merges.</a:t>
            </a:r>
            <a:endParaRPr lang="fr-FR" sz="810">
              <a:solidFill>
                <a:srgbClr val="1C1F25"/>
              </a:solidFill>
              <a:latin typeface="Arial" panose="020B0604020202020204" pitchFamily="34" charset="0"/>
            </a:endParaRPr>
          </a:p>
        </p:txBody>
      </p:sp>
      <p:sp>
        <p:nvSpPr>
          <p:cNvPr id="15" name="Rectangle 14">
            <a:extLst>
              <a:ext uri="{FF2B5EF4-FFF2-40B4-BE49-F238E27FC236}">
                <a16:creationId xmlns:a16="http://schemas.microsoft.com/office/drawing/2014/main" id="{7E8DC048-C19F-CF04-6C16-44F225A8C4AB}"/>
              </a:ext>
            </a:extLst>
          </p:cNvPr>
          <p:cNvSpPr/>
          <p:nvPr/>
        </p:nvSpPr>
        <p:spPr>
          <a:xfrm>
            <a:off x="4813300" y="1320800"/>
            <a:ext cx="3784600" cy="24257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0F7629B6-A057-7F77-8087-5C845CA884CD}"/>
              </a:ext>
            </a:extLst>
          </p:cNvPr>
          <p:cNvSpPr/>
          <p:nvPr/>
        </p:nvSpPr>
        <p:spPr>
          <a:xfrm>
            <a:off x="4813300" y="1320800"/>
            <a:ext cx="3784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1EF8DBFC-D5FD-18C2-E545-A90B442EAEAE}"/>
              </a:ext>
            </a:extLst>
          </p:cNvPr>
          <p:cNvSpPr txBox="1"/>
          <p:nvPr/>
        </p:nvSpPr>
        <p:spPr>
          <a:xfrm>
            <a:off x="4940300" y="1435100"/>
            <a:ext cx="3530600" cy="215444"/>
          </a:xfrm>
          <a:prstGeom prst="rect">
            <a:avLst/>
          </a:prstGeom>
          <a:noFill/>
        </p:spPr>
        <p:txBody>
          <a:bodyPr vert="horz" wrap="square" lIns="0" tIns="0" rIns="0" bIns="0" rtlCol="0">
            <a:noAutofit/>
          </a:bodyPr>
          <a:lstStyle/>
          <a:p>
            <a:r>
              <a:rPr lang="fr-FR" sz="950" b="1">
                <a:solidFill>
                  <a:srgbClr val="976F1D"/>
                </a:solidFill>
                <a:latin typeface="Arial" panose="020B0604020202020204" pitchFamily="34" charset="0"/>
              </a:rPr>
              <a:t>STRICT CORRECTION SCORE</a:t>
            </a:r>
          </a:p>
        </p:txBody>
      </p:sp>
      <p:sp>
        <p:nvSpPr>
          <p:cNvPr id="18" name="ZoneTexte 17">
            <a:extLst>
              <a:ext uri="{FF2B5EF4-FFF2-40B4-BE49-F238E27FC236}">
                <a16:creationId xmlns:a16="http://schemas.microsoft.com/office/drawing/2014/main" id="{9DB6B9AD-7395-85A7-4DA6-B2AADF62143C}"/>
              </a:ext>
            </a:extLst>
          </p:cNvPr>
          <p:cNvSpPr txBox="1"/>
          <p:nvPr/>
        </p:nvSpPr>
        <p:spPr>
          <a:xfrm>
            <a:off x="4940300" y="1689100"/>
            <a:ext cx="3530600" cy="215444"/>
          </a:xfrm>
          <a:prstGeom prst="rect">
            <a:avLst/>
          </a:prstGeom>
          <a:noFill/>
        </p:spPr>
        <p:txBody>
          <a:bodyPr vert="horz" wrap="square" lIns="0" tIns="0" rIns="0" bIns="0" rtlCol="0">
            <a:noAutofit/>
          </a:bodyPr>
          <a:lstStyle/>
          <a:p>
            <a:r>
              <a:rPr lang="fr-FR" sz="810">
                <a:solidFill>
                  <a:srgbClr val="1C1F25"/>
                </a:solidFill>
                <a:latin typeface="Arial" panose="020B0604020202020204" pitchFamily="34" charset="0"/>
              </a:rPr>
              <a:t>TP only when source span + replacement exactly match Gold.
Precision = TP / (TP + FP)
Recall = TP / (TP + FN)
Overcorrection = FP / (TP + FP)
Synthetic systems: 96.5-100% strict overcorrection.</a:t>
            </a:r>
          </a:p>
        </p:txBody>
      </p:sp>
      <p:sp>
        <p:nvSpPr>
          <p:cNvPr id="19" name="Rectangle 18">
            <a:extLst>
              <a:ext uri="{FF2B5EF4-FFF2-40B4-BE49-F238E27FC236}">
                <a16:creationId xmlns:a16="http://schemas.microsoft.com/office/drawing/2014/main" id="{8C2EFB94-B008-E0EC-3542-20EFD82DB50E}"/>
              </a:ext>
            </a:extLst>
          </p:cNvPr>
          <p:cNvSpPr/>
          <p:nvPr/>
        </p:nvSpPr>
        <p:spPr>
          <a:xfrm>
            <a:off x="546100" y="3975100"/>
            <a:ext cx="8051800" cy="571500"/>
          </a:xfrm>
          <a:prstGeom prst="rect">
            <a:avLst/>
          </a:prstGeom>
          <a:solidFill>
            <a:srgbClr val="F6F7FA"/>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B2B39029-D483-DD9A-1313-85D5B2FAAC2C}"/>
              </a:ext>
            </a:extLst>
          </p:cNvPr>
          <p:cNvSpPr txBox="1"/>
          <p:nvPr/>
        </p:nvSpPr>
        <p:spPr>
          <a:xfrm>
            <a:off x="698500" y="4076700"/>
            <a:ext cx="2159000" cy="215444"/>
          </a:xfrm>
          <a:prstGeom prst="rect">
            <a:avLst/>
          </a:prstGeom>
          <a:noFill/>
        </p:spPr>
        <p:txBody>
          <a:bodyPr vert="horz" wrap="square" lIns="0" tIns="0" rIns="0" bIns="0" rtlCol="0">
            <a:noAutofit/>
          </a:bodyPr>
          <a:lstStyle/>
          <a:p>
            <a:r>
              <a:rPr lang="fr-FR" sz="850" b="1">
                <a:solidFill>
                  <a:srgbClr val="0E2F46"/>
                </a:solidFill>
                <a:latin typeface="Arial" panose="020B0604020202020204" pitchFamily="34" charset="0"/>
              </a:rPr>
              <a:t>WHY GOLD-ONLY = IDENTITY</a:t>
            </a:r>
          </a:p>
        </p:txBody>
      </p:sp>
      <p:sp>
        <p:nvSpPr>
          <p:cNvPr id="21" name="ZoneTexte 20">
            <a:extLst>
              <a:ext uri="{FF2B5EF4-FFF2-40B4-BE49-F238E27FC236}">
                <a16:creationId xmlns:a16="http://schemas.microsoft.com/office/drawing/2014/main" id="{B8B78060-D33B-A93D-4D82-4892F155EE1B}"/>
              </a:ext>
            </a:extLst>
          </p:cNvPr>
          <p:cNvSpPr txBox="1"/>
          <p:nvPr/>
        </p:nvSpPr>
        <p:spPr>
          <a:xfrm>
            <a:off x="2870200" y="4038600"/>
            <a:ext cx="5562600" cy="215444"/>
          </a:xfrm>
          <a:prstGeom prst="rect">
            <a:avLst/>
          </a:prstGeom>
          <a:noFill/>
        </p:spPr>
        <p:txBody>
          <a:bodyPr vert="horz" wrap="square" lIns="0" tIns="0" rIns="0" bIns="0" rtlCol="0">
            <a:noAutofit/>
          </a:bodyPr>
          <a:lstStyle/>
          <a:p>
            <a:r>
              <a:rPr lang="en-US" sz="810">
                <a:solidFill>
                  <a:srgbClr val="1C1F25"/>
                </a:solidFill>
                <a:latin typeface="Arial" panose="020B0604020202020204" pitchFamily="34" charset="0"/>
              </a:rPr>
              <a:t>It was trained for 20 epochs; the selected epoch-5 checkpoint copied all 29 test inputs. With 142 pairs and 81.1% KEEP supervision, identity was its only generalizable behaviour.</a:t>
            </a:r>
            <a:endParaRPr lang="fr-FR" sz="810">
              <a:solidFill>
                <a:srgbClr val="1C1F25"/>
              </a:solidFill>
              <a:latin typeface="Arial" panose="020B0604020202020204" pitchFamily="34" charset="0"/>
            </a:endParaRPr>
          </a:p>
        </p:txBody>
      </p:sp>
      <p:sp>
        <p:nvSpPr>
          <p:cNvPr id="22" name="Rectangle 21">
            <a:extLst>
              <a:ext uri="{FF2B5EF4-FFF2-40B4-BE49-F238E27FC236}">
                <a16:creationId xmlns:a16="http://schemas.microsoft.com/office/drawing/2014/main" id="{AB2109B6-E9C4-62BC-1E49-F2A332C62BDD}"/>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508916E1-96C6-F94B-3D4E-BDD109A8BD88}"/>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578226DB-EF4C-E8C6-96DB-1637E0F0A9EA}"/>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0CEB4034-A787-A386-D92D-EF340E8308EC}"/>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Metrics, the Gold-only control, and overcorrection</a:t>
            </a:r>
            <a:endParaRPr lang="fr-FR" sz="1900" b="1">
              <a:solidFill>
                <a:srgbClr val="57658D"/>
              </a:solidFill>
              <a:latin typeface="Arial" panose="020B0604020202020204" pitchFamily="34" charset="0"/>
            </a:endParaRPr>
          </a:p>
        </p:txBody>
      </p:sp>
      <p:sp>
        <p:nvSpPr>
          <p:cNvPr id="25" name="ZoneTexte 24">
            <a:extLst>
              <a:ext uri="{FF2B5EF4-FFF2-40B4-BE49-F238E27FC236}">
                <a16:creationId xmlns:a16="http://schemas.microsoft.com/office/drawing/2014/main" id="{F6E73FF4-14FF-FDF5-A932-145AE6977337}"/>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6" name="ZoneTexte 25">
            <a:extLst>
              <a:ext uri="{FF2B5EF4-FFF2-40B4-BE49-F238E27FC236}">
                <a16:creationId xmlns:a16="http://schemas.microsoft.com/office/drawing/2014/main" id="{E16BE298-8192-6332-427C-0AC0E4F030E6}"/>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Evaluation detail</a:t>
            </a:r>
          </a:p>
        </p:txBody>
      </p:sp>
      <p:sp>
        <p:nvSpPr>
          <p:cNvPr id="27" name="ZoneTexte 26">
            <a:extLst>
              <a:ext uri="{FF2B5EF4-FFF2-40B4-BE49-F238E27FC236}">
                <a16:creationId xmlns:a16="http://schemas.microsoft.com/office/drawing/2014/main" id="{6D7ACBCA-3BC5-FE92-1E1E-9D818DB9A3C8}"/>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29 / 36</a:t>
            </a:r>
          </a:p>
        </p:txBody>
      </p:sp>
      <p:pic>
        <p:nvPicPr>
          <p:cNvPr id="29" name="Image 28">
            <a:extLst>
              <a:ext uri="{FF2B5EF4-FFF2-40B4-BE49-F238E27FC236}">
                <a16:creationId xmlns:a16="http://schemas.microsoft.com/office/drawing/2014/main" id="{5010876E-E134-87BC-3F0C-413F941B3BDB}"/>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142332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6E525-BBC9-E77F-82B5-4085A9967B89}"/>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C345E7C5-A6B7-2F2D-F126-805579B0E004}"/>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3159D926-9A7D-DBE0-95A7-1B12B73AFA6B}"/>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What was tried - and what should come next</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9365E9C8-19CD-10CC-674A-86E863AF3A1C}"/>
              </a:ext>
            </a:extLst>
          </p:cNvPr>
          <p:cNvSpPr/>
          <p:nvPr/>
        </p:nvSpPr>
        <p:spPr>
          <a:xfrm>
            <a:off x="546100" y="1320800"/>
            <a:ext cx="3784600" cy="27432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0B17BF89-4126-05CF-C2E4-9781237ED4E5}"/>
              </a:ext>
            </a:extLst>
          </p:cNvPr>
          <p:cNvSpPr/>
          <p:nvPr/>
        </p:nvSpPr>
        <p:spPr>
          <a:xfrm>
            <a:off x="546100" y="1320800"/>
            <a:ext cx="37846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C39ACCD7-A37C-263B-8E2A-07F811995BC3}"/>
              </a:ext>
            </a:extLst>
          </p:cNvPr>
          <p:cNvSpPr txBox="1"/>
          <p:nvPr/>
        </p:nvSpPr>
        <p:spPr>
          <a:xfrm>
            <a:off x="673100" y="1435100"/>
            <a:ext cx="3530600" cy="215444"/>
          </a:xfrm>
          <a:prstGeom prst="rect">
            <a:avLst/>
          </a:prstGeom>
          <a:noFill/>
        </p:spPr>
        <p:txBody>
          <a:bodyPr vert="horz" wrap="square" lIns="0" tIns="0" rIns="0" bIns="0" rtlCol="0">
            <a:noAutofit/>
          </a:bodyPr>
          <a:lstStyle/>
          <a:p>
            <a:r>
              <a:rPr lang="fr-FR" sz="950" b="1">
                <a:solidFill>
                  <a:srgbClr val="0E2F46"/>
                </a:solidFill>
                <a:latin typeface="Arial" panose="020B0604020202020204" pitchFamily="34" charset="0"/>
              </a:rPr>
              <a:t>ALTERNATIVES EXPLORED</a:t>
            </a:r>
          </a:p>
        </p:txBody>
      </p:sp>
      <p:sp>
        <p:nvSpPr>
          <p:cNvPr id="14" name="ZoneTexte 13">
            <a:extLst>
              <a:ext uri="{FF2B5EF4-FFF2-40B4-BE49-F238E27FC236}">
                <a16:creationId xmlns:a16="http://schemas.microsoft.com/office/drawing/2014/main" id="{BF7A381E-3E64-5320-883D-E4A7D19F18A2}"/>
              </a:ext>
            </a:extLst>
          </p:cNvPr>
          <p:cNvSpPr txBox="1"/>
          <p:nvPr/>
        </p:nvSpPr>
        <p:spPr>
          <a:xfrm>
            <a:off x="673100" y="1689100"/>
            <a:ext cx="3530600" cy="215444"/>
          </a:xfrm>
          <a:prstGeom prst="rect">
            <a:avLst/>
          </a:prstGeom>
          <a:noFill/>
        </p:spPr>
        <p:txBody>
          <a:bodyPr vert="horz" wrap="square" lIns="0" tIns="0" rIns="0" bIns="0" rtlCol="0">
            <a:noAutofit/>
          </a:bodyPr>
          <a:lstStyle/>
          <a:p>
            <a:r>
              <a:rPr lang="fr-FR" sz="810">
                <a:solidFill>
                  <a:srgbClr val="1C1F25"/>
                </a:solidFill>
                <a:latin typeface="Arial" panose="020B0604020202020204" pitchFamily="34" charset="0"/>
              </a:rPr>
              <a:t>mT5-small full fine-tuning: too slow locally
LoRA: fewer trainable parameters, but full suite still costly/unstable
mBART: considered multilingual alternative
NLLB: translation-oriented
Compact autoregressive Transformer: repetition and error accumulation
Copy-aware pointer: over-copying
M5: insufficient coverage</a:t>
            </a:r>
          </a:p>
        </p:txBody>
      </p:sp>
      <p:sp>
        <p:nvSpPr>
          <p:cNvPr id="15" name="Rectangle 14">
            <a:extLst>
              <a:ext uri="{FF2B5EF4-FFF2-40B4-BE49-F238E27FC236}">
                <a16:creationId xmlns:a16="http://schemas.microsoft.com/office/drawing/2014/main" id="{3F32E74C-1124-E78E-09B7-91B6354DC604}"/>
              </a:ext>
            </a:extLst>
          </p:cNvPr>
          <p:cNvSpPr/>
          <p:nvPr/>
        </p:nvSpPr>
        <p:spPr>
          <a:xfrm>
            <a:off x="4813300" y="1320800"/>
            <a:ext cx="3784600" cy="27432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545A5266-BC59-D8FC-56DA-613488A36497}"/>
              </a:ext>
            </a:extLst>
          </p:cNvPr>
          <p:cNvSpPr/>
          <p:nvPr/>
        </p:nvSpPr>
        <p:spPr>
          <a:xfrm>
            <a:off x="4813300" y="1320800"/>
            <a:ext cx="37846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87768F5F-2DDB-9C2B-62E4-D2511B0D5B33}"/>
              </a:ext>
            </a:extLst>
          </p:cNvPr>
          <p:cNvSpPr txBox="1"/>
          <p:nvPr/>
        </p:nvSpPr>
        <p:spPr>
          <a:xfrm>
            <a:off x="4940300" y="1435100"/>
            <a:ext cx="3530600" cy="215444"/>
          </a:xfrm>
          <a:prstGeom prst="rect">
            <a:avLst/>
          </a:prstGeom>
          <a:noFill/>
        </p:spPr>
        <p:txBody>
          <a:bodyPr vert="horz" wrap="square" lIns="0" tIns="0" rIns="0" bIns="0" rtlCol="0">
            <a:noAutofit/>
          </a:bodyPr>
          <a:lstStyle/>
          <a:p>
            <a:r>
              <a:rPr lang="fr-FR" sz="950" b="1">
                <a:solidFill>
                  <a:srgbClr val="976F1D"/>
                </a:solidFill>
                <a:latin typeface="Arial" panose="020B0604020202020204" pitchFamily="34" charset="0"/>
              </a:rPr>
              <a:t>PRIORITY NEXT STEPS</a:t>
            </a:r>
          </a:p>
        </p:txBody>
      </p:sp>
      <p:sp>
        <p:nvSpPr>
          <p:cNvPr id="18" name="ZoneTexte 17">
            <a:extLst>
              <a:ext uri="{FF2B5EF4-FFF2-40B4-BE49-F238E27FC236}">
                <a16:creationId xmlns:a16="http://schemas.microsoft.com/office/drawing/2014/main" id="{26143083-D316-1DB0-92BA-C210BF4A3076}"/>
              </a:ext>
            </a:extLst>
          </p:cNvPr>
          <p:cNvSpPr txBox="1"/>
          <p:nvPr/>
        </p:nvSpPr>
        <p:spPr>
          <a:xfrm>
            <a:off x="4940300" y="1689100"/>
            <a:ext cx="3530600" cy="215444"/>
          </a:xfrm>
          <a:prstGeom prst="rect">
            <a:avLst/>
          </a:prstGeom>
          <a:noFill/>
        </p:spPr>
        <p:txBody>
          <a:bodyPr vert="horz" wrap="square" lIns="0" tIns="0" rIns="0" bIns="0" rtlCol="0">
            <a:noAutofit/>
          </a:bodyPr>
          <a:lstStyle/>
          <a:p>
            <a:r>
              <a:rPr lang="fr-FR" sz="810">
                <a:solidFill>
                  <a:srgbClr val="1C1F25"/>
                </a:solidFill>
                <a:latin typeface="Arial" panose="020B0604020202020204" pitchFamily="34" charset="0"/>
              </a:rPr>
              <a:t>1 | Larger, more diverse, partly double-annotated Gold
2 | Balanced unchanged/light/heavy test strata
3 | Better calibrated generators using Gold train only
4 | Multiple seeds and a pretrained second evaluator
5 | Hybrid TNT + explicit boundary + word correction
6 | Retrieval, MT and LLM-query downstream tests</a:t>
            </a:r>
          </a:p>
        </p:txBody>
      </p:sp>
      <p:sp>
        <p:nvSpPr>
          <p:cNvPr id="19" name="ZoneTexte 18">
            <a:extLst>
              <a:ext uri="{FF2B5EF4-FFF2-40B4-BE49-F238E27FC236}">
                <a16:creationId xmlns:a16="http://schemas.microsoft.com/office/drawing/2014/main" id="{F88DE569-A227-F897-C10D-DC8644C1DCA7}"/>
              </a:ext>
            </a:extLst>
          </p:cNvPr>
          <p:cNvSpPr txBox="1"/>
          <p:nvPr/>
        </p:nvSpPr>
        <p:spPr>
          <a:xfrm>
            <a:off x="1066800" y="4330700"/>
            <a:ext cx="7010400" cy="215444"/>
          </a:xfrm>
          <a:prstGeom prst="rect">
            <a:avLst/>
          </a:prstGeom>
          <a:noFill/>
        </p:spPr>
        <p:txBody>
          <a:bodyPr vert="horz" wrap="square" lIns="0" tIns="0" rIns="0" bIns="0" rtlCol="0">
            <a:noAutofit/>
          </a:bodyPr>
          <a:lstStyle/>
          <a:p>
            <a:pPr algn="ctr"/>
            <a:r>
              <a:rPr lang="en-US" sz="940" b="1" i="1">
                <a:solidFill>
                  <a:srgbClr val="0E2F46"/>
                </a:solidFill>
                <a:latin typeface="Arial" panose="020B0604020202020204" pitchFamily="34" charset="0"/>
              </a:rPr>
              <a:t>First strengthen authentic evaluation; then test whether the gains survive stronger models and semantic tasks.</a:t>
            </a:r>
            <a:endParaRPr lang="fr-FR" sz="940" b="1" i="1">
              <a:solidFill>
                <a:srgbClr val="0E2F46"/>
              </a:solidFill>
              <a:latin typeface="Arial" panose="020B0604020202020204" pitchFamily="34" charset="0"/>
            </a:endParaRPr>
          </a:p>
        </p:txBody>
      </p:sp>
      <p:sp>
        <p:nvSpPr>
          <p:cNvPr id="20" name="Rectangle 19">
            <a:extLst>
              <a:ext uri="{FF2B5EF4-FFF2-40B4-BE49-F238E27FC236}">
                <a16:creationId xmlns:a16="http://schemas.microsoft.com/office/drawing/2014/main" id="{17D83D4D-AAB2-B7CB-AD7A-42CF0F0E1963}"/>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7A1C3428-FA41-2191-2B23-606DF04F6DE2}"/>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7BE3AFAC-984E-2A71-1861-388C93E9B438}"/>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3" name="ZoneTexte 22">
            <a:extLst>
              <a:ext uri="{FF2B5EF4-FFF2-40B4-BE49-F238E27FC236}">
                <a16:creationId xmlns:a16="http://schemas.microsoft.com/office/drawing/2014/main" id="{D731FAEA-B4A0-ACCD-E42E-3D265A92B29E}"/>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4" name="ZoneTexte 23">
            <a:extLst>
              <a:ext uri="{FF2B5EF4-FFF2-40B4-BE49-F238E27FC236}">
                <a16:creationId xmlns:a16="http://schemas.microsoft.com/office/drawing/2014/main" id="{7F53EF3D-8812-A00C-0BBA-B76078F0CB04}"/>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Limits and perspectives</a:t>
            </a:r>
          </a:p>
        </p:txBody>
      </p:sp>
      <p:sp>
        <p:nvSpPr>
          <p:cNvPr id="25" name="ZoneTexte 24">
            <a:extLst>
              <a:ext uri="{FF2B5EF4-FFF2-40B4-BE49-F238E27FC236}">
                <a16:creationId xmlns:a16="http://schemas.microsoft.com/office/drawing/2014/main" id="{F2896D68-68FE-9875-EDCA-817FE8B02DBE}"/>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30 / 36</a:t>
            </a:r>
          </a:p>
        </p:txBody>
      </p:sp>
      <p:pic>
        <p:nvPicPr>
          <p:cNvPr id="27" name="Image 26">
            <a:extLst>
              <a:ext uri="{FF2B5EF4-FFF2-40B4-BE49-F238E27FC236}">
                <a16:creationId xmlns:a16="http://schemas.microsoft.com/office/drawing/2014/main" id="{2DD6CEB2-F04C-74D7-981B-6989B1F9989C}"/>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559934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AAF0EC-981E-7A78-40E3-4F50C97E8CF3}"/>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5BE4A25B-0B85-9112-E689-F57CF35320D0}"/>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11" name="Rectangle 10">
            <a:extLst>
              <a:ext uri="{FF2B5EF4-FFF2-40B4-BE49-F238E27FC236}">
                <a16:creationId xmlns:a16="http://schemas.microsoft.com/office/drawing/2014/main" id="{05AD60E5-B1A8-6950-ABA4-E67C7EDBCC01}"/>
              </a:ext>
            </a:extLst>
          </p:cNvPr>
          <p:cNvSpPr/>
          <p:nvPr/>
        </p:nvSpPr>
        <p:spPr>
          <a:xfrm>
            <a:off x="546100" y="1460500"/>
            <a:ext cx="1270000" cy="1917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D9D18E28-9A80-7E29-7841-5A6EC053B56F}"/>
              </a:ext>
            </a:extLst>
          </p:cNvPr>
          <p:cNvSpPr/>
          <p:nvPr/>
        </p:nvSpPr>
        <p:spPr>
          <a:xfrm>
            <a:off x="546100" y="1460500"/>
            <a:ext cx="1270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0C990EB8-D275-05FC-A78A-89B89E86FEE8}"/>
              </a:ext>
            </a:extLst>
          </p:cNvPr>
          <p:cNvSpPr txBox="1"/>
          <p:nvPr/>
        </p:nvSpPr>
        <p:spPr>
          <a:xfrm>
            <a:off x="673100" y="1574800"/>
            <a:ext cx="1016000" cy="215444"/>
          </a:xfrm>
          <a:prstGeom prst="rect">
            <a:avLst/>
          </a:prstGeom>
          <a:noFill/>
        </p:spPr>
        <p:txBody>
          <a:bodyPr vert="horz" wrap="square" lIns="0" tIns="0" rIns="0" bIns="0" rtlCol="0">
            <a:noAutofit/>
          </a:bodyPr>
          <a:lstStyle/>
          <a:p>
            <a:r>
              <a:rPr lang="fr-FR" sz="850" b="1">
                <a:solidFill>
                  <a:srgbClr val="0E2F46"/>
                </a:solidFill>
                <a:latin typeface="Arial" panose="020B0604020202020204" pitchFamily="34" charset="0"/>
              </a:rPr>
              <a:t>1 | INPUT</a:t>
            </a:r>
          </a:p>
        </p:txBody>
      </p:sp>
      <p:sp>
        <p:nvSpPr>
          <p:cNvPr id="14" name="ZoneTexte 13">
            <a:extLst>
              <a:ext uri="{FF2B5EF4-FFF2-40B4-BE49-F238E27FC236}">
                <a16:creationId xmlns:a16="http://schemas.microsoft.com/office/drawing/2014/main" id="{0F8F879E-9809-A4CB-BBA1-A8EB4B99233B}"/>
              </a:ext>
            </a:extLst>
          </p:cNvPr>
          <p:cNvSpPr txBox="1"/>
          <p:nvPr/>
        </p:nvSpPr>
        <p:spPr>
          <a:xfrm>
            <a:off x="673100" y="1828800"/>
            <a:ext cx="1016000" cy="215444"/>
          </a:xfrm>
          <a:prstGeom prst="rect">
            <a:avLst/>
          </a:prstGeom>
          <a:noFill/>
        </p:spPr>
        <p:txBody>
          <a:bodyPr vert="horz" wrap="square" lIns="0" tIns="0" rIns="0" bIns="0" rtlCol="0">
            <a:noAutofit/>
          </a:bodyPr>
          <a:lstStyle/>
          <a:p>
            <a:r>
              <a:rPr lang="fr-FR" sz="760">
                <a:solidFill>
                  <a:srgbClr val="1C1F25"/>
                </a:solidFill>
                <a:latin typeface="Arial" panose="020B0604020202020204" pitchFamily="34" charset="0"/>
              </a:rPr>
              <a:t>Informal word
def
[BOS] [d] [e] [f] [EOS]</a:t>
            </a:r>
          </a:p>
        </p:txBody>
      </p:sp>
      <p:cxnSp>
        <p:nvCxnSpPr>
          <p:cNvPr id="15" name="Connecteur droit 14">
            <a:extLst>
              <a:ext uri="{FF2B5EF4-FFF2-40B4-BE49-F238E27FC236}">
                <a16:creationId xmlns:a16="http://schemas.microsoft.com/office/drawing/2014/main" id="{680115E6-CC04-AC74-C42D-D2CA5FD7B462}"/>
              </a:ext>
            </a:extLst>
          </p:cNvPr>
          <p:cNvCxnSpPr/>
          <p:nvPr/>
        </p:nvCxnSpPr>
        <p:spPr>
          <a:xfrm>
            <a:off x="1854200" y="2413000"/>
            <a:ext cx="1016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88A0D0A-CEAB-6B8D-B50A-93BD9416C770}"/>
              </a:ext>
            </a:extLst>
          </p:cNvPr>
          <p:cNvSpPr/>
          <p:nvPr/>
        </p:nvSpPr>
        <p:spPr>
          <a:xfrm>
            <a:off x="1993900" y="1460500"/>
            <a:ext cx="1524000" cy="1917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73630FF2-EC97-F385-C525-EB35A4ACC59A}"/>
              </a:ext>
            </a:extLst>
          </p:cNvPr>
          <p:cNvSpPr/>
          <p:nvPr/>
        </p:nvSpPr>
        <p:spPr>
          <a:xfrm>
            <a:off x="1993900" y="1460500"/>
            <a:ext cx="15240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B867E363-A6A5-BDAC-6EE3-24F4CDD07106}"/>
              </a:ext>
            </a:extLst>
          </p:cNvPr>
          <p:cNvSpPr txBox="1"/>
          <p:nvPr/>
        </p:nvSpPr>
        <p:spPr>
          <a:xfrm>
            <a:off x="2120900" y="1574800"/>
            <a:ext cx="1270000" cy="215444"/>
          </a:xfrm>
          <a:prstGeom prst="rect">
            <a:avLst/>
          </a:prstGeom>
          <a:noFill/>
        </p:spPr>
        <p:txBody>
          <a:bodyPr vert="horz" wrap="square" lIns="0" tIns="0" rIns="0" bIns="0" rtlCol="0">
            <a:noAutofit/>
          </a:bodyPr>
          <a:lstStyle/>
          <a:p>
            <a:r>
              <a:rPr lang="fr-FR" sz="850" b="1">
                <a:solidFill>
                  <a:srgbClr val="0E2F46"/>
                </a:solidFill>
                <a:latin typeface="Arial" panose="020B0604020202020204" pitchFamily="34" charset="0"/>
              </a:rPr>
              <a:t>2 | ENCODER</a:t>
            </a:r>
          </a:p>
        </p:txBody>
      </p:sp>
      <p:sp>
        <p:nvSpPr>
          <p:cNvPr id="19" name="ZoneTexte 18">
            <a:extLst>
              <a:ext uri="{FF2B5EF4-FFF2-40B4-BE49-F238E27FC236}">
                <a16:creationId xmlns:a16="http://schemas.microsoft.com/office/drawing/2014/main" id="{C13CF6C2-478F-AE7B-1F9C-8E53CA0750F5}"/>
              </a:ext>
            </a:extLst>
          </p:cNvPr>
          <p:cNvSpPr txBox="1"/>
          <p:nvPr/>
        </p:nvSpPr>
        <p:spPr>
          <a:xfrm>
            <a:off x="2120900" y="1828800"/>
            <a:ext cx="1270000" cy="215444"/>
          </a:xfrm>
          <a:prstGeom prst="rect">
            <a:avLst/>
          </a:prstGeom>
          <a:noFill/>
        </p:spPr>
        <p:txBody>
          <a:bodyPr vert="horz" wrap="square" lIns="0" tIns="0" rIns="0" bIns="0" rtlCol="0">
            <a:noAutofit/>
          </a:bodyPr>
          <a:lstStyle/>
          <a:p>
            <a:r>
              <a:rPr lang="en-US" sz="730">
                <a:solidFill>
                  <a:srgbClr val="1C1F25"/>
                </a:solidFill>
                <a:latin typeface="Arial" panose="020B0604020202020204" pitchFamily="34" charset="0"/>
              </a:rPr>
              <a:t>Character + position embeddings
3 bidirectional Transformer layers
Output: h_d, h_e, h_f</a:t>
            </a:r>
            <a:endParaRPr lang="fr-FR" sz="730">
              <a:solidFill>
                <a:srgbClr val="1C1F25"/>
              </a:solidFill>
              <a:latin typeface="Arial" panose="020B0604020202020204" pitchFamily="34" charset="0"/>
            </a:endParaRPr>
          </a:p>
        </p:txBody>
      </p:sp>
      <p:cxnSp>
        <p:nvCxnSpPr>
          <p:cNvPr id="20" name="Connecteur droit 19">
            <a:extLst>
              <a:ext uri="{FF2B5EF4-FFF2-40B4-BE49-F238E27FC236}">
                <a16:creationId xmlns:a16="http://schemas.microsoft.com/office/drawing/2014/main" id="{51F2E714-4E37-FCC8-6466-73940350ECB9}"/>
              </a:ext>
            </a:extLst>
          </p:cNvPr>
          <p:cNvCxnSpPr/>
          <p:nvPr/>
        </p:nvCxnSpPr>
        <p:spPr>
          <a:xfrm>
            <a:off x="3556000" y="2413000"/>
            <a:ext cx="1016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F0D7C92D-7A77-C70E-24CE-840C4AD7543B}"/>
              </a:ext>
            </a:extLst>
          </p:cNvPr>
          <p:cNvSpPr/>
          <p:nvPr/>
        </p:nvSpPr>
        <p:spPr>
          <a:xfrm>
            <a:off x="3695700" y="1460500"/>
            <a:ext cx="1524000" cy="19177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2B79B647-E7F2-774B-EDCD-00FDD631572A}"/>
              </a:ext>
            </a:extLst>
          </p:cNvPr>
          <p:cNvSpPr/>
          <p:nvPr/>
        </p:nvSpPr>
        <p:spPr>
          <a:xfrm>
            <a:off x="3695700" y="1460500"/>
            <a:ext cx="15240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C416E68A-3B8C-1053-E2BF-C4F29F28389E}"/>
              </a:ext>
            </a:extLst>
          </p:cNvPr>
          <p:cNvSpPr txBox="1"/>
          <p:nvPr/>
        </p:nvSpPr>
        <p:spPr>
          <a:xfrm>
            <a:off x="3822700" y="1574800"/>
            <a:ext cx="1270000" cy="215444"/>
          </a:xfrm>
          <a:prstGeom prst="rect">
            <a:avLst/>
          </a:prstGeom>
          <a:noFill/>
        </p:spPr>
        <p:txBody>
          <a:bodyPr vert="horz" wrap="square" lIns="0" tIns="0" rIns="0" bIns="0" rtlCol="0">
            <a:noAutofit/>
          </a:bodyPr>
          <a:lstStyle/>
          <a:p>
            <a:r>
              <a:rPr lang="fr-FR" sz="850" b="1">
                <a:solidFill>
                  <a:srgbClr val="976F1D"/>
                </a:solidFill>
                <a:latin typeface="Arial" panose="020B0604020202020204" pitchFamily="34" charset="0"/>
              </a:rPr>
              <a:t>3 | TWO HEADS</a:t>
            </a:r>
          </a:p>
        </p:txBody>
      </p:sp>
      <p:sp>
        <p:nvSpPr>
          <p:cNvPr id="24" name="ZoneTexte 23">
            <a:extLst>
              <a:ext uri="{FF2B5EF4-FFF2-40B4-BE49-F238E27FC236}">
                <a16:creationId xmlns:a16="http://schemas.microsoft.com/office/drawing/2014/main" id="{37AC2F46-B01C-8239-2373-8FD00E4C695C}"/>
              </a:ext>
            </a:extLst>
          </p:cNvPr>
          <p:cNvSpPr txBox="1"/>
          <p:nvPr/>
        </p:nvSpPr>
        <p:spPr>
          <a:xfrm>
            <a:off x="3822700" y="1828800"/>
            <a:ext cx="1270000" cy="215444"/>
          </a:xfrm>
          <a:prstGeom prst="rect">
            <a:avLst/>
          </a:prstGeom>
          <a:noFill/>
        </p:spPr>
        <p:txBody>
          <a:bodyPr vert="horz" wrap="square" lIns="0" tIns="0" rIns="0" bIns="0" rtlCol="0">
            <a:noAutofit/>
          </a:bodyPr>
          <a:lstStyle/>
          <a:p>
            <a:r>
              <a:rPr lang="en-US" sz="730">
                <a:solidFill>
                  <a:srgbClr val="1C1F25"/>
                </a:solidFill>
                <a:latin typeface="Arial" panose="020B0604020202020204" pitchFamily="34" charset="0"/>
              </a:rPr>
              <a:t>For every h_i:
Operation head
K / D / S / E
Segment head
up to 32 characters</a:t>
            </a:r>
            <a:endParaRPr lang="fr-FR" sz="730">
              <a:solidFill>
                <a:srgbClr val="1C1F25"/>
              </a:solidFill>
              <a:latin typeface="Arial" panose="020B0604020202020204" pitchFamily="34" charset="0"/>
            </a:endParaRPr>
          </a:p>
        </p:txBody>
      </p:sp>
      <p:cxnSp>
        <p:nvCxnSpPr>
          <p:cNvPr id="25" name="Connecteur droit 24">
            <a:extLst>
              <a:ext uri="{FF2B5EF4-FFF2-40B4-BE49-F238E27FC236}">
                <a16:creationId xmlns:a16="http://schemas.microsoft.com/office/drawing/2014/main" id="{58A68FBE-431F-03D3-CAD4-0A9C2765F8A4}"/>
              </a:ext>
            </a:extLst>
          </p:cNvPr>
          <p:cNvCxnSpPr/>
          <p:nvPr/>
        </p:nvCxnSpPr>
        <p:spPr>
          <a:xfrm>
            <a:off x="5257800" y="2413000"/>
            <a:ext cx="1016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D84D222-1E51-F396-EFFC-CACF0786FEB1}"/>
              </a:ext>
            </a:extLst>
          </p:cNvPr>
          <p:cNvSpPr/>
          <p:nvPr/>
        </p:nvSpPr>
        <p:spPr>
          <a:xfrm>
            <a:off x="5397500" y="1460500"/>
            <a:ext cx="1854200" cy="1917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D45B4270-DC65-4876-2482-03D46F5FE679}"/>
              </a:ext>
            </a:extLst>
          </p:cNvPr>
          <p:cNvSpPr/>
          <p:nvPr/>
        </p:nvSpPr>
        <p:spPr>
          <a:xfrm>
            <a:off x="5397500" y="1460500"/>
            <a:ext cx="1854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2CCB5B2B-EE6F-CE58-280D-30C7C30D4F21}"/>
              </a:ext>
            </a:extLst>
          </p:cNvPr>
          <p:cNvSpPr txBox="1"/>
          <p:nvPr/>
        </p:nvSpPr>
        <p:spPr>
          <a:xfrm>
            <a:off x="5524500" y="1574800"/>
            <a:ext cx="1600200" cy="215444"/>
          </a:xfrm>
          <a:prstGeom prst="rect">
            <a:avLst/>
          </a:prstGeom>
          <a:noFill/>
        </p:spPr>
        <p:txBody>
          <a:bodyPr vert="horz" wrap="square" lIns="0" tIns="0" rIns="0" bIns="0" rtlCol="0">
            <a:noAutofit/>
          </a:bodyPr>
          <a:lstStyle/>
          <a:p>
            <a:r>
              <a:rPr lang="fr-FR" sz="850" b="1">
                <a:solidFill>
                  <a:srgbClr val="976F1D"/>
                </a:solidFill>
                <a:latin typeface="Arial" panose="020B0604020202020204" pitchFamily="34" charset="0"/>
              </a:rPr>
              <a:t>4 | DECISIONS</a:t>
            </a:r>
          </a:p>
        </p:txBody>
      </p:sp>
      <p:sp>
        <p:nvSpPr>
          <p:cNvPr id="29" name="ZoneTexte 28">
            <a:extLst>
              <a:ext uri="{FF2B5EF4-FFF2-40B4-BE49-F238E27FC236}">
                <a16:creationId xmlns:a16="http://schemas.microsoft.com/office/drawing/2014/main" id="{C26ADFFA-5284-4BB5-F4FE-48FA22BDA158}"/>
              </a:ext>
            </a:extLst>
          </p:cNvPr>
          <p:cNvSpPr txBox="1"/>
          <p:nvPr/>
        </p:nvSpPr>
        <p:spPr>
          <a:xfrm>
            <a:off x="5524500" y="1828800"/>
            <a:ext cx="1600200" cy="215444"/>
          </a:xfrm>
          <a:prstGeom prst="rect">
            <a:avLst/>
          </a:prstGeom>
          <a:noFill/>
        </p:spPr>
        <p:txBody>
          <a:bodyPr vert="horz" wrap="square" lIns="0" tIns="0" rIns="0" bIns="0" rtlCol="0">
            <a:noAutofit/>
          </a:bodyPr>
          <a:lstStyle/>
          <a:p>
            <a:r>
              <a:rPr lang="en-US" sz="720">
                <a:solidFill>
                  <a:srgbClr val="1C1F25"/>
                </a:solidFill>
                <a:latin typeface="Arial" panose="020B0604020202020204" pitchFamily="34" charset="0"/>
              </a:rPr>
              <a:t>d  KEEP       -&gt; d
e  KEEP       -&gt; e
f  EXPAND  -&gt; ff
EOS KEEP       -&gt; nothing
All positions predicted in parallel</a:t>
            </a:r>
            <a:endParaRPr lang="fr-FR" sz="720">
              <a:solidFill>
                <a:srgbClr val="1C1F25"/>
              </a:solidFill>
              <a:latin typeface="Arial" panose="020B0604020202020204" pitchFamily="34" charset="0"/>
            </a:endParaRPr>
          </a:p>
        </p:txBody>
      </p:sp>
      <p:cxnSp>
        <p:nvCxnSpPr>
          <p:cNvPr id="30" name="Connecteur droit 29">
            <a:extLst>
              <a:ext uri="{FF2B5EF4-FFF2-40B4-BE49-F238E27FC236}">
                <a16:creationId xmlns:a16="http://schemas.microsoft.com/office/drawing/2014/main" id="{191A5EA6-C933-C496-2D20-AF32BBF5F1A4}"/>
              </a:ext>
            </a:extLst>
          </p:cNvPr>
          <p:cNvCxnSpPr/>
          <p:nvPr/>
        </p:nvCxnSpPr>
        <p:spPr>
          <a:xfrm>
            <a:off x="7289800" y="2413000"/>
            <a:ext cx="101600" cy="0"/>
          </a:xfrm>
          <a:prstGeom prst="line">
            <a:avLst/>
          </a:prstGeom>
          <a:ln w="16510">
            <a:solidFill>
              <a:srgbClr val="58658B"/>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0693F20-A092-085C-9B2B-3663EADFB9DA}"/>
              </a:ext>
            </a:extLst>
          </p:cNvPr>
          <p:cNvSpPr/>
          <p:nvPr/>
        </p:nvSpPr>
        <p:spPr>
          <a:xfrm>
            <a:off x="7429500" y="1460500"/>
            <a:ext cx="1168400" cy="19177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a:extLst>
              <a:ext uri="{FF2B5EF4-FFF2-40B4-BE49-F238E27FC236}">
                <a16:creationId xmlns:a16="http://schemas.microsoft.com/office/drawing/2014/main" id="{0C764370-0171-8289-8E78-86C0834840BB}"/>
              </a:ext>
            </a:extLst>
          </p:cNvPr>
          <p:cNvSpPr/>
          <p:nvPr/>
        </p:nvSpPr>
        <p:spPr>
          <a:xfrm>
            <a:off x="7429500" y="1460500"/>
            <a:ext cx="11684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D2E550B2-FC2F-1F6E-F9D7-BC83DA1F2132}"/>
              </a:ext>
            </a:extLst>
          </p:cNvPr>
          <p:cNvSpPr txBox="1"/>
          <p:nvPr/>
        </p:nvSpPr>
        <p:spPr>
          <a:xfrm>
            <a:off x="7556500" y="1574800"/>
            <a:ext cx="914400" cy="215444"/>
          </a:xfrm>
          <a:prstGeom prst="rect">
            <a:avLst/>
          </a:prstGeom>
          <a:noFill/>
        </p:spPr>
        <p:txBody>
          <a:bodyPr vert="horz" wrap="square" lIns="0" tIns="0" rIns="0" bIns="0" rtlCol="0">
            <a:noAutofit/>
          </a:bodyPr>
          <a:lstStyle/>
          <a:p>
            <a:r>
              <a:rPr lang="fr-FR" sz="820" b="1">
                <a:solidFill>
                  <a:srgbClr val="976F1D"/>
                </a:solidFill>
                <a:latin typeface="Arial" panose="020B0604020202020204" pitchFamily="34" charset="0"/>
              </a:rPr>
              <a:t>5 | OUTPUT</a:t>
            </a:r>
          </a:p>
        </p:txBody>
      </p:sp>
      <p:sp>
        <p:nvSpPr>
          <p:cNvPr id="34" name="ZoneTexte 33">
            <a:extLst>
              <a:ext uri="{FF2B5EF4-FFF2-40B4-BE49-F238E27FC236}">
                <a16:creationId xmlns:a16="http://schemas.microsoft.com/office/drawing/2014/main" id="{B5D52DF7-5EA4-DD6C-E0B5-4DA579820D90}"/>
              </a:ext>
            </a:extLst>
          </p:cNvPr>
          <p:cNvSpPr txBox="1"/>
          <p:nvPr/>
        </p:nvSpPr>
        <p:spPr>
          <a:xfrm>
            <a:off x="7556500" y="1828800"/>
            <a:ext cx="914400" cy="215444"/>
          </a:xfrm>
          <a:prstGeom prst="rect">
            <a:avLst/>
          </a:prstGeom>
          <a:noFill/>
        </p:spPr>
        <p:txBody>
          <a:bodyPr vert="horz" wrap="square" lIns="0" tIns="0" rIns="0" bIns="0" rtlCol="0">
            <a:noAutofit/>
          </a:bodyPr>
          <a:lstStyle/>
          <a:p>
            <a:r>
              <a:rPr lang="fr-FR" sz="760">
                <a:solidFill>
                  <a:srgbClr val="1C1F25"/>
                </a:solidFill>
                <a:latin typeface="Arial" panose="020B0604020202020204" pitchFamily="34" charset="0"/>
              </a:rPr>
              <a:t>d + e + ff
= deff</a:t>
            </a:r>
          </a:p>
        </p:txBody>
      </p:sp>
      <p:sp>
        <p:nvSpPr>
          <p:cNvPr id="35" name="Rectangle 34">
            <a:extLst>
              <a:ext uri="{FF2B5EF4-FFF2-40B4-BE49-F238E27FC236}">
                <a16:creationId xmlns:a16="http://schemas.microsoft.com/office/drawing/2014/main" id="{8CFCAD9C-C1AB-1C8F-6822-7EC00B243542}"/>
              </a:ext>
            </a:extLst>
          </p:cNvPr>
          <p:cNvSpPr/>
          <p:nvPr/>
        </p:nvSpPr>
        <p:spPr>
          <a:xfrm>
            <a:off x="1193800" y="3695700"/>
            <a:ext cx="6756400" cy="711200"/>
          </a:xfrm>
          <a:prstGeom prst="rect">
            <a:avLst/>
          </a:prstGeom>
          <a:solidFill>
            <a:srgbClr val="F6F7FA"/>
          </a:solidFill>
          <a:ln w="889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C3225F32-D13A-EEB5-C7E9-CB303272FDD9}"/>
              </a:ext>
            </a:extLst>
          </p:cNvPr>
          <p:cNvSpPr txBox="1"/>
          <p:nvPr/>
        </p:nvSpPr>
        <p:spPr>
          <a:xfrm>
            <a:off x="1371600" y="3848100"/>
            <a:ext cx="1536700" cy="215444"/>
          </a:xfrm>
          <a:prstGeom prst="rect">
            <a:avLst/>
          </a:prstGeom>
          <a:noFill/>
        </p:spPr>
        <p:txBody>
          <a:bodyPr vert="horz" wrap="square" lIns="0" tIns="0" rIns="0" bIns="0" rtlCol="0">
            <a:noAutofit/>
          </a:bodyPr>
          <a:lstStyle/>
          <a:p>
            <a:r>
              <a:rPr lang="fr-FR" sz="850" b="1">
                <a:solidFill>
                  <a:srgbClr val="0E2F46"/>
                </a:solidFill>
                <a:latin typeface="Arial" panose="020B0604020202020204" pitchFamily="34" charset="0"/>
              </a:rPr>
              <a:t>WHY NO DECODER?</a:t>
            </a:r>
          </a:p>
        </p:txBody>
      </p:sp>
      <p:sp>
        <p:nvSpPr>
          <p:cNvPr id="37" name="ZoneTexte 36">
            <a:extLst>
              <a:ext uri="{FF2B5EF4-FFF2-40B4-BE49-F238E27FC236}">
                <a16:creationId xmlns:a16="http://schemas.microsoft.com/office/drawing/2014/main" id="{354D1042-53CB-4C97-573B-31D04A363484}"/>
              </a:ext>
            </a:extLst>
          </p:cNvPr>
          <p:cNvSpPr txBox="1"/>
          <p:nvPr/>
        </p:nvSpPr>
        <p:spPr>
          <a:xfrm>
            <a:off x="2971800" y="3797300"/>
            <a:ext cx="4800600" cy="215444"/>
          </a:xfrm>
          <a:prstGeom prst="rect">
            <a:avLst/>
          </a:prstGeom>
          <a:noFill/>
        </p:spPr>
        <p:txBody>
          <a:bodyPr vert="horz" wrap="square" lIns="0" tIns="0" rIns="0" bIns="0" rtlCol="0">
            <a:noAutofit/>
          </a:bodyPr>
          <a:lstStyle/>
          <a:p>
            <a:r>
              <a:rPr lang="en-US" sz="820">
                <a:solidFill>
                  <a:srgbClr val="1C1F25"/>
                </a:solidFill>
                <a:latin typeface="Arial" panose="020B0604020202020204" pitchFamily="34" charset="0"/>
              </a:rPr>
              <a:t>TNT does not freely generate a sequence. It tags each source position with an edit and a local output segment, then concatenates those segments in source order.</a:t>
            </a:r>
            <a:endParaRPr lang="fr-FR" sz="820">
              <a:solidFill>
                <a:srgbClr val="1C1F25"/>
              </a:solidFill>
              <a:latin typeface="Arial" panose="020B0604020202020204" pitchFamily="34" charset="0"/>
            </a:endParaRPr>
          </a:p>
        </p:txBody>
      </p:sp>
      <p:sp>
        <p:nvSpPr>
          <p:cNvPr id="38" name="Rectangle 37">
            <a:extLst>
              <a:ext uri="{FF2B5EF4-FFF2-40B4-BE49-F238E27FC236}">
                <a16:creationId xmlns:a16="http://schemas.microsoft.com/office/drawing/2014/main" id="{BAEE7268-3D59-8094-8967-1176D4628910}"/>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 coins arrondis 38">
            <a:extLst>
              <a:ext uri="{FF2B5EF4-FFF2-40B4-BE49-F238E27FC236}">
                <a16:creationId xmlns:a16="http://schemas.microsoft.com/office/drawing/2014/main" id="{3AE3E1F4-9E3A-8E44-7323-7FD504EFCDEE}"/>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AE167F1C-4A03-279E-9868-BB1BBBB68ACE}"/>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CE993A43-F8FC-1C7D-A9A5-54866D6DFDC0}"/>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How encoder-only TNT predicts a normalized word</a:t>
            </a:r>
            <a:endParaRPr lang="fr-FR" sz="1900" b="1">
              <a:solidFill>
                <a:srgbClr val="57658D"/>
              </a:solidFill>
              <a:latin typeface="Arial" panose="020B0604020202020204" pitchFamily="34" charset="0"/>
            </a:endParaRPr>
          </a:p>
        </p:txBody>
      </p:sp>
      <p:sp>
        <p:nvSpPr>
          <p:cNvPr id="41" name="ZoneTexte 40">
            <a:extLst>
              <a:ext uri="{FF2B5EF4-FFF2-40B4-BE49-F238E27FC236}">
                <a16:creationId xmlns:a16="http://schemas.microsoft.com/office/drawing/2014/main" id="{31065767-7EE8-7489-690B-6A738CD15ADE}"/>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42" name="ZoneTexte 41">
            <a:extLst>
              <a:ext uri="{FF2B5EF4-FFF2-40B4-BE49-F238E27FC236}">
                <a16:creationId xmlns:a16="http://schemas.microsoft.com/office/drawing/2014/main" id="{C8032191-21F4-0054-14E3-DE97B28EBD10}"/>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TNT walkthrough</a:t>
            </a:r>
          </a:p>
        </p:txBody>
      </p:sp>
      <p:sp>
        <p:nvSpPr>
          <p:cNvPr id="43" name="ZoneTexte 42">
            <a:extLst>
              <a:ext uri="{FF2B5EF4-FFF2-40B4-BE49-F238E27FC236}">
                <a16:creationId xmlns:a16="http://schemas.microsoft.com/office/drawing/2014/main" id="{4AB1F2D9-2D38-1BF2-B1B5-F4D8F8A78E85}"/>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31 / 36</a:t>
            </a:r>
          </a:p>
        </p:txBody>
      </p:sp>
      <p:pic>
        <p:nvPicPr>
          <p:cNvPr id="45" name="Image 44">
            <a:extLst>
              <a:ext uri="{FF2B5EF4-FFF2-40B4-BE49-F238E27FC236}">
                <a16:creationId xmlns:a16="http://schemas.microsoft.com/office/drawing/2014/main" id="{7CC7B53B-6A00-1515-677C-8C3CD8B055A7}"/>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2656615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422A4B0-8ED8-4622-A454-AA0E1525817B}"/>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6F9BD747-331D-B07D-51F1-B7E69677E11E}"/>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29FD1CED-4625-90B6-1FA3-188ABFA5871A}"/>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1900" b="1">
                <a:solidFill>
                  <a:srgbClr val="57658D"/>
                </a:solidFill>
                <a:latin typeface="Arial" panose="020B0604020202020204" pitchFamily="34" charset="0"/>
              </a:rPr>
              <a:t>One alignment mechanism, several measurements</a:t>
            </a:r>
            <a:endParaRPr lang="fr-FR" sz="190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04950616-AFEF-5F4F-62E3-DF540A2DBCAD}"/>
              </a:ext>
            </a:extLst>
          </p:cNvPr>
          <p:cNvSpPr/>
          <p:nvPr/>
        </p:nvSpPr>
        <p:spPr>
          <a:xfrm>
            <a:off x="546100" y="1333500"/>
            <a:ext cx="2603500" cy="27813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673846FC-37E1-6F09-A322-9412563CF55E}"/>
              </a:ext>
            </a:extLst>
          </p:cNvPr>
          <p:cNvSpPr/>
          <p:nvPr/>
        </p:nvSpPr>
        <p:spPr>
          <a:xfrm>
            <a:off x="546100" y="1333500"/>
            <a:ext cx="26035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62D4DFB-7902-5875-B753-072F5DDC2420}"/>
              </a:ext>
            </a:extLst>
          </p:cNvPr>
          <p:cNvSpPr txBox="1"/>
          <p:nvPr/>
        </p:nvSpPr>
        <p:spPr>
          <a:xfrm>
            <a:off x="673100" y="1447800"/>
            <a:ext cx="2349500" cy="215444"/>
          </a:xfrm>
          <a:prstGeom prst="rect">
            <a:avLst/>
          </a:prstGeom>
          <a:noFill/>
        </p:spPr>
        <p:txBody>
          <a:bodyPr vert="horz" wrap="square" lIns="0" tIns="0" rIns="0" bIns="0" rtlCol="0">
            <a:noAutofit/>
          </a:bodyPr>
          <a:lstStyle/>
          <a:p>
            <a:r>
              <a:rPr lang="fr-FR" sz="910" b="1">
                <a:solidFill>
                  <a:srgbClr val="0E2F46"/>
                </a:solidFill>
                <a:latin typeface="Arial" panose="020B0604020202020204" pitchFamily="34" charset="0"/>
              </a:rPr>
              <a:t>LEVENSHTEIN DYNAMIC PROGRAM</a:t>
            </a:r>
          </a:p>
        </p:txBody>
      </p:sp>
      <p:sp>
        <p:nvSpPr>
          <p:cNvPr id="14" name="ZoneTexte 13">
            <a:extLst>
              <a:ext uri="{FF2B5EF4-FFF2-40B4-BE49-F238E27FC236}">
                <a16:creationId xmlns:a16="http://schemas.microsoft.com/office/drawing/2014/main" id="{FC0F07BD-0ACD-264C-6485-0AFDFCE8E367}"/>
              </a:ext>
            </a:extLst>
          </p:cNvPr>
          <p:cNvSpPr txBox="1"/>
          <p:nvPr/>
        </p:nvSpPr>
        <p:spPr>
          <a:xfrm>
            <a:off x="673100" y="1701800"/>
            <a:ext cx="2349500" cy="215444"/>
          </a:xfrm>
          <a:prstGeom prst="rect">
            <a:avLst/>
          </a:prstGeom>
          <a:noFill/>
        </p:spPr>
        <p:txBody>
          <a:bodyPr vert="horz" wrap="square" lIns="0" tIns="0" rIns="0" bIns="0" rtlCol="0">
            <a:noAutofit/>
          </a:bodyPr>
          <a:lstStyle/>
          <a:p>
            <a:r>
              <a:rPr lang="fr-FR" sz="790">
                <a:solidFill>
                  <a:srgbClr val="1C1F25"/>
                </a:solidFill>
                <a:latin typeface="Arial" panose="020B0604020202020204" pitchFamily="34" charset="0"/>
              </a:rPr>
              <a:t>Minimum-cost path using:
match = 0
substitute = 1
delete = 1
insert = 1
Example: doff -&gt; dof
d KEEP | o KEEP | f DELETE | f KEEP</a:t>
            </a:r>
          </a:p>
        </p:txBody>
      </p:sp>
      <p:sp>
        <p:nvSpPr>
          <p:cNvPr id="15" name="Rectangle 14">
            <a:extLst>
              <a:ext uri="{FF2B5EF4-FFF2-40B4-BE49-F238E27FC236}">
                <a16:creationId xmlns:a16="http://schemas.microsoft.com/office/drawing/2014/main" id="{82B1021B-075A-A563-88F0-84AB1E32E45B}"/>
              </a:ext>
            </a:extLst>
          </p:cNvPr>
          <p:cNvSpPr/>
          <p:nvPr/>
        </p:nvSpPr>
        <p:spPr>
          <a:xfrm>
            <a:off x="3276600" y="1333500"/>
            <a:ext cx="2603500" cy="27813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037D5F91-C6C1-3B94-D09E-07EA83AFDCB6}"/>
              </a:ext>
            </a:extLst>
          </p:cNvPr>
          <p:cNvSpPr/>
          <p:nvPr/>
        </p:nvSpPr>
        <p:spPr>
          <a:xfrm>
            <a:off x="3276600" y="1333500"/>
            <a:ext cx="26035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D79D0734-2F85-E97A-4788-8CDBF00BAAF5}"/>
              </a:ext>
            </a:extLst>
          </p:cNvPr>
          <p:cNvSpPr txBox="1"/>
          <p:nvPr/>
        </p:nvSpPr>
        <p:spPr>
          <a:xfrm>
            <a:off x="3403600" y="1447800"/>
            <a:ext cx="2349500" cy="215444"/>
          </a:xfrm>
          <a:prstGeom prst="rect">
            <a:avLst/>
          </a:prstGeom>
          <a:noFill/>
        </p:spPr>
        <p:txBody>
          <a:bodyPr vert="horz" wrap="square" lIns="0" tIns="0" rIns="0" bIns="0" rtlCol="0">
            <a:noAutofit/>
          </a:bodyPr>
          <a:lstStyle/>
          <a:p>
            <a:r>
              <a:rPr lang="en-US" sz="910" b="1">
                <a:solidFill>
                  <a:srgbClr val="976F1D"/>
                </a:solidFill>
                <a:latin typeface="Arial" panose="020B0604020202020204" pitchFamily="34" charset="0"/>
              </a:rPr>
              <a:t>WHERE THE ALIGNMENT IS USED</a:t>
            </a:r>
            <a:endParaRPr lang="fr-FR" sz="910" b="1">
              <a:solidFill>
                <a:srgbClr val="976F1D"/>
              </a:solidFill>
              <a:latin typeface="Arial" panose="020B0604020202020204" pitchFamily="34" charset="0"/>
            </a:endParaRPr>
          </a:p>
        </p:txBody>
      </p:sp>
      <p:sp>
        <p:nvSpPr>
          <p:cNvPr id="18" name="ZoneTexte 17">
            <a:extLst>
              <a:ext uri="{FF2B5EF4-FFF2-40B4-BE49-F238E27FC236}">
                <a16:creationId xmlns:a16="http://schemas.microsoft.com/office/drawing/2014/main" id="{C11B8CB4-69E4-9470-795D-C5BB721DE27C}"/>
              </a:ext>
            </a:extLst>
          </p:cNvPr>
          <p:cNvSpPr txBox="1"/>
          <p:nvPr/>
        </p:nvSpPr>
        <p:spPr>
          <a:xfrm>
            <a:off x="3403600" y="1701800"/>
            <a:ext cx="2349500" cy="215444"/>
          </a:xfrm>
          <a:prstGeom prst="rect">
            <a:avLst/>
          </a:prstGeom>
          <a:noFill/>
        </p:spPr>
        <p:txBody>
          <a:bodyPr vert="horz" wrap="square" lIns="0" tIns="0" rIns="0" bIns="0" rtlCol="0">
            <a:noAutofit/>
          </a:bodyPr>
          <a:lstStyle/>
          <a:p>
            <a:r>
              <a:rPr lang="en-US" sz="780">
                <a:solidFill>
                  <a:srgbClr val="1C1F25"/>
                </a:solidFill>
                <a:latin typeface="Arial" panose="020B0604020202020204" pitchFamily="34" charset="0"/>
              </a:rPr>
              <a:t>TNT training
Creates KEEP / DELETE / SUBSTITUTE / EXPAND labels for every pair.
Corpus operation statistics
The same character labels produce the Gold and synthetic operation percentages.
CER / WER
Levenshtein distance on characters or tokens.</a:t>
            </a:r>
            <a:endParaRPr lang="fr-FR" sz="780">
              <a:solidFill>
                <a:srgbClr val="1C1F25"/>
              </a:solidFill>
              <a:latin typeface="Arial" panose="020B0604020202020204" pitchFamily="34" charset="0"/>
            </a:endParaRPr>
          </a:p>
        </p:txBody>
      </p:sp>
      <p:sp>
        <p:nvSpPr>
          <p:cNvPr id="19" name="Rectangle 18">
            <a:extLst>
              <a:ext uri="{FF2B5EF4-FFF2-40B4-BE49-F238E27FC236}">
                <a16:creationId xmlns:a16="http://schemas.microsoft.com/office/drawing/2014/main" id="{D8F075AC-F08B-ED37-8C29-D167A87646E8}"/>
              </a:ext>
            </a:extLst>
          </p:cNvPr>
          <p:cNvSpPr/>
          <p:nvPr/>
        </p:nvSpPr>
        <p:spPr>
          <a:xfrm>
            <a:off x="6007100" y="1333500"/>
            <a:ext cx="2590800" cy="27813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E0A459DD-2185-F80B-E04E-4FD2B1C8033F}"/>
              </a:ext>
            </a:extLst>
          </p:cNvPr>
          <p:cNvSpPr/>
          <p:nvPr/>
        </p:nvSpPr>
        <p:spPr>
          <a:xfrm>
            <a:off x="6007100" y="1333500"/>
            <a:ext cx="25908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026E82A6-3293-F24F-82C7-290E0B0CACDF}"/>
              </a:ext>
            </a:extLst>
          </p:cNvPr>
          <p:cNvSpPr txBox="1"/>
          <p:nvPr/>
        </p:nvSpPr>
        <p:spPr>
          <a:xfrm>
            <a:off x="6134100" y="1447800"/>
            <a:ext cx="2336800" cy="215444"/>
          </a:xfrm>
          <a:prstGeom prst="rect">
            <a:avLst/>
          </a:prstGeom>
          <a:noFill/>
        </p:spPr>
        <p:txBody>
          <a:bodyPr vert="horz" wrap="square" lIns="0" tIns="0" rIns="0" bIns="0" rtlCol="0">
            <a:noAutofit/>
          </a:bodyPr>
          <a:lstStyle/>
          <a:p>
            <a:r>
              <a:rPr lang="fr-FR" sz="910" b="1">
                <a:solidFill>
                  <a:srgbClr val="0E2F46"/>
                </a:solidFill>
                <a:latin typeface="Arial" panose="020B0604020202020204" pitchFamily="34" charset="0"/>
              </a:rPr>
              <a:t>HOW THE METRICS DIFFER</a:t>
            </a:r>
          </a:p>
        </p:txBody>
      </p:sp>
      <p:sp>
        <p:nvSpPr>
          <p:cNvPr id="22" name="ZoneTexte 21">
            <a:extLst>
              <a:ext uri="{FF2B5EF4-FFF2-40B4-BE49-F238E27FC236}">
                <a16:creationId xmlns:a16="http://schemas.microsoft.com/office/drawing/2014/main" id="{11F15530-BDF8-D59A-E8DE-B049444DF799}"/>
              </a:ext>
            </a:extLst>
          </p:cNvPr>
          <p:cNvSpPr txBox="1"/>
          <p:nvPr/>
        </p:nvSpPr>
        <p:spPr>
          <a:xfrm>
            <a:off x="6134100" y="1701800"/>
            <a:ext cx="2336800" cy="215444"/>
          </a:xfrm>
          <a:prstGeom prst="rect">
            <a:avLst/>
          </a:prstGeom>
          <a:noFill/>
        </p:spPr>
        <p:txBody>
          <a:bodyPr vert="horz" wrap="square" lIns="0" tIns="0" rIns="0" bIns="0" rtlCol="0">
            <a:noAutofit/>
          </a:bodyPr>
          <a:lstStyle/>
          <a:p>
            <a:r>
              <a:rPr lang="en-US" sz="770">
                <a:solidFill>
                  <a:srgbClr val="1C1F25"/>
                </a:solidFill>
                <a:latin typeface="Arial" panose="020B0604020202020204" pitchFamily="34" charset="0"/>
              </a:rPr>
              <a:t>CER = (S + D + I) / reference characters
Spaces count after whitespace normalization.
WER = (S + D + I) / reference tokens
Splits and merges can create several token edits.
chrF: remove spaces; count character n-grams 1-6; average P and R; combine with F2.</a:t>
            </a:r>
            <a:endParaRPr lang="fr-FR" sz="770">
              <a:solidFill>
                <a:srgbClr val="1C1F25"/>
              </a:solidFill>
              <a:latin typeface="Arial" panose="020B0604020202020204" pitchFamily="34" charset="0"/>
            </a:endParaRPr>
          </a:p>
        </p:txBody>
      </p:sp>
      <p:sp>
        <p:nvSpPr>
          <p:cNvPr id="23" name="ZoneTexte 22">
            <a:extLst>
              <a:ext uri="{FF2B5EF4-FFF2-40B4-BE49-F238E27FC236}">
                <a16:creationId xmlns:a16="http://schemas.microsoft.com/office/drawing/2014/main" id="{DCC717DC-4C0B-0726-3511-B5218A6C1F48}"/>
              </a:ext>
            </a:extLst>
          </p:cNvPr>
          <p:cNvSpPr txBox="1"/>
          <p:nvPr/>
        </p:nvSpPr>
        <p:spPr>
          <a:xfrm>
            <a:off x="1054100" y="4343400"/>
            <a:ext cx="7035800" cy="215444"/>
          </a:xfrm>
          <a:prstGeom prst="rect">
            <a:avLst/>
          </a:prstGeom>
          <a:noFill/>
        </p:spPr>
        <p:txBody>
          <a:bodyPr vert="horz" wrap="square" lIns="0" tIns="0" rIns="0" bIns="0" rtlCol="0">
            <a:noAutofit/>
          </a:bodyPr>
          <a:lstStyle/>
          <a:p>
            <a:pPr algn="ctr"/>
            <a:r>
              <a:rPr lang="en-US" sz="820" b="1">
                <a:solidFill>
                  <a:srgbClr val="0E2F46"/>
                </a:solidFill>
                <a:latin typeface="Arial" panose="020B0604020202020204" pitchFamily="34" charset="0"/>
              </a:rPr>
              <a:t>Manual labels such as phonetic, diacritic and spacing merge are separate annotations; Levenshtein only describes string operations.</a:t>
            </a:r>
            <a:endParaRPr lang="fr-FR" sz="820" b="1">
              <a:solidFill>
                <a:srgbClr val="0E2F46"/>
              </a:solidFill>
              <a:latin typeface="Arial" panose="020B0604020202020204" pitchFamily="34" charset="0"/>
            </a:endParaRPr>
          </a:p>
        </p:txBody>
      </p:sp>
      <p:sp>
        <p:nvSpPr>
          <p:cNvPr id="24" name="Rectangle 23">
            <a:extLst>
              <a:ext uri="{FF2B5EF4-FFF2-40B4-BE49-F238E27FC236}">
                <a16:creationId xmlns:a16="http://schemas.microsoft.com/office/drawing/2014/main" id="{17958A95-4184-F9AC-D775-C8E43A19F004}"/>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4B9D3623-5BDD-8F9D-BDE3-FFCC7ED6A638}"/>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D3D55564-7F5E-63A3-30DC-E788FFCED56B}"/>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7" name="ZoneTexte 26">
            <a:extLst>
              <a:ext uri="{FF2B5EF4-FFF2-40B4-BE49-F238E27FC236}">
                <a16:creationId xmlns:a16="http://schemas.microsoft.com/office/drawing/2014/main" id="{1139D00D-43A9-1784-FC87-96CBD0C584AB}"/>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8" name="ZoneTexte 27">
            <a:extLst>
              <a:ext uri="{FF2B5EF4-FFF2-40B4-BE49-F238E27FC236}">
                <a16:creationId xmlns:a16="http://schemas.microsoft.com/office/drawing/2014/main" id="{0A223E69-2EDC-5BD2-E939-A168C9EC344F}"/>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Metrics and alignment</a:t>
            </a:r>
          </a:p>
        </p:txBody>
      </p:sp>
      <p:sp>
        <p:nvSpPr>
          <p:cNvPr id="29" name="ZoneTexte 28">
            <a:extLst>
              <a:ext uri="{FF2B5EF4-FFF2-40B4-BE49-F238E27FC236}">
                <a16:creationId xmlns:a16="http://schemas.microsoft.com/office/drawing/2014/main" id="{81D72154-EA40-D2B3-1B02-9D9DFCCD0290}"/>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32 / 36</a:t>
            </a:r>
          </a:p>
        </p:txBody>
      </p:sp>
      <p:pic>
        <p:nvPicPr>
          <p:cNvPr id="31" name="Image 30">
            <a:extLst>
              <a:ext uri="{FF2B5EF4-FFF2-40B4-BE49-F238E27FC236}">
                <a16:creationId xmlns:a16="http://schemas.microsoft.com/office/drawing/2014/main" id="{27E53BAC-1B1E-F147-FF17-A4F8FDB6AA7E}"/>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233118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B2B8E5-E41D-6789-D873-B5A9A1A20476}"/>
              </a:ext>
            </a:extLst>
          </p:cNvPr>
          <p:cNvSpPr/>
          <p:nvPr/>
        </p:nvSpPr>
        <p:spPr>
          <a:xfrm>
            <a:off x="546100" y="317500"/>
            <a:ext cx="1193800" cy="292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1DFD35CC-07E5-DE74-B1D1-FB8FE09883CB}"/>
              </a:ext>
            </a:extLst>
          </p:cNvPr>
          <p:cNvSpPr txBox="1"/>
          <p:nvPr/>
        </p:nvSpPr>
        <p:spPr>
          <a:xfrm>
            <a:off x="546100" y="381000"/>
            <a:ext cx="1193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B2E73FFE-638F-55A1-4C11-A83CFB16B6B9}"/>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2050" b="1">
                <a:solidFill>
                  <a:srgbClr val="57658D"/>
                </a:solidFill>
                <a:latin typeface="Arial" panose="020B0604020202020204" pitchFamily="34" charset="0"/>
              </a:rPr>
              <a:t>Which edit count are we talking about?</a:t>
            </a:r>
            <a:endParaRPr lang="fr-FR" sz="2050" b="1">
              <a:solidFill>
                <a:srgbClr val="57658D"/>
              </a:solidFill>
              <a:latin typeface="Arial" panose="020B0604020202020204" pitchFamily="34" charset="0"/>
            </a:endParaRPr>
          </a:p>
        </p:txBody>
      </p:sp>
      <p:sp>
        <p:nvSpPr>
          <p:cNvPr id="11" name="Rectangle 10">
            <a:extLst>
              <a:ext uri="{FF2B5EF4-FFF2-40B4-BE49-F238E27FC236}">
                <a16:creationId xmlns:a16="http://schemas.microsoft.com/office/drawing/2014/main" id="{8227BA7A-5478-6B7B-9FEE-0089648A79C7}"/>
              </a:ext>
            </a:extLst>
          </p:cNvPr>
          <p:cNvSpPr/>
          <p:nvPr/>
        </p:nvSpPr>
        <p:spPr>
          <a:xfrm>
            <a:off x="546100" y="1320800"/>
            <a:ext cx="2489200" cy="2679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E2B97FC6-D5AF-499A-9B69-0D8169F7A024}"/>
              </a:ext>
            </a:extLst>
          </p:cNvPr>
          <p:cNvSpPr/>
          <p:nvPr/>
        </p:nvSpPr>
        <p:spPr>
          <a:xfrm>
            <a:off x="546100" y="13208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966A644-61C4-6537-9050-04B571B95258}"/>
              </a:ext>
            </a:extLst>
          </p:cNvPr>
          <p:cNvSpPr txBox="1"/>
          <p:nvPr/>
        </p:nvSpPr>
        <p:spPr>
          <a:xfrm>
            <a:off x="673100" y="1435100"/>
            <a:ext cx="2235200" cy="215444"/>
          </a:xfrm>
          <a:prstGeom prst="rect">
            <a:avLst/>
          </a:prstGeom>
          <a:noFill/>
        </p:spPr>
        <p:txBody>
          <a:bodyPr vert="horz" wrap="square" lIns="0" tIns="0" rIns="0" bIns="0" rtlCol="0">
            <a:noAutofit/>
          </a:bodyPr>
          <a:lstStyle/>
          <a:p>
            <a:r>
              <a:rPr lang="fr-FR" sz="900" b="1">
                <a:solidFill>
                  <a:srgbClr val="0E2F46"/>
                </a:solidFill>
                <a:latin typeface="Arial" panose="020B0604020202020204" pitchFamily="34" charset="0"/>
              </a:rPr>
              <a:t>A | GOLD-TRAIN KNOWLEDGE</a:t>
            </a:r>
          </a:p>
        </p:txBody>
      </p:sp>
      <p:sp>
        <p:nvSpPr>
          <p:cNvPr id="14" name="ZoneTexte 13">
            <a:extLst>
              <a:ext uri="{FF2B5EF4-FFF2-40B4-BE49-F238E27FC236}">
                <a16:creationId xmlns:a16="http://schemas.microsoft.com/office/drawing/2014/main" id="{7D6C0CFF-63B4-AC4F-BC27-19CE7A61A3F6}"/>
              </a:ext>
            </a:extLst>
          </p:cNvPr>
          <p:cNvSpPr txBox="1"/>
          <p:nvPr/>
        </p:nvSpPr>
        <p:spPr>
          <a:xfrm>
            <a:off x="673100" y="1689100"/>
            <a:ext cx="2235200" cy="215444"/>
          </a:xfrm>
          <a:prstGeom prst="rect">
            <a:avLst/>
          </a:prstGeom>
          <a:noFill/>
        </p:spPr>
        <p:txBody>
          <a:bodyPr vert="horz" wrap="square" lIns="0" tIns="0" rIns="0" bIns="0" rtlCol="0">
            <a:noAutofit/>
          </a:bodyPr>
          <a:lstStyle/>
          <a:p>
            <a:r>
              <a:rPr lang="en-US" sz="800">
                <a:solidFill>
                  <a:srgbClr val="1C1F25"/>
                </a:solidFill>
                <a:latin typeface="Arial" panose="020B0604020202020204" pitchFamily="34" charset="0"/>
              </a:rPr>
              <a:t>1,315 annotated occurrences
865 eligible for M6
588 eligible changed occurrences
Learned inventory:
171 lexical mappings
105 POS/context templates</a:t>
            </a:r>
            <a:endParaRPr lang="fr-FR" sz="800">
              <a:solidFill>
                <a:srgbClr val="1C1F25"/>
              </a:solidFill>
              <a:latin typeface="Arial" panose="020B0604020202020204" pitchFamily="34" charset="0"/>
            </a:endParaRPr>
          </a:p>
        </p:txBody>
      </p:sp>
      <p:sp>
        <p:nvSpPr>
          <p:cNvPr id="15" name="Rectangle 14">
            <a:extLst>
              <a:ext uri="{FF2B5EF4-FFF2-40B4-BE49-F238E27FC236}">
                <a16:creationId xmlns:a16="http://schemas.microsoft.com/office/drawing/2014/main" id="{026B7DAF-DC2C-EE7B-CD04-E75D958B2233}"/>
              </a:ext>
            </a:extLst>
          </p:cNvPr>
          <p:cNvSpPr/>
          <p:nvPr/>
        </p:nvSpPr>
        <p:spPr>
          <a:xfrm>
            <a:off x="3327400" y="1320800"/>
            <a:ext cx="2489200" cy="2679700"/>
          </a:xfrm>
          <a:prstGeom prst="rect">
            <a:avLst/>
          </a:prstGeom>
          <a:solidFill>
            <a:srgbClr val="FAF6EA"/>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9AA65FD4-0CCF-F2F5-1C92-33A21E4843AB}"/>
              </a:ext>
            </a:extLst>
          </p:cNvPr>
          <p:cNvSpPr/>
          <p:nvPr/>
        </p:nvSpPr>
        <p:spPr>
          <a:xfrm>
            <a:off x="3327400" y="1320800"/>
            <a:ext cx="2489200" cy="381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9662E2FF-2171-DB52-11D3-77C802927F4D}"/>
              </a:ext>
            </a:extLst>
          </p:cNvPr>
          <p:cNvSpPr txBox="1"/>
          <p:nvPr/>
        </p:nvSpPr>
        <p:spPr>
          <a:xfrm>
            <a:off x="3454400" y="1435100"/>
            <a:ext cx="2235200" cy="215444"/>
          </a:xfrm>
          <a:prstGeom prst="rect">
            <a:avLst/>
          </a:prstGeom>
          <a:noFill/>
        </p:spPr>
        <p:txBody>
          <a:bodyPr vert="horz" wrap="square" lIns="0" tIns="0" rIns="0" bIns="0" rtlCol="0">
            <a:noAutofit/>
          </a:bodyPr>
          <a:lstStyle/>
          <a:p>
            <a:r>
              <a:rPr lang="fr-FR" sz="900" b="1">
                <a:solidFill>
                  <a:srgbClr val="976F1D"/>
                </a:solidFill>
                <a:latin typeface="Arial" panose="020B0604020202020204" pitchFamily="34" charset="0"/>
              </a:rPr>
              <a:t>B | GENERATOR ACTIVITY</a:t>
            </a:r>
          </a:p>
        </p:txBody>
      </p:sp>
      <p:sp>
        <p:nvSpPr>
          <p:cNvPr id="18" name="ZoneTexte 17">
            <a:extLst>
              <a:ext uri="{FF2B5EF4-FFF2-40B4-BE49-F238E27FC236}">
                <a16:creationId xmlns:a16="http://schemas.microsoft.com/office/drawing/2014/main" id="{50773488-E60E-7FE1-B38E-59991A9A3610}"/>
              </a:ext>
            </a:extLst>
          </p:cNvPr>
          <p:cNvSpPr txBox="1"/>
          <p:nvPr/>
        </p:nvSpPr>
        <p:spPr>
          <a:xfrm>
            <a:off x="3454400" y="1689100"/>
            <a:ext cx="2235200" cy="215444"/>
          </a:xfrm>
          <a:prstGeom prst="rect">
            <a:avLst/>
          </a:prstGeom>
          <a:noFill/>
        </p:spPr>
        <p:txBody>
          <a:bodyPr vert="horz" wrap="square" lIns="0" tIns="0" rIns="0" bIns="0" rtlCol="0">
            <a:noAutofit/>
          </a:bodyPr>
          <a:lstStyle/>
          <a:p>
            <a:r>
              <a:rPr lang="en-US" sz="800">
                <a:solidFill>
                  <a:srgbClr val="1C1F25"/>
                </a:solidFill>
                <a:latin typeface="Arial" panose="020B0604020202020204" pitchFamily="34" charset="0"/>
              </a:rPr>
              <a:t>Full M6 export:
14,215 / 17,777 rows changed (80.0%)
14,809 lexical edits
22,119 template edits
Matched benchmark:
3,106 / 3,330 rows changed (93.3%)</a:t>
            </a:r>
            <a:endParaRPr lang="fr-FR" sz="800">
              <a:solidFill>
                <a:srgbClr val="1C1F25"/>
              </a:solidFill>
              <a:latin typeface="Arial" panose="020B0604020202020204" pitchFamily="34" charset="0"/>
            </a:endParaRPr>
          </a:p>
        </p:txBody>
      </p:sp>
      <p:sp>
        <p:nvSpPr>
          <p:cNvPr id="19" name="Rectangle 18">
            <a:extLst>
              <a:ext uri="{FF2B5EF4-FFF2-40B4-BE49-F238E27FC236}">
                <a16:creationId xmlns:a16="http://schemas.microsoft.com/office/drawing/2014/main" id="{29CCFA8D-9CF4-C2DB-8F53-23DE9B16F1DD}"/>
              </a:ext>
            </a:extLst>
          </p:cNvPr>
          <p:cNvSpPr/>
          <p:nvPr/>
        </p:nvSpPr>
        <p:spPr>
          <a:xfrm>
            <a:off x="6108700" y="1320800"/>
            <a:ext cx="2489200" cy="2679700"/>
          </a:xfrm>
          <a:prstGeom prst="rect">
            <a:avLst/>
          </a:prstGeom>
          <a:solidFill>
            <a:srgbClr val="FFFFFF"/>
          </a:solidFill>
          <a:ln w="10160">
            <a:solidFill>
              <a:srgbClr val="C7C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9AB76E0C-67A2-2948-F881-99E7EDC7ACAF}"/>
              </a:ext>
            </a:extLst>
          </p:cNvPr>
          <p:cNvSpPr/>
          <p:nvPr/>
        </p:nvSpPr>
        <p:spPr>
          <a:xfrm>
            <a:off x="6108700" y="1320800"/>
            <a:ext cx="2489200" cy="38100"/>
          </a:xfrm>
          <a:prstGeom prst="rect">
            <a:avLst/>
          </a:prstGeom>
          <a:solidFill>
            <a:srgbClr val="0E2F46"/>
          </a:solidFill>
          <a:ln w="0">
            <a:solidFill>
              <a:srgbClr val="0E2F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30430C2D-8EC1-1173-925D-679106BBD579}"/>
              </a:ext>
            </a:extLst>
          </p:cNvPr>
          <p:cNvSpPr txBox="1"/>
          <p:nvPr/>
        </p:nvSpPr>
        <p:spPr>
          <a:xfrm>
            <a:off x="6235700" y="1435100"/>
            <a:ext cx="2235200" cy="215444"/>
          </a:xfrm>
          <a:prstGeom prst="rect">
            <a:avLst/>
          </a:prstGeom>
          <a:noFill/>
        </p:spPr>
        <p:txBody>
          <a:bodyPr vert="horz" wrap="square" lIns="0" tIns="0" rIns="0" bIns="0" rtlCol="0">
            <a:noAutofit/>
          </a:bodyPr>
          <a:lstStyle/>
          <a:p>
            <a:r>
              <a:rPr lang="fr-FR" sz="900" b="1">
                <a:solidFill>
                  <a:srgbClr val="0E2F46"/>
                </a:solidFill>
                <a:latin typeface="Arial" panose="020B0604020202020204" pitchFamily="34" charset="0"/>
              </a:rPr>
              <a:t>C | FROZEN-TEST PROPOSALS</a:t>
            </a:r>
          </a:p>
        </p:txBody>
      </p:sp>
      <p:sp>
        <p:nvSpPr>
          <p:cNvPr id="22" name="ZoneTexte 21">
            <a:extLst>
              <a:ext uri="{FF2B5EF4-FFF2-40B4-BE49-F238E27FC236}">
                <a16:creationId xmlns:a16="http://schemas.microsoft.com/office/drawing/2014/main" id="{D61250CB-CBE7-7F03-F470-B61D24E6CFE6}"/>
              </a:ext>
            </a:extLst>
          </p:cNvPr>
          <p:cNvSpPr txBox="1"/>
          <p:nvPr/>
        </p:nvSpPr>
        <p:spPr>
          <a:xfrm>
            <a:off x="6235700" y="1689100"/>
            <a:ext cx="2235200" cy="215444"/>
          </a:xfrm>
          <a:prstGeom prst="rect">
            <a:avLst/>
          </a:prstGeom>
          <a:noFill/>
        </p:spPr>
        <p:txBody>
          <a:bodyPr vert="horz" wrap="square" lIns="0" tIns="0" rIns="0" bIns="0" rtlCol="0">
            <a:noAutofit/>
          </a:bodyPr>
          <a:lstStyle/>
          <a:p>
            <a:r>
              <a:rPr lang="fr-FR" sz="750">
                <a:solidFill>
                  <a:srgbClr val="1C1F25"/>
                </a:solidFill>
                <a:latin typeface="Arial" panose="020B0604020202020204" pitchFamily="34" charset="0"/>
              </a:rPr>
              <a:t>Computed from source -&gt; model prediction using exact token-span edit blocks.
M1  68 = 2 TP + 66 FP
M2  59 = 0 TP + 59 FP
M3  68 = 1 TP + 67 FP
M4  58 = 1 TP + 57 FP
M6  57 = 2 TP + 55 FP
Gold requires 75 edits.</a:t>
            </a:r>
          </a:p>
        </p:txBody>
      </p:sp>
      <p:sp>
        <p:nvSpPr>
          <p:cNvPr id="23" name="ZoneTexte 22">
            <a:extLst>
              <a:ext uri="{FF2B5EF4-FFF2-40B4-BE49-F238E27FC236}">
                <a16:creationId xmlns:a16="http://schemas.microsoft.com/office/drawing/2014/main" id="{AB72991D-64CD-BDD6-E691-803152384250}"/>
              </a:ext>
            </a:extLst>
          </p:cNvPr>
          <p:cNvSpPr txBox="1"/>
          <p:nvPr/>
        </p:nvSpPr>
        <p:spPr>
          <a:xfrm>
            <a:off x="952500" y="4254500"/>
            <a:ext cx="7239000" cy="215444"/>
          </a:xfrm>
          <a:prstGeom prst="rect">
            <a:avLst/>
          </a:prstGeom>
          <a:noFill/>
        </p:spPr>
        <p:txBody>
          <a:bodyPr vert="horz" wrap="square" lIns="0" tIns="0" rIns="0" bIns="0" rtlCol="0">
            <a:noAutofit/>
          </a:bodyPr>
          <a:lstStyle/>
          <a:p>
            <a:pPr algn="ctr"/>
            <a:r>
              <a:rPr lang="en-US" sz="820" b="1">
                <a:solidFill>
                  <a:srgbClr val="0E2F46"/>
                </a:solidFill>
                <a:latin typeface="Arial" panose="020B0604020202020204" pitchFamily="34" charset="0"/>
              </a:rPr>
              <a:t>Why unequal? Each model changes different spans; inference has no fixed edit budget. One contiguous replacement, split or merge can count as one signature - not one per modified token.</a:t>
            </a:r>
            <a:endParaRPr lang="fr-FR" sz="820" b="1">
              <a:solidFill>
                <a:srgbClr val="0E2F46"/>
              </a:solidFill>
              <a:latin typeface="Arial" panose="020B0604020202020204" pitchFamily="34" charset="0"/>
            </a:endParaRPr>
          </a:p>
        </p:txBody>
      </p:sp>
      <p:sp>
        <p:nvSpPr>
          <p:cNvPr id="24" name="Rectangle 23">
            <a:extLst>
              <a:ext uri="{FF2B5EF4-FFF2-40B4-BE49-F238E27FC236}">
                <a16:creationId xmlns:a16="http://schemas.microsoft.com/office/drawing/2014/main" id="{49198B20-99E2-B04A-AD6C-60DA2F69A276}"/>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6702CDA6-958F-7587-CBE2-BB7FE4F25F30}"/>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FAC5E37F-3726-1999-D8B9-6F885E3B3D7F}"/>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7" name="ZoneTexte 26">
            <a:extLst>
              <a:ext uri="{FF2B5EF4-FFF2-40B4-BE49-F238E27FC236}">
                <a16:creationId xmlns:a16="http://schemas.microsoft.com/office/drawing/2014/main" id="{9A806904-650C-5666-1360-8607C26DCF22}"/>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8" name="ZoneTexte 27">
            <a:extLst>
              <a:ext uri="{FF2B5EF4-FFF2-40B4-BE49-F238E27FC236}">
                <a16:creationId xmlns:a16="http://schemas.microsoft.com/office/drawing/2014/main" id="{C4755FE0-A8B3-9AB7-35BD-1DFCB373C359}"/>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Edit-count provenance</a:t>
            </a:r>
          </a:p>
        </p:txBody>
      </p:sp>
      <p:sp>
        <p:nvSpPr>
          <p:cNvPr id="29" name="ZoneTexte 28">
            <a:extLst>
              <a:ext uri="{FF2B5EF4-FFF2-40B4-BE49-F238E27FC236}">
                <a16:creationId xmlns:a16="http://schemas.microsoft.com/office/drawing/2014/main" id="{8E87D10B-72EA-9128-02C8-F89E8DCED7FC}"/>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33 / 36</a:t>
            </a:r>
          </a:p>
        </p:txBody>
      </p:sp>
      <p:pic>
        <p:nvPicPr>
          <p:cNvPr id="31" name="Image 30">
            <a:extLst>
              <a:ext uri="{FF2B5EF4-FFF2-40B4-BE49-F238E27FC236}">
                <a16:creationId xmlns:a16="http://schemas.microsoft.com/office/drawing/2014/main" id="{5005558A-E6FF-1EA4-CA78-02E28A825884}"/>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791211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1BA2BE17-FA4C-80F0-F096-F43AE2B46129}"/>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A303A977-D902-A9C0-E5E6-F6DCA4F4EE68}"/>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F3D270B6-3CB2-DBE9-A7E6-0FD981D886AC}"/>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2050" b="1">
                <a:solidFill>
                  <a:srgbClr val="57658D"/>
                </a:solidFill>
                <a:latin typeface="Arial" panose="020B0604020202020204" pitchFamily="34" charset="0"/>
              </a:rPr>
              <a:t>M6 lexical mappings learned from Gold train</a:t>
            </a:r>
            <a:endParaRPr lang="fr-FR" sz="2050" b="1">
              <a:solidFill>
                <a:srgbClr val="57658D"/>
              </a:solidFill>
              <a:latin typeface="Arial" panose="020B0604020202020204" pitchFamily="34" charset="0"/>
            </a:endParaRPr>
          </a:p>
        </p:txBody>
      </p:sp>
      <p:sp>
        <p:nvSpPr>
          <p:cNvPr id="6" name="ZoneTexte 5">
            <a:extLst>
              <a:ext uri="{FF2B5EF4-FFF2-40B4-BE49-F238E27FC236}">
                <a16:creationId xmlns:a16="http://schemas.microsoft.com/office/drawing/2014/main" id="{D00A514F-7AFF-B27A-536B-57E3F694A81F}"/>
              </a:ext>
            </a:extLst>
          </p:cNvPr>
          <p:cNvSpPr txBox="1"/>
          <p:nvPr/>
        </p:nvSpPr>
        <p:spPr>
          <a:xfrm>
            <a:off x="546100" y="1104900"/>
            <a:ext cx="8064500" cy="215444"/>
          </a:xfrm>
          <a:prstGeom prst="rect">
            <a:avLst/>
          </a:prstGeom>
          <a:noFill/>
        </p:spPr>
        <p:txBody>
          <a:bodyPr vert="horz" wrap="square" lIns="0" tIns="0" rIns="0" bIns="0" rtlCol="0">
            <a:noAutofit/>
          </a:bodyPr>
          <a:lstStyle/>
          <a:p>
            <a:r>
              <a:rPr lang="en-US" sz="920" i="1">
                <a:solidFill>
                  <a:srgbClr val="57658D"/>
                </a:solidFill>
                <a:latin typeface="Arial" panose="020B0604020202020204" pitchFamily="34" charset="0"/>
              </a:rPr>
              <a:t>Dominant realizations retained from reviewed, eligible Wolof occurrences</a:t>
            </a:r>
            <a:endParaRPr lang="fr-FR" sz="920" i="1">
              <a:solidFill>
                <a:srgbClr val="57658D"/>
              </a:solidFill>
              <a:latin typeface="Arial" panose="020B0604020202020204" pitchFamily="34" charset="0"/>
            </a:endParaRPr>
          </a:p>
        </p:txBody>
      </p:sp>
      <p:sp>
        <p:nvSpPr>
          <p:cNvPr id="7" name="Rectangle 6">
            <a:extLst>
              <a:ext uri="{FF2B5EF4-FFF2-40B4-BE49-F238E27FC236}">
                <a16:creationId xmlns:a16="http://schemas.microsoft.com/office/drawing/2014/main" id="{43E8DF66-ABE1-E0B7-6415-0072BEB8F2EC}"/>
              </a:ext>
            </a:extLst>
          </p:cNvPr>
          <p:cNvSpPr/>
          <p:nvPr/>
        </p:nvSpPr>
        <p:spPr>
          <a:xfrm>
            <a:off x="546100" y="1409700"/>
            <a:ext cx="14224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8E85CC67-8812-41AB-6C06-CBCDCC77C352}"/>
              </a:ext>
            </a:extLst>
          </p:cNvPr>
          <p:cNvSpPr txBox="1"/>
          <p:nvPr/>
        </p:nvSpPr>
        <p:spPr>
          <a:xfrm>
            <a:off x="609600" y="1460500"/>
            <a:ext cx="12954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FORMAL UNIT</a:t>
            </a:r>
          </a:p>
        </p:txBody>
      </p:sp>
      <p:sp>
        <p:nvSpPr>
          <p:cNvPr id="9" name="Rectangle 8">
            <a:extLst>
              <a:ext uri="{FF2B5EF4-FFF2-40B4-BE49-F238E27FC236}">
                <a16:creationId xmlns:a16="http://schemas.microsoft.com/office/drawing/2014/main" id="{6BC31D22-4EF1-7E1B-EB79-5356BE491D65}"/>
              </a:ext>
            </a:extLst>
          </p:cNvPr>
          <p:cNvSpPr/>
          <p:nvPr/>
        </p:nvSpPr>
        <p:spPr>
          <a:xfrm>
            <a:off x="1968500" y="1409700"/>
            <a:ext cx="12827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9730401-D118-E06F-5F6D-ACD853CCBEE3}"/>
              </a:ext>
            </a:extLst>
          </p:cNvPr>
          <p:cNvSpPr txBox="1"/>
          <p:nvPr/>
        </p:nvSpPr>
        <p:spPr>
          <a:xfrm>
            <a:off x="2032000" y="1460500"/>
            <a:ext cx="11557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INFORMAL</a:t>
            </a:r>
          </a:p>
        </p:txBody>
      </p:sp>
      <p:sp>
        <p:nvSpPr>
          <p:cNvPr id="11" name="Rectangle 10">
            <a:extLst>
              <a:ext uri="{FF2B5EF4-FFF2-40B4-BE49-F238E27FC236}">
                <a16:creationId xmlns:a16="http://schemas.microsoft.com/office/drawing/2014/main" id="{890B31FE-67DF-9E57-A950-5383DE0389A2}"/>
              </a:ext>
            </a:extLst>
          </p:cNvPr>
          <p:cNvSpPr/>
          <p:nvPr/>
        </p:nvSpPr>
        <p:spPr>
          <a:xfrm>
            <a:off x="3251200" y="1409700"/>
            <a:ext cx="9652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DBDE77B0-9824-BABD-803E-50E0CE09BD8B}"/>
              </a:ext>
            </a:extLst>
          </p:cNvPr>
          <p:cNvSpPr txBox="1"/>
          <p:nvPr/>
        </p:nvSpPr>
        <p:spPr>
          <a:xfrm>
            <a:off x="3314700" y="1460500"/>
            <a:ext cx="8382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SUPPORT</a:t>
            </a:r>
          </a:p>
        </p:txBody>
      </p:sp>
      <p:sp>
        <p:nvSpPr>
          <p:cNvPr id="13" name="Rectangle 12">
            <a:extLst>
              <a:ext uri="{FF2B5EF4-FFF2-40B4-BE49-F238E27FC236}">
                <a16:creationId xmlns:a16="http://schemas.microsoft.com/office/drawing/2014/main" id="{1BCEA94E-2E0A-74A7-A62A-9F970830DE40}"/>
              </a:ext>
            </a:extLst>
          </p:cNvPr>
          <p:cNvSpPr/>
          <p:nvPr/>
        </p:nvSpPr>
        <p:spPr>
          <a:xfrm>
            <a:off x="4216400" y="1409700"/>
            <a:ext cx="8001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01CA9EF0-ED06-8B9A-6FBD-22EC134343C9}"/>
              </a:ext>
            </a:extLst>
          </p:cNvPr>
          <p:cNvSpPr txBox="1"/>
          <p:nvPr/>
        </p:nvSpPr>
        <p:spPr>
          <a:xfrm>
            <a:off x="4279900" y="1460500"/>
            <a:ext cx="6731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DOM.</a:t>
            </a:r>
          </a:p>
        </p:txBody>
      </p:sp>
      <p:sp>
        <p:nvSpPr>
          <p:cNvPr id="15" name="Rectangle 14">
            <a:extLst>
              <a:ext uri="{FF2B5EF4-FFF2-40B4-BE49-F238E27FC236}">
                <a16:creationId xmlns:a16="http://schemas.microsoft.com/office/drawing/2014/main" id="{AC680AD2-02CD-2303-4748-DB67A4C95059}"/>
              </a:ext>
            </a:extLst>
          </p:cNvPr>
          <p:cNvSpPr/>
          <p:nvPr/>
        </p:nvSpPr>
        <p:spPr>
          <a:xfrm>
            <a:off x="5016500" y="1409700"/>
            <a:ext cx="35814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D23BD02C-B3EC-C137-981D-2E541FF3A38A}"/>
              </a:ext>
            </a:extLst>
          </p:cNvPr>
          <p:cNvSpPr txBox="1"/>
          <p:nvPr/>
        </p:nvSpPr>
        <p:spPr>
          <a:xfrm>
            <a:off x="5080000" y="1460500"/>
            <a:ext cx="34544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INTERPRETATION</a:t>
            </a:r>
          </a:p>
        </p:txBody>
      </p:sp>
      <p:sp>
        <p:nvSpPr>
          <p:cNvPr id="17" name="Rectangle 16">
            <a:extLst>
              <a:ext uri="{FF2B5EF4-FFF2-40B4-BE49-F238E27FC236}">
                <a16:creationId xmlns:a16="http://schemas.microsoft.com/office/drawing/2014/main" id="{597834F3-4968-7EE8-6DBE-24D2267176E1}"/>
              </a:ext>
            </a:extLst>
          </p:cNvPr>
          <p:cNvSpPr/>
          <p:nvPr/>
        </p:nvSpPr>
        <p:spPr>
          <a:xfrm>
            <a:off x="546100" y="1727200"/>
            <a:ext cx="1422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84C035BE-8E64-6720-9A89-992A55D2FF5A}"/>
              </a:ext>
            </a:extLst>
          </p:cNvPr>
          <p:cNvSpPr txBox="1"/>
          <p:nvPr/>
        </p:nvSpPr>
        <p:spPr>
          <a:xfrm>
            <a:off x="609600" y="17780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am na</a:t>
            </a:r>
          </a:p>
        </p:txBody>
      </p:sp>
      <p:sp>
        <p:nvSpPr>
          <p:cNvPr id="19" name="Rectangle 18">
            <a:extLst>
              <a:ext uri="{FF2B5EF4-FFF2-40B4-BE49-F238E27FC236}">
                <a16:creationId xmlns:a16="http://schemas.microsoft.com/office/drawing/2014/main" id="{8F8D8696-B174-2B07-532E-505C03D24CD7}"/>
              </a:ext>
            </a:extLst>
          </p:cNvPr>
          <p:cNvSpPr/>
          <p:nvPr/>
        </p:nvSpPr>
        <p:spPr>
          <a:xfrm>
            <a:off x="1968500" y="1727200"/>
            <a:ext cx="12827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4460E954-6942-804D-7487-04AB87686FBE}"/>
              </a:ext>
            </a:extLst>
          </p:cNvPr>
          <p:cNvSpPr txBox="1"/>
          <p:nvPr/>
        </p:nvSpPr>
        <p:spPr>
          <a:xfrm>
            <a:off x="2032000" y="17780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amna</a:t>
            </a:r>
          </a:p>
        </p:txBody>
      </p:sp>
      <p:sp>
        <p:nvSpPr>
          <p:cNvPr id="21" name="Rectangle 20">
            <a:extLst>
              <a:ext uri="{FF2B5EF4-FFF2-40B4-BE49-F238E27FC236}">
                <a16:creationId xmlns:a16="http://schemas.microsoft.com/office/drawing/2014/main" id="{47811977-3313-D47C-ED9A-25DE7038E521}"/>
              </a:ext>
            </a:extLst>
          </p:cNvPr>
          <p:cNvSpPr/>
          <p:nvPr/>
        </p:nvSpPr>
        <p:spPr>
          <a:xfrm>
            <a:off x="3251200" y="1727200"/>
            <a:ext cx="9652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EC902CBF-8A2B-B1A9-4072-1BE7C9C52688}"/>
              </a:ext>
            </a:extLst>
          </p:cNvPr>
          <p:cNvSpPr txBox="1"/>
          <p:nvPr/>
        </p:nvSpPr>
        <p:spPr>
          <a:xfrm>
            <a:off x="3314700" y="17780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4 / 4</a:t>
            </a:r>
          </a:p>
        </p:txBody>
      </p:sp>
      <p:sp>
        <p:nvSpPr>
          <p:cNvPr id="23" name="Rectangle 22">
            <a:extLst>
              <a:ext uri="{FF2B5EF4-FFF2-40B4-BE49-F238E27FC236}">
                <a16:creationId xmlns:a16="http://schemas.microsoft.com/office/drawing/2014/main" id="{A32E08DB-B6D5-854E-9259-4D23AC90FAA5}"/>
              </a:ext>
            </a:extLst>
          </p:cNvPr>
          <p:cNvSpPr/>
          <p:nvPr/>
        </p:nvSpPr>
        <p:spPr>
          <a:xfrm>
            <a:off x="4216400" y="1727200"/>
            <a:ext cx="8001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D61B2F6A-76A8-1552-6AC9-7EAFC4EAC917}"/>
              </a:ext>
            </a:extLst>
          </p:cNvPr>
          <p:cNvSpPr txBox="1"/>
          <p:nvPr/>
        </p:nvSpPr>
        <p:spPr>
          <a:xfrm>
            <a:off x="4279900" y="17780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25" name="Rectangle 24">
            <a:extLst>
              <a:ext uri="{FF2B5EF4-FFF2-40B4-BE49-F238E27FC236}">
                <a16:creationId xmlns:a16="http://schemas.microsoft.com/office/drawing/2014/main" id="{FD71C1E0-E912-9409-95EA-68AF459699C8}"/>
              </a:ext>
            </a:extLst>
          </p:cNvPr>
          <p:cNvSpPr/>
          <p:nvPr/>
        </p:nvSpPr>
        <p:spPr>
          <a:xfrm>
            <a:off x="5016500" y="1727200"/>
            <a:ext cx="3581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1E0EE100-2A15-4488-BA0B-E64460BF5CAB}"/>
              </a:ext>
            </a:extLst>
          </p:cNvPr>
          <p:cNvSpPr txBox="1"/>
          <p:nvPr/>
        </p:nvSpPr>
        <p:spPr>
          <a:xfrm>
            <a:off x="5080000" y="17780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spacing merge + phonetic spelling</a:t>
            </a:r>
          </a:p>
        </p:txBody>
      </p:sp>
      <p:sp>
        <p:nvSpPr>
          <p:cNvPr id="27" name="Rectangle 26">
            <a:extLst>
              <a:ext uri="{FF2B5EF4-FFF2-40B4-BE49-F238E27FC236}">
                <a16:creationId xmlns:a16="http://schemas.microsoft.com/office/drawing/2014/main" id="{4BB7A221-9C30-BF14-D83A-A918F0DCCAAD}"/>
              </a:ext>
            </a:extLst>
          </p:cNvPr>
          <p:cNvSpPr/>
          <p:nvPr/>
        </p:nvSpPr>
        <p:spPr>
          <a:xfrm>
            <a:off x="546100" y="2032000"/>
            <a:ext cx="1422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DC5A9CAA-EDF9-95EF-2584-C5889D4E944A}"/>
              </a:ext>
            </a:extLst>
          </p:cNvPr>
          <p:cNvSpPr txBox="1"/>
          <p:nvPr/>
        </p:nvSpPr>
        <p:spPr>
          <a:xfrm>
            <a:off x="609600" y="20828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na ma</a:t>
            </a:r>
          </a:p>
        </p:txBody>
      </p:sp>
      <p:sp>
        <p:nvSpPr>
          <p:cNvPr id="29" name="Rectangle 28">
            <a:extLst>
              <a:ext uri="{FF2B5EF4-FFF2-40B4-BE49-F238E27FC236}">
                <a16:creationId xmlns:a16="http://schemas.microsoft.com/office/drawing/2014/main" id="{89C479A0-BEF6-35CE-CB94-77533F47033C}"/>
              </a:ext>
            </a:extLst>
          </p:cNvPr>
          <p:cNvSpPr/>
          <p:nvPr/>
        </p:nvSpPr>
        <p:spPr>
          <a:xfrm>
            <a:off x="1968500" y="2032000"/>
            <a:ext cx="12827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9F4F1D7E-0D86-64C7-EAC1-82030E0C4E44}"/>
              </a:ext>
            </a:extLst>
          </p:cNvPr>
          <p:cNvSpPr txBox="1"/>
          <p:nvPr/>
        </p:nvSpPr>
        <p:spPr>
          <a:xfrm>
            <a:off x="2032000" y="20828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nama</a:t>
            </a:r>
          </a:p>
        </p:txBody>
      </p:sp>
      <p:sp>
        <p:nvSpPr>
          <p:cNvPr id="31" name="Rectangle 30">
            <a:extLst>
              <a:ext uri="{FF2B5EF4-FFF2-40B4-BE49-F238E27FC236}">
                <a16:creationId xmlns:a16="http://schemas.microsoft.com/office/drawing/2014/main" id="{8EB61FD1-73F0-0042-559B-3FE12CBFDB21}"/>
              </a:ext>
            </a:extLst>
          </p:cNvPr>
          <p:cNvSpPr/>
          <p:nvPr/>
        </p:nvSpPr>
        <p:spPr>
          <a:xfrm>
            <a:off x="3251200" y="2032000"/>
            <a:ext cx="9652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906ECC97-C7E1-CD5F-B1CB-68498C80C4E8}"/>
              </a:ext>
            </a:extLst>
          </p:cNvPr>
          <p:cNvSpPr txBox="1"/>
          <p:nvPr/>
        </p:nvSpPr>
        <p:spPr>
          <a:xfrm>
            <a:off x="3314700" y="20828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3 / 3</a:t>
            </a:r>
          </a:p>
        </p:txBody>
      </p:sp>
      <p:sp>
        <p:nvSpPr>
          <p:cNvPr id="33" name="Rectangle 32">
            <a:extLst>
              <a:ext uri="{FF2B5EF4-FFF2-40B4-BE49-F238E27FC236}">
                <a16:creationId xmlns:a16="http://schemas.microsoft.com/office/drawing/2014/main" id="{7928D800-E5CC-51CB-F41D-232795D151B6}"/>
              </a:ext>
            </a:extLst>
          </p:cNvPr>
          <p:cNvSpPr/>
          <p:nvPr/>
        </p:nvSpPr>
        <p:spPr>
          <a:xfrm>
            <a:off x="4216400" y="2032000"/>
            <a:ext cx="8001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78560381-06F1-4444-6B2D-8A2ABCDD17DF}"/>
              </a:ext>
            </a:extLst>
          </p:cNvPr>
          <p:cNvSpPr txBox="1"/>
          <p:nvPr/>
        </p:nvSpPr>
        <p:spPr>
          <a:xfrm>
            <a:off x="4279900" y="20828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35" name="Rectangle 34">
            <a:extLst>
              <a:ext uri="{FF2B5EF4-FFF2-40B4-BE49-F238E27FC236}">
                <a16:creationId xmlns:a16="http://schemas.microsoft.com/office/drawing/2014/main" id="{1AE3D017-3B21-371B-6026-C57A74D42AB1}"/>
              </a:ext>
            </a:extLst>
          </p:cNvPr>
          <p:cNvSpPr/>
          <p:nvPr/>
        </p:nvSpPr>
        <p:spPr>
          <a:xfrm>
            <a:off x="5016500" y="2032000"/>
            <a:ext cx="3581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76517885-1106-699B-F6B2-78F06C818143}"/>
              </a:ext>
            </a:extLst>
          </p:cNvPr>
          <p:cNvSpPr txBox="1"/>
          <p:nvPr/>
        </p:nvSpPr>
        <p:spPr>
          <a:xfrm>
            <a:off x="5080000" y="20828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spacing merge + phonetic spelling</a:t>
            </a:r>
          </a:p>
        </p:txBody>
      </p:sp>
      <p:sp>
        <p:nvSpPr>
          <p:cNvPr id="37" name="Rectangle 36">
            <a:extLst>
              <a:ext uri="{FF2B5EF4-FFF2-40B4-BE49-F238E27FC236}">
                <a16:creationId xmlns:a16="http://schemas.microsoft.com/office/drawing/2014/main" id="{637C2939-D750-C748-D2FB-1B217D083BF9}"/>
              </a:ext>
            </a:extLst>
          </p:cNvPr>
          <p:cNvSpPr/>
          <p:nvPr/>
        </p:nvSpPr>
        <p:spPr>
          <a:xfrm>
            <a:off x="546100" y="2336800"/>
            <a:ext cx="1422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984A858C-DBE2-4014-D420-983317695DD4}"/>
              </a:ext>
            </a:extLst>
          </p:cNvPr>
          <p:cNvSpPr txBox="1"/>
          <p:nvPr/>
        </p:nvSpPr>
        <p:spPr>
          <a:xfrm>
            <a:off x="609600" y="23876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soof na</a:t>
            </a:r>
          </a:p>
        </p:txBody>
      </p:sp>
      <p:sp>
        <p:nvSpPr>
          <p:cNvPr id="39" name="Rectangle 38">
            <a:extLst>
              <a:ext uri="{FF2B5EF4-FFF2-40B4-BE49-F238E27FC236}">
                <a16:creationId xmlns:a16="http://schemas.microsoft.com/office/drawing/2014/main" id="{E01097BA-712D-EB8A-D0C3-870415019851}"/>
              </a:ext>
            </a:extLst>
          </p:cNvPr>
          <p:cNvSpPr/>
          <p:nvPr/>
        </p:nvSpPr>
        <p:spPr>
          <a:xfrm>
            <a:off x="1968500" y="2336800"/>
            <a:ext cx="12827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CDFA3198-D16B-9A1F-1249-704C27448CE0}"/>
              </a:ext>
            </a:extLst>
          </p:cNvPr>
          <p:cNvSpPr txBox="1"/>
          <p:nvPr/>
        </p:nvSpPr>
        <p:spPr>
          <a:xfrm>
            <a:off x="2032000" y="23876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sofna</a:t>
            </a:r>
          </a:p>
        </p:txBody>
      </p:sp>
      <p:sp>
        <p:nvSpPr>
          <p:cNvPr id="41" name="Rectangle 40">
            <a:extLst>
              <a:ext uri="{FF2B5EF4-FFF2-40B4-BE49-F238E27FC236}">
                <a16:creationId xmlns:a16="http://schemas.microsoft.com/office/drawing/2014/main" id="{C715B7DB-92ED-20A4-3BDC-707F8D005B60}"/>
              </a:ext>
            </a:extLst>
          </p:cNvPr>
          <p:cNvSpPr/>
          <p:nvPr/>
        </p:nvSpPr>
        <p:spPr>
          <a:xfrm>
            <a:off x="3251200" y="2336800"/>
            <a:ext cx="9652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08F7A0A8-3971-4C1A-1E97-A6FD086F13DD}"/>
              </a:ext>
            </a:extLst>
          </p:cNvPr>
          <p:cNvSpPr txBox="1"/>
          <p:nvPr/>
        </p:nvSpPr>
        <p:spPr>
          <a:xfrm>
            <a:off x="3314700" y="23876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3 / 4</a:t>
            </a:r>
          </a:p>
        </p:txBody>
      </p:sp>
      <p:sp>
        <p:nvSpPr>
          <p:cNvPr id="43" name="Rectangle 42">
            <a:extLst>
              <a:ext uri="{FF2B5EF4-FFF2-40B4-BE49-F238E27FC236}">
                <a16:creationId xmlns:a16="http://schemas.microsoft.com/office/drawing/2014/main" id="{84AEBEF7-E9C3-F7B5-72DD-DCD79784BE49}"/>
              </a:ext>
            </a:extLst>
          </p:cNvPr>
          <p:cNvSpPr/>
          <p:nvPr/>
        </p:nvSpPr>
        <p:spPr>
          <a:xfrm>
            <a:off x="4216400" y="2336800"/>
            <a:ext cx="8001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0A8D6117-FAF2-6706-AC11-7E5408108004}"/>
              </a:ext>
            </a:extLst>
          </p:cNvPr>
          <p:cNvSpPr txBox="1"/>
          <p:nvPr/>
        </p:nvSpPr>
        <p:spPr>
          <a:xfrm>
            <a:off x="4279900" y="23876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0.75</a:t>
            </a:r>
          </a:p>
        </p:txBody>
      </p:sp>
      <p:sp>
        <p:nvSpPr>
          <p:cNvPr id="45" name="Rectangle 44">
            <a:extLst>
              <a:ext uri="{FF2B5EF4-FFF2-40B4-BE49-F238E27FC236}">
                <a16:creationId xmlns:a16="http://schemas.microsoft.com/office/drawing/2014/main" id="{A46F0E02-E77B-D89D-E45D-89AC8929E58F}"/>
              </a:ext>
            </a:extLst>
          </p:cNvPr>
          <p:cNvSpPr/>
          <p:nvPr/>
        </p:nvSpPr>
        <p:spPr>
          <a:xfrm>
            <a:off x="5016500" y="2336800"/>
            <a:ext cx="3581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F6B25B47-9DDE-C0E6-D478-5D790F7C6B35}"/>
              </a:ext>
            </a:extLst>
          </p:cNvPr>
          <p:cNvSpPr txBox="1"/>
          <p:nvPr/>
        </p:nvSpPr>
        <p:spPr>
          <a:xfrm>
            <a:off x="5080000" y="23876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merge + deletion + phonetic spelling</a:t>
            </a:r>
          </a:p>
        </p:txBody>
      </p:sp>
      <p:sp>
        <p:nvSpPr>
          <p:cNvPr id="47" name="Rectangle 46">
            <a:extLst>
              <a:ext uri="{FF2B5EF4-FFF2-40B4-BE49-F238E27FC236}">
                <a16:creationId xmlns:a16="http://schemas.microsoft.com/office/drawing/2014/main" id="{074DA24C-EEC3-F772-25A4-59A75523C91E}"/>
              </a:ext>
            </a:extLst>
          </p:cNvPr>
          <p:cNvSpPr/>
          <p:nvPr/>
        </p:nvSpPr>
        <p:spPr>
          <a:xfrm>
            <a:off x="546100" y="2641600"/>
            <a:ext cx="1422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a:extLst>
              <a:ext uri="{FF2B5EF4-FFF2-40B4-BE49-F238E27FC236}">
                <a16:creationId xmlns:a16="http://schemas.microsoft.com/office/drawing/2014/main" id="{7B7D3B85-C599-B951-75F9-0E96F38AE862}"/>
              </a:ext>
            </a:extLst>
          </p:cNvPr>
          <p:cNvSpPr txBox="1"/>
          <p:nvPr/>
        </p:nvSpPr>
        <p:spPr>
          <a:xfrm>
            <a:off x="609600" y="26924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da ñoo</a:t>
            </a:r>
          </a:p>
        </p:txBody>
      </p:sp>
      <p:sp>
        <p:nvSpPr>
          <p:cNvPr id="49" name="Rectangle 48">
            <a:extLst>
              <a:ext uri="{FF2B5EF4-FFF2-40B4-BE49-F238E27FC236}">
                <a16:creationId xmlns:a16="http://schemas.microsoft.com/office/drawing/2014/main" id="{7B16BFDF-6CE1-BE61-1D63-4DFE59A3B959}"/>
              </a:ext>
            </a:extLst>
          </p:cNvPr>
          <p:cNvSpPr/>
          <p:nvPr/>
        </p:nvSpPr>
        <p:spPr>
          <a:xfrm>
            <a:off x="1968500" y="2641600"/>
            <a:ext cx="12827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9DE4CEA3-90E1-76C7-432D-1859A664A205}"/>
              </a:ext>
            </a:extLst>
          </p:cNvPr>
          <p:cNvSpPr txBox="1"/>
          <p:nvPr/>
        </p:nvSpPr>
        <p:spPr>
          <a:xfrm>
            <a:off x="2032000" y="26924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dagno</a:t>
            </a:r>
          </a:p>
        </p:txBody>
      </p:sp>
      <p:sp>
        <p:nvSpPr>
          <p:cNvPr id="51" name="Rectangle 50">
            <a:extLst>
              <a:ext uri="{FF2B5EF4-FFF2-40B4-BE49-F238E27FC236}">
                <a16:creationId xmlns:a16="http://schemas.microsoft.com/office/drawing/2014/main" id="{BB70FD79-3D4C-CC4A-B858-417E1D99A05B}"/>
              </a:ext>
            </a:extLst>
          </p:cNvPr>
          <p:cNvSpPr/>
          <p:nvPr/>
        </p:nvSpPr>
        <p:spPr>
          <a:xfrm>
            <a:off x="3251200" y="2641600"/>
            <a:ext cx="9652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ZoneTexte 51">
            <a:extLst>
              <a:ext uri="{FF2B5EF4-FFF2-40B4-BE49-F238E27FC236}">
                <a16:creationId xmlns:a16="http://schemas.microsoft.com/office/drawing/2014/main" id="{13A06336-3475-6C8B-F3EE-A4D503307B4A}"/>
              </a:ext>
            </a:extLst>
          </p:cNvPr>
          <p:cNvSpPr txBox="1"/>
          <p:nvPr/>
        </p:nvSpPr>
        <p:spPr>
          <a:xfrm>
            <a:off x="3314700" y="26924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2 / 2</a:t>
            </a:r>
          </a:p>
        </p:txBody>
      </p:sp>
      <p:sp>
        <p:nvSpPr>
          <p:cNvPr id="53" name="Rectangle 52">
            <a:extLst>
              <a:ext uri="{FF2B5EF4-FFF2-40B4-BE49-F238E27FC236}">
                <a16:creationId xmlns:a16="http://schemas.microsoft.com/office/drawing/2014/main" id="{0C8E3C21-494D-2779-D233-AE38C0011E4A}"/>
              </a:ext>
            </a:extLst>
          </p:cNvPr>
          <p:cNvSpPr/>
          <p:nvPr/>
        </p:nvSpPr>
        <p:spPr>
          <a:xfrm>
            <a:off x="4216400" y="2641600"/>
            <a:ext cx="8001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ZoneTexte 53">
            <a:extLst>
              <a:ext uri="{FF2B5EF4-FFF2-40B4-BE49-F238E27FC236}">
                <a16:creationId xmlns:a16="http://schemas.microsoft.com/office/drawing/2014/main" id="{B6F238E4-4C22-0966-F38B-6FE4E718E6CE}"/>
              </a:ext>
            </a:extLst>
          </p:cNvPr>
          <p:cNvSpPr txBox="1"/>
          <p:nvPr/>
        </p:nvSpPr>
        <p:spPr>
          <a:xfrm>
            <a:off x="4279900" y="26924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55" name="Rectangle 54">
            <a:extLst>
              <a:ext uri="{FF2B5EF4-FFF2-40B4-BE49-F238E27FC236}">
                <a16:creationId xmlns:a16="http://schemas.microsoft.com/office/drawing/2014/main" id="{B4C58D68-D143-7F28-B9E8-0810C8CFC29D}"/>
              </a:ext>
            </a:extLst>
          </p:cNvPr>
          <p:cNvSpPr/>
          <p:nvPr/>
        </p:nvSpPr>
        <p:spPr>
          <a:xfrm>
            <a:off x="5016500" y="2641600"/>
            <a:ext cx="3581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8DA76FB7-B877-C89B-9103-B146A3F2418C}"/>
              </a:ext>
            </a:extLst>
          </p:cNvPr>
          <p:cNvSpPr txBox="1"/>
          <p:nvPr/>
        </p:nvSpPr>
        <p:spPr>
          <a:xfrm>
            <a:off x="5080000" y="26924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merge + deletion + diacritic/substitution</a:t>
            </a:r>
          </a:p>
        </p:txBody>
      </p:sp>
      <p:sp>
        <p:nvSpPr>
          <p:cNvPr id="57" name="Rectangle 56">
            <a:extLst>
              <a:ext uri="{FF2B5EF4-FFF2-40B4-BE49-F238E27FC236}">
                <a16:creationId xmlns:a16="http://schemas.microsoft.com/office/drawing/2014/main" id="{56290648-36B1-B5CE-0826-CC610B70BA77}"/>
              </a:ext>
            </a:extLst>
          </p:cNvPr>
          <p:cNvSpPr/>
          <p:nvPr/>
        </p:nvSpPr>
        <p:spPr>
          <a:xfrm>
            <a:off x="546100" y="2946400"/>
            <a:ext cx="1422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ZoneTexte 57">
            <a:extLst>
              <a:ext uri="{FF2B5EF4-FFF2-40B4-BE49-F238E27FC236}">
                <a16:creationId xmlns:a16="http://schemas.microsoft.com/office/drawing/2014/main" id="{2E9C4C52-D99E-766D-AFAF-043B8783A659}"/>
              </a:ext>
            </a:extLst>
          </p:cNvPr>
          <p:cNvSpPr txBox="1"/>
          <p:nvPr/>
        </p:nvSpPr>
        <p:spPr>
          <a:xfrm>
            <a:off x="609600" y="29972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di naa ko</a:t>
            </a:r>
          </a:p>
        </p:txBody>
      </p:sp>
      <p:sp>
        <p:nvSpPr>
          <p:cNvPr id="59" name="Rectangle 58">
            <a:extLst>
              <a:ext uri="{FF2B5EF4-FFF2-40B4-BE49-F238E27FC236}">
                <a16:creationId xmlns:a16="http://schemas.microsoft.com/office/drawing/2014/main" id="{421978A9-E404-7FA3-CACE-75453C725610}"/>
              </a:ext>
            </a:extLst>
          </p:cNvPr>
          <p:cNvSpPr/>
          <p:nvPr/>
        </p:nvSpPr>
        <p:spPr>
          <a:xfrm>
            <a:off x="1968500" y="2946400"/>
            <a:ext cx="12827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ZoneTexte 59">
            <a:extLst>
              <a:ext uri="{FF2B5EF4-FFF2-40B4-BE49-F238E27FC236}">
                <a16:creationId xmlns:a16="http://schemas.microsoft.com/office/drawing/2014/main" id="{5CB51374-0CFE-9D6A-A2DE-97ACB887751C}"/>
              </a:ext>
            </a:extLst>
          </p:cNvPr>
          <p:cNvSpPr txBox="1"/>
          <p:nvPr/>
        </p:nvSpPr>
        <p:spPr>
          <a:xfrm>
            <a:off x="2032000" y="29972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dinako</a:t>
            </a:r>
          </a:p>
        </p:txBody>
      </p:sp>
      <p:sp>
        <p:nvSpPr>
          <p:cNvPr id="61" name="Rectangle 60">
            <a:extLst>
              <a:ext uri="{FF2B5EF4-FFF2-40B4-BE49-F238E27FC236}">
                <a16:creationId xmlns:a16="http://schemas.microsoft.com/office/drawing/2014/main" id="{472A3557-1B46-66A8-1274-789FBD330669}"/>
              </a:ext>
            </a:extLst>
          </p:cNvPr>
          <p:cNvSpPr/>
          <p:nvPr/>
        </p:nvSpPr>
        <p:spPr>
          <a:xfrm>
            <a:off x="3251200" y="2946400"/>
            <a:ext cx="9652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ZoneTexte 61">
            <a:extLst>
              <a:ext uri="{FF2B5EF4-FFF2-40B4-BE49-F238E27FC236}">
                <a16:creationId xmlns:a16="http://schemas.microsoft.com/office/drawing/2014/main" id="{B25A44D5-4786-5B9C-5998-754487BF070F}"/>
              </a:ext>
            </a:extLst>
          </p:cNvPr>
          <p:cNvSpPr txBox="1"/>
          <p:nvPr/>
        </p:nvSpPr>
        <p:spPr>
          <a:xfrm>
            <a:off x="3314700" y="29972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2 / 2</a:t>
            </a:r>
          </a:p>
        </p:txBody>
      </p:sp>
      <p:sp>
        <p:nvSpPr>
          <p:cNvPr id="63" name="Rectangle 62">
            <a:extLst>
              <a:ext uri="{FF2B5EF4-FFF2-40B4-BE49-F238E27FC236}">
                <a16:creationId xmlns:a16="http://schemas.microsoft.com/office/drawing/2014/main" id="{A4A841A3-2247-17A3-E7D8-95023958AB1A}"/>
              </a:ext>
            </a:extLst>
          </p:cNvPr>
          <p:cNvSpPr/>
          <p:nvPr/>
        </p:nvSpPr>
        <p:spPr>
          <a:xfrm>
            <a:off x="4216400" y="2946400"/>
            <a:ext cx="8001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ZoneTexte 63">
            <a:extLst>
              <a:ext uri="{FF2B5EF4-FFF2-40B4-BE49-F238E27FC236}">
                <a16:creationId xmlns:a16="http://schemas.microsoft.com/office/drawing/2014/main" id="{85E9CFD4-CB8D-0941-4778-50B0ECBDE0F1}"/>
              </a:ext>
            </a:extLst>
          </p:cNvPr>
          <p:cNvSpPr txBox="1"/>
          <p:nvPr/>
        </p:nvSpPr>
        <p:spPr>
          <a:xfrm>
            <a:off x="4279900" y="29972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65" name="Rectangle 64">
            <a:extLst>
              <a:ext uri="{FF2B5EF4-FFF2-40B4-BE49-F238E27FC236}">
                <a16:creationId xmlns:a16="http://schemas.microsoft.com/office/drawing/2014/main" id="{8C7DC026-1111-5210-EF5F-C6E3B1654BE0}"/>
              </a:ext>
            </a:extLst>
          </p:cNvPr>
          <p:cNvSpPr/>
          <p:nvPr/>
        </p:nvSpPr>
        <p:spPr>
          <a:xfrm>
            <a:off x="5016500" y="2946400"/>
            <a:ext cx="3581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a:extLst>
              <a:ext uri="{FF2B5EF4-FFF2-40B4-BE49-F238E27FC236}">
                <a16:creationId xmlns:a16="http://schemas.microsoft.com/office/drawing/2014/main" id="{5D55381D-3B59-CEDE-FD49-093BC587D1EE}"/>
              </a:ext>
            </a:extLst>
          </p:cNvPr>
          <p:cNvSpPr txBox="1"/>
          <p:nvPr/>
        </p:nvSpPr>
        <p:spPr>
          <a:xfrm>
            <a:off x="5080000" y="29972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three-token merge + deletion</a:t>
            </a:r>
          </a:p>
        </p:txBody>
      </p:sp>
      <p:sp>
        <p:nvSpPr>
          <p:cNvPr id="67" name="Rectangle 66">
            <a:extLst>
              <a:ext uri="{FF2B5EF4-FFF2-40B4-BE49-F238E27FC236}">
                <a16:creationId xmlns:a16="http://schemas.microsoft.com/office/drawing/2014/main" id="{32FC64E9-276B-5668-5737-9BBEC0CB2FB0}"/>
              </a:ext>
            </a:extLst>
          </p:cNvPr>
          <p:cNvSpPr/>
          <p:nvPr/>
        </p:nvSpPr>
        <p:spPr>
          <a:xfrm>
            <a:off x="546100" y="3251200"/>
            <a:ext cx="1422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ZoneTexte 67">
            <a:extLst>
              <a:ext uri="{FF2B5EF4-FFF2-40B4-BE49-F238E27FC236}">
                <a16:creationId xmlns:a16="http://schemas.microsoft.com/office/drawing/2014/main" id="{39B566AC-7D71-98E4-4C6B-48609C60A4A8}"/>
              </a:ext>
            </a:extLst>
          </p:cNvPr>
          <p:cNvSpPr txBox="1"/>
          <p:nvPr/>
        </p:nvSpPr>
        <p:spPr>
          <a:xfrm>
            <a:off x="609600" y="33020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moo ngi</a:t>
            </a:r>
          </a:p>
        </p:txBody>
      </p:sp>
      <p:sp>
        <p:nvSpPr>
          <p:cNvPr id="69" name="Rectangle 68">
            <a:extLst>
              <a:ext uri="{FF2B5EF4-FFF2-40B4-BE49-F238E27FC236}">
                <a16:creationId xmlns:a16="http://schemas.microsoft.com/office/drawing/2014/main" id="{B74D1B6C-371A-8896-9191-8E0847E796F6}"/>
              </a:ext>
            </a:extLst>
          </p:cNvPr>
          <p:cNvSpPr/>
          <p:nvPr/>
        </p:nvSpPr>
        <p:spPr>
          <a:xfrm>
            <a:off x="1968500" y="3251200"/>
            <a:ext cx="12827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45F1D634-40AF-E0C3-2DEE-0C85576CB623}"/>
              </a:ext>
            </a:extLst>
          </p:cNvPr>
          <p:cNvSpPr txBox="1"/>
          <p:nvPr/>
        </p:nvSpPr>
        <p:spPr>
          <a:xfrm>
            <a:off x="2032000" y="33020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mongui</a:t>
            </a:r>
          </a:p>
        </p:txBody>
      </p:sp>
      <p:sp>
        <p:nvSpPr>
          <p:cNvPr id="71" name="Rectangle 70">
            <a:extLst>
              <a:ext uri="{FF2B5EF4-FFF2-40B4-BE49-F238E27FC236}">
                <a16:creationId xmlns:a16="http://schemas.microsoft.com/office/drawing/2014/main" id="{E89799AA-FDAC-110C-87CE-35FEF4053532}"/>
              </a:ext>
            </a:extLst>
          </p:cNvPr>
          <p:cNvSpPr/>
          <p:nvPr/>
        </p:nvSpPr>
        <p:spPr>
          <a:xfrm>
            <a:off x="3251200" y="3251200"/>
            <a:ext cx="9652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ZoneTexte 71">
            <a:extLst>
              <a:ext uri="{FF2B5EF4-FFF2-40B4-BE49-F238E27FC236}">
                <a16:creationId xmlns:a16="http://schemas.microsoft.com/office/drawing/2014/main" id="{36F0C55B-92DB-6AFD-8F72-23D5B822D5E8}"/>
              </a:ext>
            </a:extLst>
          </p:cNvPr>
          <p:cNvSpPr txBox="1"/>
          <p:nvPr/>
        </p:nvSpPr>
        <p:spPr>
          <a:xfrm>
            <a:off x="3314700" y="33020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2 / 2</a:t>
            </a:r>
          </a:p>
        </p:txBody>
      </p:sp>
      <p:sp>
        <p:nvSpPr>
          <p:cNvPr id="73" name="Rectangle 72">
            <a:extLst>
              <a:ext uri="{FF2B5EF4-FFF2-40B4-BE49-F238E27FC236}">
                <a16:creationId xmlns:a16="http://schemas.microsoft.com/office/drawing/2014/main" id="{2D1BF958-4C03-A07B-F91E-99892E8CCFA3}"/>
              </a:ext>
            </a:extLst>
          </p:cNvPr>
          <p:cNvSpPr/>
          <p:nvPr/>
        </p:nvSpPr>
        <p:spPr>
          <a:xfrm>
            <a:off x="4216400" y="3251200"/>
            <a:ext cx="8001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73">
            <a:extLst>
              <a:ext uri="{FF2B5EF4-FFF2-40B4-BE49-F238E27FC236}">
                <a16:creationId xmlns:a16="http://schemas.microsoft.com/office/drawing/2014/main" id="{D63C1C5C-1D36-0784-58ED-B27DFD3508F9}"/>
              </a:ext>
            </a:extLst>
          </p:cNvPr>
          <p:cNvSpPr txBox="1"/>
          <p:nvPr/>
        </p:nvSpPr>
        <p:spPr>
          <a:xfrm>
            <a:off x="4279900" y="33020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75" name="Rectangle 74">
            <a:extLst>
              <a:ext uri="{FF2B5EF4-FFF2-40B4-BE49-F238E27FC236}">
                <a16:creationId xmlns:a16="http://schemas.microsoft.com/office/drawing/2014/main" id="{ABB7D9F0-0FA7-09A4-8060-06C271999404}"/>
              </a:ext>
            </a:extLst>
          </p:cNvPr>
          <p:cNvSpPr/>
          <p:nvPr/>
        </p:nvSpPr>
        <p:spPr>
          <a:xfrm>
            <a:off x="5016500" y="3251200"/>
            <a:ext cx="3581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ZoneTexte 75">
            <a:extLst>
              <a:ext uri="{FF2B5EF4-FFF2-40B4-BE49-F238E27FC236}">
                <a16:creationId xmlns:a16="http://schemas.microsoft.com/office/drawing/2014/main" id="{5E1A42D1-1D7C-8147-6B7B-E27CA43867D4}"/>
              </a:ext>
            </a:extLst>
          </p:cNvPr>
          <p:cNvSpPr txBox="1"/>
          <p:nvPr/>
        </p:nvSpPr>
        <p:spPr>
          <a:xfrm>
            <a:off x="5080000" y="33020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merge + insertion + phonetic spelling</a:t>
            </a:r>
          </a:p>
        </p:txBody>
      </p:sp>
      <p:sp>
        <p:nvSpPr>
          <p:cNvPr id="77" name="Rectangle 76">
            <a:extLst>
              <a:ext uri="{FF2B5EF4-FFF2-40B4-BE49-F238E27FC236}">
                <a16:creationId xmlns:a16="http://schemas.microsoft.com/office/drawing/2014/main" id="{F74112D6-1DEE-46EA-1E0C-FD98143DD9A8}"/>
              </a:ext>
            </a:extLst>
          </p:cNvPr>
          <p:cNvSpPr/>
          <p:nvPr/>
        </p:nvSpPr>
        <p:spPr>
          <a:xfrm>
            <a:off x="546100" y="3556000"/>
            <a:ext cx="1422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ZoneTexte 77">
            <a:extLst>
              <a:ext uri="{FF2B5EF4-FFF2-40B4-BE49-F238E27FC236}">
                <a16:creationId xmlns:a16="http://schemas.microsoft.com/office/drawing/2014/main" id="{35C8A596-7FD9-CE29-E9FC-5277EA0C855A}"/>
              </a:ext>
            </a:extLst>
          </p:cNvPr>
          <p:cNvSpPr txBox="1"/>
          <p:nvPr/>
        </p:nvSpPr>
        <p:spPr>
          <a:xfrm>
            <a:off x="609600" y="36068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nak</a:t>
            </a:r>
          </a:p>
        </p:txBody>
      </p:sp>
      <p:sp>
        <p:nvSpPr>
          <p:cNvPr id="79" name="Rectangle 78">
            <a:extLst>
              <a:ext uri="{FF2B5EF4-FFF2-40B4-BE49-F238E27FC236}">
                <a16:creationId xmlns:a16="http://schemas.microsoft.com/office/drawing/2014/main" id="{3433E141-AF85-1A1F-B4B3-52D7799E23F5}"/>
              </a:ext>
            </a:extLst>
          </p:cNvPr>
          <p:cNvSpPr/>
          <p:nvPr/>
        </p:nvSpPr>
        <p:spPr>
          <a:xfrm>
            <a:off x="1968500" y="3556000"/>
            <a:ext cx="12827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ZoneTexte 79">
            <a:extLst>
              <a:ext uri="{FF2B5EF4-FFF2-40B4-BE49-F238E27FC236}">
                <a16:creationId xmlns:a16="http://schemas.microsoft.com/office/drawing/2014/main" id="{A9EE96D0-6341-0133-1531-7CE365BEED83}"/>
              </a:ext>
            </a:extLst>
          </p:cNvPr>
          <p:cNvSpPr txBox="1"/>
          <p:nvPr/>
        </p:nvSpPr>
        <p:spPr>
          <a:xfrm>
            <a:off x="2032000" y="36068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nk</a:t>
            </a:r>
          </a:p>
        </p:txBody>
      </p:sp>
      <p:sp>
        <p:nvSpPr>
          <p:cNvPr id="81" name="Rectangle 80">
            <a:extLst>
              <a:ext uri="{FF2B5EF4-FFF2-40B4-BE49-F238E27FC236}">
                <a16:creationId xmlns:a16="http://schemas.microsoft.com/office/drawing/2014/main" id="{7F8A2A06-D474-C0F9-5503-23E9C12D063D}"/>
              </a:ext>
            </a:extLst>
          </p:cNvPr>
          <p:cNvSpPr/>
          <p:nvPr/>
        </p:nvSpPr>
        <p:spPr>
          <a:xfrm>
            <a:off x="3251200" y="3556000"/>
            <a:ext cx="9652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ZoneTexte 81">
            <a:extLst>
              <a:ext uri="{FF2B5EF4-FFF2-40B4-BE49-F238E27FC236}">
                <a16:creationId xmlns:a16="http://schemas.microsoft.com/office/drawing/2014/main" id="{D45EF078-7400-A7DD-75BB-DD200CEF10CE}"/>
              </a:ext>
            </a:extLst>
          </p:cNvPr>
          <p:cNvSpPr txBox="1"/>
          <p:nvPr/>
        </p:nvSpPr>
        <p:spPr>
          <a:xfrm>
            <a:off x="3314700" y="36068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2 / 2</a:t>
            </a:r>
          </a:p>
        </p:txBody>
      </p:sp>
      <p:sp>
        <p:nvSpPr>
          <p:cNvPr id="83" name="Rectangle 82">
            <a:extLst>
              <a:ext uri="{FF2B5EF4-FFF2-40B4-BE49-F238E27FC236}">
                <a16:creationId xmlns:a16="http://schemas.microsoft.com/office/drawing/2014/main" id="{70162400-9546-18B5-8707-85C735D85C8D}"/>
              </a:ext>
            </a:extLst>
          </p:cNvPr>
          <p:cNvSpPr/>
          <p:nvPr/>
        </p:nvSpPr>
        <p:spPr>
          <a:xfrm>
            <a:off x="4216400" y="3556000"/>
            <a:ext cx="8001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ZoneTexte 83">
            <a:extLst>
              <a:ext uri="{FF2B5EF4-FFF2-40B4-BE49-F238E27FC236}">
                <a16:creationId xmlns:a16="http://schemas.microsoft.com/office/drawing/2014/main" id="{48F522A7-4715-94F1-45E7-8BDCDB0880BB}"/>
              </a:ext>
            </a:extLst>
          </p:cNvPr>
          <p:cNvSpPr txBox="1"/>
          <p:nvPr/>
        </p:nvSpPr>
        <p:spPr>
          <a:xfrm>
            <a:off x="4279900" y="36068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1.00</a:t>
            </a:r>
          </a:p>
        </p:txBody>
      </p:sp>
      <p:sp>
        <p:nvSpPr>
          <p:cNvPr id="85" name="Rectangle 84">
            <a:extLst>
              <a:ext uri="{FF2B5EF4-FFF2-40B4-BE49-F238E27FC236}">
                <a16:creationId xmlns:a16="http://schemas.microsoft.com/office/drawing/2014/main" id="{A2A31BF0-7A12-8607-A8B4-589E4CA787F2}"/>
              </a:ext>
            </a:extLst>
          </p:cNvPr>
          <p:cNvSpPr/>
          <p:nvPr/>
        </p:nvSpPr>
        <p:spPr>
          <a:xfrm>
            <a:off x="5016500" y="3556000"/>
            <a:ext cx="3581400" cy="3048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ZoneTexte 85">
            <a:extLst>
              <a:ext uri="{FF2B5EF4-FFF2-40B4-BE49-F238E27FC236}">
                <a16:creationId xmlns:a16="http://schemas.microsoft.com/office/drawing/2014/main" id="{163EC2F5-F8A2-0B57-FEB5-A0082BE1ACF1}"/>
              </a:ext>
            </a:extLst>
          </p:cNvPr>
          <p:cNvSpPr txBox="1"/>
          <p:nvPr/>
        </p:nvSpPr>
        <p:spPr>
          <a:xfrm>
            <a:off x="5080000" y="36068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abbreviation</a:t>
            </a:r>
          </a:p>
        </p:txBody>
      </p:sp>
      <p:sp>
        <p:nvSpPr>
          <p:cNvPr id="87" name="Rectangle 86">
            <a:extLst>
              <a:ext uri="{FF2B5EF4-FFF2-40B4-BE49-F238E27FC236}">
                <a16:creationId xmlns:a16="http://schemas.microsoft.com/office/drawing/2014/main" id="{8AEFBA52-6784-A8D8-79BC-390EC2CA9FB4}"/>
              </a:ext>
            </a:extLst>
          </p:cNvPr>
          <p:cNvSpPr/>
          <p:nvPr/>
        </p:nvSpPr>
        <p:spPr>
          <a:xfrm>
            <a:off x="546100" y="3860800"/>
            <a:ext cx="1422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ZoneTexte 87">
            <a:extLst>
              <a:ext uri="{FF2B5EF4-FFF2-40B4-BE49-F238E27FC236}">
                <a16:creationId xmlns:a16="http://schemas.microsoft.com/office/drawing/2014/main" id="{A1E79A3F-B3C8-BFFC-4ED9-6ED7892BBD35}"/>
              </a:ext>
            </a:extLst>
          </p:cNvPr>
          <p:cNvSpPr txBox="1"/>
          <p:nvPr/>
        </p:nvSpPr>
        <p:spPr>
          <a:xfrm>
            <a:off x="609600" y="3911600"/>
            <a:ext cx="1295400" cy="215444"/>
          </a:xfrm>
          <a:prstGeom prst="rect">
            <a:avLst/>
          </a:prstGeom>
          <a:noFill/>
        </p:spPr>
        <p:txBody>
          <a:bodyPr vert="horz" wrap="square" lIns="0" tIns="0" rIns="0" bIns="0" rtlCol="0" anchor="ctr">
            <a:noAutofit/>
          </a:bodyPr>
          <a:lstStyle/>
          <a:p>
            <a:r>
              <a:rPr lang="fr-FR" sz="840" b="1">
                <a:solidFill>
                  <a:srgbClr val="0F3046"/>
                </a:solidFill>
                <a:latin typeface="Arial" panose="020B0604020202020204" pitchFamily="34" charset="0"/>
              </a:rPr>
              <a:t>ne na</a:t>
            </a:r>
          </a:p>
        </p:txBody>
      </p:sp>
      <p:sp>
        <p:nvSpPr>
          <p:cNvPr id="89" name="Rectangle 88">
            <a:extLst>
              <a:ext uri="{FF2B5EF4-FFF2-40B4-BE49-F238E27FC236}">
                <a16:creationId xmlns:a16="http://schemas.microsoft.com/office/drawing/2014/main" id="{660B4CA6-55C7-F427-CECF-751BC82C0FBD}"/>
              </a:ext>
            </a:extLst>
          </p:cNvPr>
          <p:cNvSpPr/>
          <p:nvPr/>
        </p:nvSpPr>
        <p:spPr>
          <a:xfrm>
            <a:off x="1968500" y="3860800"/>
            <a:ext cx="12827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ZoneTexte 89">
            <a:extLst>
              <a:ext uri="{FF2B5EF4-FFF2-40B4-BE49-F238E27FC236}">
                <a16:creationId xmlns:a16="http://schemas.microsoft.com/office/drawing/2014/main" id="{DA0553A6-4BA3-0008-0F5D-5882901E9367}"/>
              </a:ext>
            </a:extLst>
          </p:cNvPr>
          <p:cNvSpPr txBox="1"/>
          <p:nvPr/>
        </p:nvSpPr>
        <p:spPr>
          <a:xfrm>
            <a:off x="2032000" y="3911600"/>
            <a:ext cx="1155700" cy="215444"/>
          </a:xfrm>
          <a:prstGeom prst="rect">
            <a:avLst/>
          </a:prstGeom>
          <a:noFill/>
        </p:spPr>
        <p:txBody>
          <a:bodyPr vert="horz" wrap="square" lIns="0" tIns="0" rIns="0" bIns="0" rtlCol="0" anchor="ctr">
            <a:noAutofit/>
          </a:bodyPr>
          <a:lstStyle/>
          <a:p>
            <a:r>
              <a:rPr lang="fr-FR" sz="840">
                <a:solidFill>
                  <a:srgbClr val="1F242E"/>
                </a:solidFill>
                <a:latin typeface="Arial" panose="020B0604020202020204" pitchFamily="34" charset="0"/>
              </a:rPr>
              <a:t>néna</a:t>
            </a:r>
          </a:p>
        </p:txBody>
      </p:sp>
      <p:sp>
        <p:nvSpPr>
          <p:cNvPr id="91" name="Rectangle 90">
            <a:extLst>
              <a:ext uri="{FF2B5EF4-FFF2-40B4-BE49-F238E27FC236}">
                <a16:creationId xmlns:a16="http://schemas.microsoft.com/office/drawing/2014/main" id="{872F8743-3DCE-1E0A-17BD-995F1C3AABFF}"/>
              </a:ext>
            </a:extLst>
          </p:cNvPr>
          <p:cNvSpPr/>
          <p:nvPr/>
        </p:nvSpPr>
        <p:spPr>
          <a:xfrm>
            <a:off x="3251200" y="3860800"/>
            <a:ext cx="9652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ZoneTexte 91">
            <a:extLst>
              <a:ext uri="{FF2B5EF4-FFF2-40B4-BE49-F238E27FC236}">
                <a16:creationId xmlns:a16="http://schemas.microsoft.com/office/drawing/2014/main" id="{531F7303-CECC-01F0-CDE7-0A5112F2A80E}"/>
              </a:ext>
            </a:extLst>
          </p:cNvPr>
          <p:cNvSpPr txBox="1"/>
          <p:nvPr/>
        </p:nvSpPr>
        <p:spPr>
          <a:xfrm>
            <a:off x="3314700" y="3911600"/>
            <a:ext cx="838200" cy="215444"/>
          </a:xfrm>
          <a:prstGeom prst="rect">
            <a:avLst/>
          </a:prstGeom>
          <a:noFill/>
        </p:spPr>
        <p:txBody>
          <a:bodyPr vert="horz" wrap="square" lIns="0" tIns="0" rIns="0" bIns="0" rtlCol="0" anchor="ctr">
            <a:noAutofit/>
          </a:bodyPr>
          <a:lstStyle/>
          <a:p>
            <a:pPr algn="ctr"/>
            <a:r>
              <a:rPr lang="fr-FR" sz="810">
                <a:solidFill>
                  <a:srgbClr val="1F242E"/>
                </a:solidFill>
                <a:latin typeface="Arial" panose="020B0604020202020204" pitchFamily="34" charset="0"/>
              </a:rPr>
              <a:t>2 / 3</a:t>
            </a:r>
          </a:p>
        </p:txBody>
      </p:sp>
      <p:sp>
        <p:nvSpPr>
          <p:cNvPr id="93" name="Rectangle 92">
            <a:extLst>
              <a:ext uri="{FF2B5EF4-FFF2-40B4-BE49-F238E27FC236}">
                <a16:creationId xmlns:a16="http://schemas.microsoft.com/office/drawing/2014/main" id="{D48C71F6-1DFB-0099-4172-4139B90F6180}"/>
              </a:ext>
            </a:extLst>
          </p:cNvPr>
          <p:cNvSpPr/>
          <p:nvPr/>
        </p:nvSpPr>
        <p:spPr>
          <a:xfrm>
            <a:off x="4216400" y="3860800"/>
            <a:ext cx="8001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ZoneTexte 93">
            <a:extLst>
              <a:ext uri="{FF2B5EF4-FFF2-40B4-BE49-F238E27FC236}">
                <a16:creationId xmlns:a16="http://schemas.microsoft.com/office/drawing/2014/main" id="{9D07CEE8-4607-BEE7-3471-3F6205D42ADF}"/>
              </a:ext>
            </a:extLst>
          </p:cNvPr>
          <p:cNvSpPr txBox="1"/>
          <p:nvPr/>
        </p:nvSpPr>
        <p:spPr>
          <a:xfrm>
            <a:off x="4279900" y="3911600"/>
            <a:ext cx="6731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0.67</a:t>
            </a:r>
          </a:p>
        </p:txBody>
      </p:sp>
      <p:sp>
        <p:nvSpPr>
          <p:cNvPr id="95" name="Rectangle 94">
            <a:extLst>
              <a:ext uri="{FF2B5EF4-FFF2-40B4-BE49-F238E27FC236}">
                <a16:creationId xmlns:a16="http://schemas.microsoft.com/office/drawing/2014/main" id="{5FFADF3A-CCF9-E745-76EA-94D43B5485B0}"/>
              </a:ext>
            </a:extLst>
          </p:cNvPr>
          <p:cNvSpPr/>
          <p:nvPr/>
        </p:nvSpPr>
        <p:spPr>
          <a:xfrm>
            <a:off x="5016500" y="3860800"/>
            <a:ext cx="3581400" cy="3048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ZoneTexte 95">
            <a:extLst>
              <a:ext uri="{FF2B5EF4-FFF2-40B4-BE49-F238E27FC236}">
                <a16:creationId xmlns:a16="http://schemas.microsoft.com/office/drawing/2014/main" id="{F425183B-886A-826E-53C0-D31053531B94}"/>
              </a:ext>
            </a:extLst>
          </p:cNvPr>
          <p:cNvSpPr txBox="1"/>
          <p:nvPr/>
        </p:nvSpPr>
        <p:spPr>
          <a:xfrm>
            <a:off x="5080000" y="3911600"/>
            <a:ext cx="3454400" cy="215444"/>
          </a:xfrm>
          <a:prstGeom prst="rect">
            <a:avLst/>
          </a:prstGeom>
          <a:noFill/>
        </p:spPr>
        <p:txBody>
          <a:bodyPr vert="horz" wrap="square" lIns="0" tIns="0" rIns="0" bIns="0" rtlCol="0" anchor="ctr">
            <a:noAutofit/>
          </a:bodyPr>
          <a:lstStyle/>
          <a:p>
            <a:r>
              <a:rPr lang="fr-FR" sz="770">
                <a:solidFill>
                  <a:srgbClr val="1F242E"/>
                </a:solidFill>
                <a:latin typeface="Arial" panose="020B0604020202020204" pitchFamily="34" charset="0"/>
              </a:rPr>
              <a:t>merge + diacritic/substitution</a:t>
            </a:r>
          </a:p>
        </p:txBody>
      </p:sp>
      <p:sp>
        <p:nvSpPr>
          <p:cNvPr id="97" name="ZoneTexte 96">
            <a:extLst>
              <a:ext uri="{FF2B5EF4-FFF2-40B4-BE49-F238E27FC236}">
                <a16:creationId xmlns:a16="http://schemas.microsoft.com/office/drawing/2014/main" id="{37340510-10E5-5E8F-E0DB-D0CF71B3B681}"/>
              </a:ext>
            </a:extLst>
          </p:cNvPr>
          <p:cNvSpPr txBox="1"/>
          <p:nvPr/>
        </p:nvSpPr>
        <p:spPr>
          <a:xfrm>
            <a:off x="546100" y="4318000"/>
            <a:ext cx="8051800" cy="215444"/>
          </a:xfrm>
          <a:prstGeom prst="rect">
            <a:avLst/>
          </a:prstGeom>
          <a:noFill/>
        </p:spPr>
        <p:txBody>
          <a:bodyPr vert="horz" wrap="square" lIns="0" tIns="0" rIns="0" bIns="0" rtlCol="0">
            <a:noAutofit/>
          </a:bodyPr>
          <a:lstStyle/>
          <a:p>
            <a:pPr algn="ctr"/>
            <a:r>
              <a:rPr lang="en-US" sz="830" b="1">
                <a:solidFill>
                  <a:srgbClr val="57658D"/>
                </a:solidFill>
                <a:latin typeface="Arial" panose="020B0604020202020204" pitchFamily="34" charset="0"/>
              </a:rPr>
              <a:t>Dominance = mapping count / all reviewed outcomes for that formal unit. Retention threshold: support ≥ 1 and dominance ≥ 0.50.</a:t>
            </a:r>
            <a:endParaRPr lang="fr-FR" sz="830" b="1">
              <a:solidFill>
                <a:srgbClr val="57658D"/>
              </a:solidFill>
              <a:latin typeface="Arial" panose="020B0604020202020204" pitchFamily="34" charset="0"/>
            </a:endParaRPr>
          </a:p>
        </p:txBody>
      </p:sp>
      <p:sp>
        <p:nvSpPr>
          <p:cNvPr id="98" name="Rectangle 97">
            <a:extLst>
              <a:ext uri="{FF2B5EF4-FFF2-40B4-BE49-F238E27FC236}">
                <a16:creationId xmlns:a16="http://schemas.microsoft.com/office/drawing/2014/main" id="{6D7861A1-E0A4-3448-FD17-57C3A122705D}"/>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 coins arrondis 98">
            <a:extLst>
              <a:ext uri="{FF2B5EF4-FFF2-40B4-BE49-F238E27FC236}">
                <a16:creationId xmlns:a16="http://schemas.microsoft.com/office/drawing/2014/main" id="{45031F50-0EA9-9364-8F9E-EACC831AABD7}"/>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ZoneTexte 99">
            <a:extLst>
              <a:ext uri="{FF2B5EF4-FFF2-40B4-BE49-F238E27FC236}">
                <a16:creationId xmlns:a16="http://schemas.microsoft.com/office/drawing/2014/main" id="{81F4C98E-397E-C533-CB51-D414A37C57B6}"/>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101" name="ZoneTexte 100">
            <a:extLst>
              <a:ext uri="{FF2B5EF4-FFF2-40B4-BE49-F238E27FC236}">
                <a16:creationId xmlns:a16="http://schemas.microsoft.com/office/drawing/2014/main" id="{E5A97D12-0FDA-A1F6-0C97-229F6809ED85}"/>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102" name="ZoneTexte 101">
            <a:extLst>
              <a:ext uri="{FF2B5EF4-FFF2-40B4-BE49-F238E27FC236}">
                <a16:creationId xmlns:a16="http://schemas.microsoft.com/office/drawing/2014/main" id="{202B25A3-C1ED-86DA-2372-9C62451F0CC8}"/>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M6 lexical mappings</a:t>
            </a:r>
          </a:p>
        </p:txBody>
      </p:sp>
      <p:sp>
        <p:nvSpPr>
          <p:cNvPr id="103" name="ZoneTexte 102">
            <a:extLst>
              <a:ext uri="{FF2B5EF4-FFF2-40B4-BE49-F238E27FC236}">
                <a16:creationId xmlns:a16="http://schemas.microsoft.com/office/drawing/2014/main" id="{F7D1A19D-5224-7631-2BAC-04F1F2190F81}"/>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34 / 36</a:t>
            </a:r>
          </a:p>
        </p:txBody>
      </p:sp>
      <p:pic>
        <p:nvPicPr>
          <p:cNvPr id="105" name="Image 104">
            <a:extLst>
              <a:ext uri="{FF2B5EF4-FFF2-40B4-BE49-F238E27FC236}">
                <a16:creationId xmlns:a16="http://schemas.microsoft.com/office/drawing/2014/main" id="{92F281CD-60CB-0C16-27EB-A93D0562A3A1}"/>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3907018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F108C9F3-30D7-F149-FE32-EB2CDF9D4802}"/>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D8F6823A-E8B7-870E-614C-775B4830A967}"/>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E36AE097-5181-F1A5-98B5-6B59620F1029}"/>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2050" b="1">
                <a:solidFill>
                  <a:srgbClr val="57658D"/>
                </a:solidFill>
                <a:latin typeface="Arial" panose="020B0604020202020204" pitchFamily="34" charset="0"/>
              </a:rPr>
              <a:t>M6 contextual rules learned from Gold train</a:t>
            </a:r>
            <a:endParaRPr lang="fr-FR" sz="2050" b="1">
              <a:solidFill>
                <a:srgbClr val="57658D"/>
              </a:solidFill>
              <a:latin typeface="Arial" panose="020B0604020202020204" pitchFamily="34" charset="0"/>
            </a:endParaRPr>
          </a:p>
        </p:txBody>
      </p:sp>
      <p:sp>
        <p:nvSpPr>
          <p:cNvPr id="6" name="ZoneTexte 5">
            <a:extLst>
              <a:ext uri="{FF2B5EF4-FFF2-40B4-BE49-F238E27FC236}">
                <a16:creationId xmlns:a16="http://schemas.microsoft.com/office/drawing/2014/main" id="{F5AC3DC9-D1A5-4930-AB32-6E21B3F778BF}"/>
              </a:ext>
            </a:extLst>
          </p:cNvPr>
          <p:cNvSpPr txBox="1"/>
          <p:nvPr/>
        </p:nvSpPr>
        <p:spPr>
          <a:xfrm>
            <a:off x="546100" y="1104900"/>
            <a:ext cx="8064500" cy="215444"/>
          </a:xfrm>
          <a:prstGeom prst="rect">
            <a:avLst/>
          </a:prstGeom>
          <a:noFill/>
        </p:spPr>
        <p:txBody>
          <a:bodyPr vert="horz" wrap="square" lIns="0" tIns="0" rIns="0" bIns="0" rtlCol="0">
            <a:noAutofit/>
          </a:bodyPr>
          <a:lstStyle/>
          <a:p>
            <a:r>
              <a:rPr lang="en-US" sz="920" i="1">
                <a:solidFill>
                  <a:srgbClr val="57658D"/>
                </a:solidFill>
                <a:latin typeface="Arial" panose="020B0604020202020204" pitchFamily="34" charset="0"/>
              </a:rPr>
              <a:t>POS and local character context turn repeated edits into reusable templates</a:t>
            </a:r>
            <a:endParaRPr lang="fr-FR" sz="920" i="1">
              <a:solidFill>
                <a:srgbClr val="57658D"/>
              </a:solidFill>
              <a:latin typeface="Arial" panose="020B0604020202020204" pitchFamily="34" charset="0"/>
            </a:endParaRPr>
          </a:p>
        </p:txBody>
      </p:sp>
      <p:sp>
        <p:nvSpPr>
          <p:cNvPr id="7" name="Rectangle 6">
            <a:extLst>
              <a:ext uri="{FF2B5EF4-FFF2-40B4-BE49-F238E27FC236}">
                <a16:creationId xmlns:a16="http://schemas.microsoft.com/office/drawing/2014/main" id="{66A828CB-7272-2A58-5D99-7DE2358403BB}"/>
              </a:ext>
            </a:extLst>
          </p:cNvPr>
          <p:cNvSpPr/>
          <p:nvPr/>
        </p:nvSpPr>
        <p:spPr>
          <a:xfrm>
            <a:off x="546100" y="1409700"/>
            <a:ext cx="7112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3581C55C-A98E-322F-6C54-E06753F89BDA}"/>
              </a:ext>
            </a:extLst>
          </p:cNvPr>
          <p:cNvSpPr txBox="1"/>
          <p:nvPr/>
        </p:nvSpPr>
        <p:spPr>
          <a:xfrm>
            <a:off x="609600" y="1460500"/>
            <a:ext cx="5842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POS</a:t>
            </a:r>
          </a:p>
        </p:txBody>
      </p:sp>
      <p:sp>
        <p:nvSpPr>
          <p:cNvPr id="9" name="Rectangle 8">
            <a:extLst>
              <a:ext uri="{FF2B5EF4-FFF2-40B4-BE49-F238E27FC236}">
                <a16:creationId xmlns:a16="http://schemas.microsoft.com/office/drawing/2014/main" id="{DC61AB6C-231B-70C9-AF27-BAA42240BE6E}"/>
              </a:ext>
            </a:extLst>
          </p:cNvPr>
          <p:cNvSpPr/>
          <p:nvPr/>
        </p:nvSpPr>
        <p:spPr>
          <a:xfrm>
            <a:off x="1257300" y="1409700"/>
            <a:ext cx="26035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0D34465-E11F-5F15-1738-450CF43573BD}"/>
              </a:ext>
            </a:extLst>
          </p:cNvPr>
          <p:cNvSpPr txBox="1"/>
          <p:nvPr/>
        </p:nvSpPr>
        <p:spPr>
          <a:xfrm>
            <a:off x="1320800" y="1460500"/>
            <a:ext cx="24765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CONDITION</a:t>
            </a:r>
          </a:p>
        </p:txBody>
      </p:sp>
      <p:sp>
        <p:nvSpPr>
          <p:cNvPr id="11" name="Rectangle 10">
            <a:extLst>
              <a:ext uri="{FF2B5EF4-FFF2-40B4-BE49-F238E27FC236}">
                <a16:creationId xmlns:a16="http://schemas.microsoft.com/office/drawing/2014/main" id="{EC8F11CD-7587-C0B6-9365-8CA801573A62}"/>
              </a:ext>
            </a:extLst>
          </p:cNvPr>
          <p:cNvSpPr/>
          <p:nvPr/>
        </p:nvSpPr>
        <p:spPr>
          <a:xfrm>
            <a:off x="3860800" y="1409700"/>
            <a:ext cx="13589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BEDA7865-4BB6-E299-B50C-BDE2230DF670}"/>
              </a:ext>
            </a:extLst>
          </p:cNvPr>
          <p:cNvSpPr txBox="1"/>
          <p:nvPr/>
        </p:nvSpPr>
        <p:spPr>
          <a:xfrm>
            <a:off x="3924300" y="1460500"/>
            <a:ext cx="12319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EDIT</a:t>
            </a:r>
          </a:p>
        </p:txBody>
      </p:sp>
      <p:sp>
        <p:nvSpPr>
          <p:cNvPr id="13" name="Rectangle 12">
            <a:extLst>
              <a:ext uri="{FF2B5EF4-FFF2-40B4-BE49-F238E27FC236}">
                <a16:creationId xmlns:a16="http://schemas.microsoft.com/office/drawing/2014/main" id="{6BC1F4BE-8F13-7F09-E718-05F7F386C04C}"/>
              </a:ext>
            </a:extLst>
          </p:cNvPr>
          <p:cNvSpPr/>
          <p:nvPr/>
        </p:nvSpPr>
        <p:spPr>
          <a:xfrm>
            <a:off x="5219700" y="1409700"/>
            <a:ext cx="11049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DC8F8E48-08A0-C849-EF46-A8452CDFDA05}"/>
              </a:ext>
            </a:extLst>
          </p:cNvPr>
          <p:cNvSpPr txBox="1"/>
          <p:nvPr/>
        </p:nvSpPr>
        <p:spPr>
          <a:xfrm>
            <a:off x="5283200" y="1460500"/>
            <a:ext cx="9779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EVIDENCE</a:t>
            </a:r>
          </a:p>
        </p:txBody>
      </p:sp>
      <p:sp>
        <p:nvSpPr>
          <p:cNvPr id="15" name="Rectangle 14">
            <a:extLst>
              <a:ext uri="{FF2B5EF4-FFF2-40B4-BE49-F238E27FC236}">
                <a16:creationId xmlns:a16="http://schemas.microsoft.com/office/drawing/2014/main" id="{380800DD-B618-D9D1-6C77-B1B64E742A91}"/>
              </a:ext>
            </a:extLst>
          </p:cNvPr>
          <p:cNvSpPr/>
          <p:nvPr/>
        </p:nvSpPr>
        <p:spPr>
          <a:xfrm>
            <a:off x="6324600" y="1409700"/>
            <a:ext cx="2273300" cy="317500"/>
          </a:xfrm>
          <a:prstGeom prst="rect">
            <a:avLst/>
          </a:prstGeom>
          <a:solidFill>
            <a:srgbClr val="0F3046"/>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F5F5B84-FA88-BC44-5590-117641BC49B9}"/>
              </a:ext>
            </a:extLst>
          </p:cNvPr>
          <p:cNvSpPr txBox="1"/>
          <p:nvPr/>
        </p:nvSpPr>
        <p:spPr>
          <a:xfrm>
            <a:off x="6388100" y="1460500"/>
            <a:ext cx="2146300" cy="215444"/>
          </a:xfrm>
          <a:prstGeom prst="rect">
            <a:avLst/>
          </a:prstGeom>
          <a:noFill/>
        </p:spPr>
        <p:txBody>
          <a:bodyPr vert="horz" wrap="square" lIns="0" tIns="0" rIns="0" bIns="0" rtlCol="0" anchor="ctr">
            <a:noAutofit/>
          </a:bodyPr>
          <a:lstStyle/>
          <a:p>
            <a:pPr algn="ctr"/>
            <a:r>
              <a:rPr lang="fr-FR" sz="770" b="1">
                <a:solidFill>
                  <a:srgbClr val="FFFFFF"/>
                </a:solidFill>
                <a:latin typeface="Arial" panose="020B0604020202020204" pitchFamily="34" charset="0"/>
              </a:rPr>
              <a:t>EXAMPLE</a:t>
            </a:r>
          </a:p>
        </p:txBody>
      </p:sp>
      <p:sp>
        <p:nvSpPr>
          <p:cNvPr id="17" name="Rectangle 16">
            <a:extLst>
              <a:ext uri="{FF2B5EF4-FFF2-40B4-BE49-F238E27FC236}">
                <a16:creationId xmlns:a16="http://schemas.microsoft.com/office/drawing/2014/main" id="{19947BD7-96A4-9862-BC16-0B9E1AEAE9A8}"/>
              </a:ext>
            </a:extLst>
          </p:cNvPr>
          <p:cNvSpPr/>
          <p:nvPr/>
        </p:nvSpPr>
        <p:spPr>
          <a:xfrm>
            <a:off x="546100" y="1727200"/>
            <a:ext cx="7112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1036B60E-E63A-5909-97EC-1DD9ECAFC538}"/>
              </a:ext>
            </a:extLst>
          </p:cNvPr>
          <p:cNvSpPr txBox="1"/>
          <p:nvPr/>
        </p:nvSpPr>
        <p:spPr>
          <a:xfrm>
            <a:off x="609600" y="17780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VERB</a:t>
            </a:r>
          </a:p>
        </p:txBody>
      </p:sp>
      <p:sp>
        <p:nvSpPr>
          <p:cNvPr id="19" name="Rectangle 18">
            <a:extLst>
              <a:ext uri="{FF2B5EF4-FFF2-40B4-BE49-F238E27FC236}">
                <a16:creationId xmlns:a16="http://schemas.microsoft.com/office/drawing/2014/main" id="{94733724-56DB-6DC5-2BCB-B8918434A547}"/>
              </a:ext>
            </a:extLst>
          </p:cNvPr>
          <p:cNvSpPr/>
          <p:nvPr/>
        </p:nvSpPr>
        <p:spPr>
          <a:xfrm>
            <a:off x="1257300" y="1727200"/>
            <a:ext cx="26035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DB9AE0DB-64F1-FF0F-CDCC-D2B63C56400A}"/>
              </a:ext>
            </a:extLst>
          </p:cNvPr>
          <p:cNvSpPr txBox="1"/>
          <p:nvPr/>
        </p:nvSpPr>
        <p:spPr>
          <a:xfrm>
            <a:off x="1320800" y="17780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final x after a</a:t>
            </a:r>
          </a:p>
        </p:txBody>
      </p:sp>
      <p:sp>
        <p:nvSpPr>
          <p:cNvPr id="21" name="Rectangle 20">
            <a:extLst>
              <a:ext uri="{FF2B5EF4-FFF2-40B4-BE49-F238E27FC236}">
                <a16:creationId xmlns:a16="http://schemas.microsoft.com/office/drawing/2014/main" id="{13DE3F44-6B9A-C0A5-5F84-BC57C494D8FF}"/>
              </a:ext>
            </a:extLst>
          </p:cNvPr>
          <p:cNvSpPr/>
          <p:nvPr/>
        </p:nvSpPr>
        <p:spPr>
          <a:xfrm>
            <a:off x="3860800" y="1727200"/>
            <a:ext cx="1358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14ABF5C2-BB53-7646-2E50-1AD8AC0B88C2}"/>
              </a:ext>
            </a:extLst>
          </p:cNvPr>
          <p:cNvSpPr txBox="1"/>
          <p:nvPr/>
        </p:nvSpPr>
        <p:spPr>
          <a:xfrm>
            <a:off x="3924300" y="17780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x → kh</a:t>
            </a:r>
          </a:p>
        </p:txBody>
      </p:sp>
      <p:sp>
        <p:nvSpPr>
          <p:cNvPr id="23" name="Rectangle 22">
            <a:extLst>
              <a:ext uri="{FF2B5EF4-FFF2-40B4-BE49-F238E27FC236}">
                <a16:creationId xmlns:a16="http://schemas.microsoft.com/office/drawing/2014/main" id="{C23B1E07-5147-DDDD-2432-63C9A99881F1}"/>
              </a:ext>
            </a:extLst>
          </p:cNvPr>
          <p:cNvSpPr/>
          <p:nvPr/>
        </p:nvSpPr>
        <p:spPr>
          <a:xfrm>
            <a:off x="5219700" y="1727200"/>
            <a:ext cx="1104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38BDF3F5-60BA-D42D-D1C6-92F7927A2818}"/>
              </a:ext>
            </a:extLst>
          </p:cNvPr>
          <p:cNvSpPr txBox="1"/>
          <p:nvPr/>
        </p:nvSpPr>
        <p:spPr>
          <a:xfrm>
            <a:off x="5283200" y="17780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7 / 9 · .78</a:t>
            </a:r>
          </a:p>
        </p:txBody>
      </p:sp>
      <p:sp>
        <p:nvSpPr>
          <p:cNvPr id="25" name="Rectangle 24">
            <a:extLst>
              <a:ext uri="{FF2B5EF4-FFF2-40B4-BE49-F238E27FC236}">
                <a16:creationId xmlns:a16="http://schemas.microsoft.com/office/drawing/2014/main" id="{A5F24C22-1A4C-5A0E-28A7-35E469E81DDC}"/>
              </a:ext>
            </a:extLst>
          </p:cNvPr>
          <p:cNvSpPr/>
          <p:nvPr/>
        </p:nvSpPr>
        <p:spPr>
          <a:xfrm>
            <a:off x="6324600" y="1727200"/>
            <a:ext cx="22733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E0820002-2F40-F3BA-8FF5-B8C1BA7CAE94}"/>
              </a:ext>
            </a:extLst>
          </p:cNvPr>
          <p:cNvSpPr txBox="1"/>
          <p:nvPr/>
        </p:nvSpPr>
        <p:spPr>
          <a:xfrm>
            <a:off x="6388100" y="17780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wax → wakh</a:t>
            </a:r>
          </a:p>
        </p:txBody>
      </p:sp>
      <p:sp>
        <p:nvSpPr>
          <p:cNvPr id="27" name="Rectangle 26">
            <a:extLst>
              <a:ext uri="{FF2B5EF4-FFF2-40B4-BE49-F238E27FC236}">
                <a16:creationId xmlns:a16="http://schemas.microsoft.com/office/drawing/2014/main" id="{AB92EF52-D425-563F-5D5B-07AC32F7EF15}"/>
              </a:ext>
            </a:extLst>
          </p:cNvPr>
          <p:cNvSpPr/>
          <p:nvPr/>
        </p:nvSpPr>
        <p:spPr>
          <a:xfrm>
            <a:off x="546100" y="2070100"/>
            <a:ext cx="7112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EFE33308-1E99-2319-6F86-0E4E3688368D}"/>
              </a:ext>
            </a:extLst>
          </p:cNvPr>
          <p:cNvSpPr txBox="1"/>
          <p:nvPr/>
        </p:nvSpPr>
        <p:spPr>
          <a:xfrm>
            <a:off x="609600" y="21209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VERB</a:t>
            </a:r>
          </a:p>
        </p:txBody>
      </p:sp>
      <p:sp>
        <p:nvSpPr>
          <p:cNvPr id="29" name="Rectangle 28">
            <a:extLst>
              <a:ext uri="{FF2B5EF4-FFF2-40B4-BE49-F238E27FC236}">
                <a16:creationId xmlns:a16="http://schemas.microsoft.com/office/drawing/2014/main" id="{B66597A0-6AE9-9CD4-3604-D2E09DBE0462}"/>
              </a:ext>
            </a:extLst>
          </p:cNvPr>
          <p:cNvSpPr/>
          <p:nvPr/>
        </p:nvSpPr>
        <p:spPr>
          <a:xfrm>
            <a:off x="1257300" y="2070100"/>
            <a:ext cx="26035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530A207B-2B85-7C7F-1837-DAB086AE87C4}"/>
              </a:ext>
            </a:extLst>
          </p:cNvPr>
          <p:cNvSpPr txBox="1"/>
          <p:nvPr/>
        </p:nvSpPr>
        <p:spPr>
          <a:xfrm>
            <a:off x="1320800" y="2120900"/>
            <a:ext cx="2476500" cy="215444"/>
          </a:xfrm>
          <a:prstGeom prst="rect">
            <a:avLst/>
          </a:prstGeom>
          <a:noFill/>
        </p:spPr>
        <p:txBody>
          <a:bodyPr vert="horz" wrap="square" lIns="0" tIns="0" rIns="0" bIns="0" rtlCol="0" anchor="ctr">
            <a:noAutofit/>
          </a:bodyPr>
          <a:lstStyle/>
          <a:p>
            <a:r>
              <a:rPr lang="en-US" sz="800">
                <a:solidFill>
                  <a:srgbClr val="1F242E"/>
                </a:solidFill>
                <a:latin typeface="Arial" panose="020B0604020202020204" pitchFamily="34" charset="0"/>
              </a:rPr>
              <a:t>ë between b and g</a:t>
            </a:r>
            <a:endParaRPr lang="fr-FR" sz="800">
              <a:solidFill>
                <a:srgbClr val="1F242E"/>
              </a:solidFill>
              <a:latin typeface="Arial" panose="020B0604020202020204" pitchFamily="34" charset="0"/>
            </a:endParaRPr>
          </a:p>
        </p:txBody>
      </p:sp>
      <p:sp>
        <p:nvSpPr>
          <p:cNvPr id="31" name="Rectangle 30">
            <a:extLst>
              <a:ext uri="{FF2B5EF4-FFF2-40B4-BE49-F238E27FC236}">
                <a16:creationId xmlns:a16="http://schemas.microsoft.com/office/drawing/2014/main" id="{2C73DC6A-0C34-0175-AEBE-867E42761F03}"/>
              </a:ext>
            </a:extLst>
          </p:cNvPr>
          <p:cNvSpPr/>
          <p:nvPr/>
        </p:nvSpPr>
        <p:spPr>
          <a:xfrm>
            <a:off x="3860800" y="2070100"/>
            <a:ext cx="1358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95C7CAB1-F657-164C-0ED3-CC5F64E27E78}"/>
              </a:ext>
            </a:extLst>
          </p:cNvPr>
          <p:cNvSpPr txBox="1"/>
          <p:nvPr/>
        </p:nvSpPr>
        <p:spPr>
          <a:xfrm>
            <a:off x="3924300" y="21209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ë → eu</a:t>
            </a:r>
          </a:p>
        </p:txBody>
      </p:sp>
      <p:sp>
        <p:nvSpPr>
          <p:cNvPr id="33" name="Rectangle 32">
            <a:extLst>
              <a:ext uri="{FF2B5EF4-FFF2-40B4-BE49-F238E27FC236}">
                <a16:creationId xmlns:a16="http://schemas.microsoft.com/office/drawing/2014/main" id="{9DE5E9E3-4035-D75C-7D45-AB0828A74E1B}"/>
              </a:ext>
            </a:extLst>
          </p:cNvPr>
          <p:cNvSpPr/>
          <p:nvPr/>
        </p:nvSpPr>
        <p:spPr>
          <a:xfrm>
            <a:off x="5219700" y="2070100"/>
            <a:ext cx="1104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ZoneTexte 33">
            <a:extLst>
              <a:ext uri="{FF2B5EF4-FFF2-40B4-BE49-F238E27FC236}">
                <a16:creationId xmlns:a16="http://schemas.microsoft.com/office/drawing/2014/main" id="{BBF7B0D7-A9EB-D7AA-150C-DE025ADF58F4}"/>
              </a:ext>
            </a:extLst>
          </p:cNvPr>
          <p:cNvSpPr txBox="1"/>
          <p:nvPr/>
        </p:nvSpPr>
        <p:spPr>
          <a:xfrm>
            <a:off x="5283200" y="21209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6 / 6 · 1.00</a:t>
            </a:r>
          </a:p>
        </p:txBody>
      </p:sp>
      <p:sp>
        <p:nvSpPr>
          <p:cNvPr id="35" name="Rectangle 34">
            <a:extLst>
              <a:ext uri="{FF2B5EF4-FFF2-40B4-BE49-F238E27FC236}">
                <a16:creationId xmlns:a16="http://schemas.microsoft.com/office/drawing/2014/main" id="{B9A70823-624C-04A9-1EB8-1F7AA9E8F686}"/>
              </a:ext>
            </a:extLst>
          </p:cNvPr>
          <p:cNvSpPr/>
          <p:nvPr/>
        </p:nvSpPr>
        <p:spPr>
          <a:xfrm>
            <a:off x="6324600" y="2070100"/>
            <a:ext cx="22733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CDE2FDCF-C6B6-54D5-685B-2F49C26A6044}"/>
              </a:ext>
            </a:extLst>
          </p:cNvPr>
          <p:cNvSpPr txBox="1"/>
          <p:nvPr/>
        </p:nvSpPr>
        <p:spPr>
          <a:xfrm>
            <a:off x="6388100" y="21209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bëgg → beugg</a:t>
            </a:r>
          </a:p>
        </p:txBody>
      </p:sp>
      <p:sp>
        <p:nvSpPr>
          <p:cNvPr id="37" name="Rectangle 36">
            <a:extLst>
              <a:ext uri="{FF2B5EF4-FFF2-40B4-BE49-F238E27FC236}">
                <a16:creationId xmlns:a16="http://schemas.microsoft.com/office/drawing/2014/main" id="{C5F97C94-FE62-2B5C-58B9-59F69BB27DF5}"/>
              </a:ext>
            </a:extLst>
          </p:cNvPr>
          <p:cNvSpPr/>
          <p:nvPr/>
        </p:nvSpPr>
        <p:spPr>
          <a:xfrm>
            <a:off x="546100" y="2413000"/>
            <a:ext cx="7112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ZoneTexte 37">
            <a:extLst>
              <a:ext uri="{FF2B5EF4-FFF2-40B4-BE49-F238E27FC236}">
                <a16:creationId xmlns:a16="http://schemas.microsoft.com/office/drawing/2014/main" id="{2743740C-DACB-86DE-6792-4CBFCE64C0A9}"/>
              </a:ext>
            </a:extLst>
          </p:cNvPr>
          <p:cNvSpPr txBox="1"/>
          <p:nvPr/>
        </p:nvSpPr>
        <p:spPr>
          <a:xfrm>
            <a:off x="609600" y="24638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NOUN</a:t>
            </a:r>
          </a:p>
        </p:txBody>
      </p:sp>
      <p:sp>
        <p:nvSpPr>
          <p:cNvPr id="39" name="Rectangle 38">
            <a:extLst>
              <a:ext uri="{FF2B5EF4-FFF2-40B4-BE49-F238E27FC236}">
                <a16:creationId xmlns:a16="http://schemas.microsoft.com/office/drawing/2014/main" id="{78140125-D013-C737-9600-73CF2A2A1918}"/>
              </a:ext>
            </a:extLst>
          </p:cNvPr>
          <p:cNvSpPr/>
          <p:nvPr/>
        </p:nvSpPr>
        <p:spPr>
          <a:xfrm>
            <a:off x="1257300" y="2413000"/>
            <a:ext cx="26035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8D4BFABC-8BC2-E89C-F2F1-057D51E90779}"/>
              </a:ext>
            </a:extLst>
          </p:cNvPr>
          <p:cNvSpPr txBox="1"/>
          <p:nvPr/>
        </p:nvSpPr>
        <p:spPr>
          <a:xfrm>
            <a:off x="1320800" y="24638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word starts jà + m</a:t>
            </a:r>
          </a:p>
        </p:txBody>
      </p:sp>
      <p:sp>
        <p:nvSpPr>
          <p:cNvPr id="41" name="Rectangle 40">
            <a:extLst>
              <a:ext uri="{FF2B5EF4-FFF2-40B4-BE49-F238E27FC236}">
                <a16:creationId xmlns:a16="http://schemas.microsoft.com/office/drawing/2014/main" id="{8644164C-818E-117A-173F-154ED02FAFF4}"/>
              </a:ext>
            </a:extLst>
          </p:cNvPr>
          <p:cNvSpPr/>
          <p:nvPr/>
        </p:nvSpPr>
        <p:spPr>
          <a:xfrm>
            <a:off x="3860800" y="2413000"/>
            <a:ext cx="1358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FEF97DA6-36C3-1C5A-9D5B-B8D1588E837B}"/>
              </a:ext>
            </a:extLst>
          </p:cNvPr>
          <p:cNvSpPr txBox="1"/>
          <p:nvPr/>
        </p:nvSpPr>
        <p:spPr>
          <a:xfrm>
            <a:off x="3924300" y="24638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jà → dia</a:t>
            </a:r>
          </a:p>
        </p:txBody>
      </p:sp>
      <p:sp>
        <p:nvSpPr>
          <p:cNvPr id="43" name="Rectangle 42">
            <a:extLst>
              <a:ext uri="{FF2B5EF4-FFF2-40B4-BE49-F238E27FC236}">
                <a16:creationId xmlns:a16="http://schemas.microsoft.com/office/drawing/2014/main" id="{8F29C365-B81C-FCDA-3032-5F971DCFBBE5}"/>
              </a:ext>
            </a:extLst>
          </p:cNvPr>
          <p:cNvSpPr/>
          <p:nvPr/>
        </p:nvSpPr>
        <p:spPr>
          <a:xfrm>
            <a:off x="5219700" y="2413000"/>
            <a:ext cx="1104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ZoneTexte 43">
            <a:extLst>
              <a:ext uri="{FF2B5EF4-FFF2-40B4-BE49-F238E27FC236}">
                <a16:creationId xmlns:a16="http://schemas.microsoft.com/office/drawing/2014/main" id="{3D6829B0-E9E1-A0C0-37DA-1C0BEA50E0BD}"/>
              </a:ext>
            </a:extLst>
          </p:cNvPr>
          <p:cNvSpPr txBox="1"/>
          <p:nvPr/>
        </p:nvSpPr>
        <p:spPr>
          <a:xfrm>
            <a:off x="5283200" y="24638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6 / 6 · 1.00</a:t>
            </a:r>
          </a:p>
        </p:txBody>
      </p:sp>
      <p:sp>
        <p:nvSpPr>
          <p:cNvPr id="45" name="Rectangle 44">
            <a:extLst>
              <a:ext uri="{FF2B5EF4-FFF2-40B4-BE49-F238E27FC236}">
                <a16:creationId xmlns:a16="http://schemas.microsoft.com/office/drawing/2014/main" id="{E2784ACF-CD9B-70B8-DF55-4203F01B08E0}"/>
              </a:ext>
            </a:extLst>
          </p:cNvPr>
          <p:cNvSpPr/>
          <p:nvPr/>
        </p:nvSpPr>
        <p:spPr>
          <a:xfrm>
            <a:off x="6324600" y="2413000"/>
            <a:ext cx="22733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ZoneTexte 45">
            <a:extLst>
              <a:ext uri="{FF2B5EF4-FFF2-40B4-BE49-F238E27FC236}">
                <a16:creationId xmlns:a16="http://schemas.microsoft.com/office/drawing/2014/main" id="{D8768A72-B2A1-69CD-A32E-483A8CBC2E90}"/>
              </a:ext>
            </a:extLst>
          </p:cNvPr>
          <p:cNvSpPr txBox="1"/>
          <p:nvPr/>
        </p:nvSpPr>
        <p:spPr>
          <a:xfrm>
            <a:off x="6388100" y="24638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jàmm → diamm</a:t>
            </a:r>
          </a:p>
        </p:txBody>
      </p:sp>
      <p:sp>
        <p:nvSpPr>
          <p:cNvPr id="47" name="Rectangle 46">
            <a:extLst>
              <a:ext uri="{FF2B5EF4-FFF2-40B4-BE49-F238E27FC236}">
                <a16:creationId xmlns:a16="http://schemas.microsoft.com/office/drawing/2014/main" id="{7B62B73A-57BD-01EB-A1F8-724BEE2058AA}"/>
              </a:ext>
            </a:extLst>
          </p:cNvPr>
          <p:cNvSpPr/>
          <p:nvPr/>
        </p:nvSpPr>
        <p:spPr>
          <a:xfrm>
            <a:off x="546100" y="2755900"/>
            <a:ext cx="7112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a:extLst>
              <a:ext uri="{FF2B5EF4-FFF2-40B4-BE49-F238E27FC236}">
                <a16:creationId xmlns:a16="http://schemas.microsoft.com/office/drawing/2014/main" id="{51A12DC1-BBEA-B4E6-94BC-AC479A17DBB8}"/>
              </a:ext>
            </a:extLst>
          </p:cNvPr>
          <p:cNvSpPr txBox="1"/>
          <p:nvPr/>
        </p:nvSpPr>
        <p:spPr>
          <a:xfrm>
            <a:off x="609600" y="28067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VERB</a:t>
            </a:r>
          </a:p>
        </p:txBody>
      </p:sp>
      <p:sp>
        <p:nvSpPr>
          <p:cNvPr id="49" name="Rectangle 48">
            <a:extLst>
              <a:ext uri="{FF2B5EF4-FFF2-40B4-BE49-F238E27FC236}">
                <a16:creationId xmlns:a16="http://schemas.microsoft.com/office/drawing/2014/main" id="{207778C5-48C2-72BD-6298-7515AC51B8EF}"/>
              </a:ext>
            </a:extLst>
          </p:cNvPr>
          <p:cNvSpPr/>
          <p:nvPr/>
        </p:nvSpPr>
        <p:spPr>
          <a:xfrm>
            <a:off x="1257300" y="2755900"/>
            <a:ext cx="26035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ZoneTexte 49">
            <a:extLst>
              <a:ext uri="{FF2B5EF4-FFF2-40B4-BE49-F238E27FC236}">
                <a16:creationId xmlns:a16="http://schemas.microsoft.com/office/drawing/2014/main" id="{39EB00B5-C067-79FE-1039-03EE1CDF4211}"/>
              </a:ext>
            </a:extLst>
          </p:cNvPr>
          <p:cNvSpPr txBox="1"/>
          <p:nvPr/>
        </p:nvSpPr>
        <p:spPr>
          <a:xfrm>
            <a:off x="1320800" y="28067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m followed by u</a:t>
            </a:r>
          </a:p>
        </p:txBody>
      </p:sp>
      <p:sp>
        <p:nvSpPr>
          <p:cNvPr id="51" name="Rectangle 50">
            <a:extLst>
              <a:ext uri="{FF2B5EF4-FFF2-40B4-BE49-F238E27FC236}">
                <a16:creationId xmlns:a16="http://schemas.microsoft.com/office/drawing/2014/main" id="{608E812E-F25E-DDA7-61CF-23CA09ABE0E1}"/>
              </a:ext>
            </a:extLst>
          </p:cNvPr>
          <p:cNvSpPr/>
          <p:nvPr/>
        </p:nvSpPr>
        <p:spPr>
          <a:xfrm>
            <a:off x="3860800" y="2755900"/>
            <a:ext cx="1358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ZoneTexte 51">
            <a:extLst>
              <a:ext uri="{FF2B5EF4-FFF2-40B4-BE49-F238E27FC236}">
                <a16:creationId xmlns:a16="http://schemas.microsoft.com/office/drawing/2014/main" id="{6BEDC95E-8876-8738-1FFB-A1522CDE70DA}"/>
              </a:ext>
            </a:extLst>
          </p:cNvPr>
          <p:cNvSpPr txBox="1"/>
          <p:nvPr/>
        </p:nvSpPr>
        <p:spPr>
          <a:xfrm>
            <a:off x="3924300" y="28067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insert o</a:t>
            </a:r>
          </a:p>
        </p:txBody>
      </p:sp>
      <p:sp>
        <p:nvSpPr>
          <p:cNvPr id="53" name="Rectangle 52">
            <a:extLst>
              <a:ext uri="{FF2B5EF4-FFF2-40B4-BE49-F238E27FC236}">
                <a16:creationId xmlns:a16="http://schemas.microsoft.com/office/drawing/2014/main" id="{9E5C77B5-F48E-DBE4-0CB0-77D58BE0A858}"/>
              </a:ext>
            </a:extLst>
          </p:cNvPr>
          <p:cNvSpPr/>
          <p:nvPr/>
        </p:nvSpPr>
        <p:spPr>
          <a:xfrm>
            <a:off x="5219700" y="2755900"/>
            <a:ext cx="1104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ZoneTexte 53">
            <a:extLst>
              <a:ext uri="{FF2B5EF4-FFF2-40B4-BE49-F238E27FC236}">
                <a16:creationId xmlns:a16="http://schemas.microsoft.com/office/drawing/2014/main" id="{68D273BF-4D95-A2FB-FB86-AB34C2C71AE4}"/>
              </a:ext>
            </a:extLst>
          </p:cNvPr>
          <p:cNvSpPr txBox="1"/>
          <p:nvPr/>
        </p:nvSpPr>
        <p:spPr>
          <a:xfrm>
            <a:off x="5283200" y="28067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7 / 7 · 1.00</a:t>
            </a:r>
          </a:p>
        </p:txBody>
      </p:sp>
      <p:sp>
        <p:nvSpPr>
          <p:cNvPr id="55" name="Rectangle 54">
            <a:extLst>
              <a:ext uri="{FF2B5EF4-FFF2-40B4-BE49-F238E27FC236}">
                <a16:creationId xmlns:a16="http://schemas.microsoft.com/office/drawing/2014/main" id="{E261F286-ACA7-FDC7-79E5-FA419566E083}"/>
              </a:ext>
            </a:extLst>
          </p:cNvPr>
          <p:cNvSpPr/>
          <p:nvPr/>
        </p:nvSpPr>
        <p:spPr>
          <a:xfrm>
            <a:off x="6324600" y="2755900"/>
            <a:ext cx="22733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408EB700-56F8-2C3D-0DF4-46269DE64CD9}"/>
              </a:ext>
            </a:extLst>
          </p:cNvPr>
          <p:cNvSpPr txBox="1"/>
          <p:nvPr/>
        </p:nvSpPr>
        <p:spPr>
          <a:xfrm>
            <a:off x="6388100" y="28067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amul → amoul</a:t>
            </a:r>
          </a:p>
        </p:txBody>
      </p:sp>
      <p:sp>
        <p:nvSpPr>
          <p:cNvPr id="57" name="Rectangle 56">
            <a:extLst>
              <a:ext uri="{FF2B5EF4-FFF2-40B4-BE49-F238E27FC236}">
                <a16:creationId xmlns:a16="http://schemas.microsoft.com/office/drawing/2014/main" id="{B0302FC4-7B2C-23A5-5906-CB55E5DA0DD3}"/>
              </a:ext>
            </a:extLst>
          </p:cNvPr>
          <p:cNvSpPr/>
          <p:nvPr/>
        </p:nvSpPr>
        <p:spPr>
          <a:xfrm>
            <a:off x="546100" y="3098800"/>
            <a:ext cx="7112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ZoneTexte 57">
            <a:extLst>
              <a:ext uri="{FF2B5EF4-FFF2-40B4-BE49-F238E27FC236}">
                <a16:creationId xmlns:a16="http://schemas.microsoft.com/office/drawing/2014/main" id="{EAC464C3-839D-8877-1D6A-1E42814681EB}"/>
              </a:ext>
            </a:extLst>
          </p:cNvPr>
          <p:cNvSpPr txBox="1"/>
          <p:nvPr/>
        </p:nvSpPr>
        <p:spPr>
          <a:xfrm>
            <a:off x="609600" y="31496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NOUN</a:t>
            </a:r>
          </a:p>
        </p:txBody>
      </p:sp>
      <p:sp>
        <p:nvSpPr>
          <p:cNvPr id="59" name="Rectangle 58">
            <a:extLst>
              <a:ext uri="{FF2B5EF4-FFF2-40B4-BE49-F238E27FC236}">
                <a16:creationId xmlns:a16="http://schemas.microsoft.com/office/drawing/2014/main" id="{B5D57198-D4A2-CFF6-5058-F5EB884F3FF8}"/>
              </a:ext>
            </a:extLst>
          </p:cNvPr>
          <p:cNvSpPr/>
          <p:nvPr/>
        </p:nvSpPr>
        <p:spPr>
          <a:xfrm>
            <a:off x="1257300" y="3098800"/>
            <a:ext cx="26035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ZoneTexte 59">
            <a:extLst>
              <a:ext uri="{FF2B5EF4-FFF2-40B4-BE49-F238E27FC236}">
                <a16:creationId xmlns:a16="http://schemas.microsoft.com/office/drawing/2014/main" id="{985F28F4-95A9-7B88-BEDC-38BCAC69E721}"/>
              </a:ext>
            </a:extLst>
          </p:cNvPr>
          <p:cNvSpPr txBox="1"/>
          <p:nvPr/>
        </p:nvSpPr>
        <p:spPr>
          <a:xfrm>
            <a:off x="1320800" y="31496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word ends in m</a:t>
            </a:r>
          </a:p>
        </p:txBody>
      </p:sp>
      <p:sp>
        <p:nvSpPr>
          <p:cNvPr id="61" name="Rectangle 60">
            <a:extLst>
              <a:ext uri="{FF2B5EF4-FFF2-40B4-BE49-F238E27FC236}">
                <a16:creationId xmlns:a16="http://schemas.microsoft.com/office/drawing/2014/main" id="{F6A9F114-4161-445D-E00B-3C9C5CC6DFC4}"/>
              </a:ext>
            </a:extLst>
          </p:cNvPr>
          <p:cNvSpPr/>
          <p:nvPr/>
        </p:nvSpPr>
        <p:spPr>
          <a:xfrm>
            <a:off x="3860800" y="3098800"/>
            <a:ext cx="1358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ZoneTexte 61">
            <a:extLst>
              <a:ext uri="{FF2B5EF4-FFF2-40B4-BE49-F238E27FC236}">
                <a16:creationId xmlns:a16="http://schemas.microsoft.com/office/drawing/2014/main" id="{5EE1BAEA-6BA8-288C-BC6C-C60B80E635EC}"/>
              </a:ext>
            </a:extLst>
          </p:cNvPr>
          <p:cNvSpPr txBox="1"/>
          <p:nvPr/>
        </p:nvSpPr>
        <p:spPr>
          <a:xfrm>
            <a:off x="3924300" y="31496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append e</a:t>
            </a:r>
          </a:p>
        </p:txBody>
      </p:sp>
      <p:sp>
        <p:nvSpPr>
          <p:cNvPr id="63" name="Rectangle 62">
            <a:extLst>
              <a:ext uri="{FF2B5EF4-FFF2-40B4-BE49-F238E27FC236}">
                <a16:creationId xmlns:a16="http://schemas.microsoft.com/office/drawing/2014/main" id="{BDC24A63-7636-4A5E-F63E-979A10FB614F}"/>
              </a:ext>
            </a:extLst>
          </p:cNvPr>
          <p:cNvSpPr/>
          <p:nvPr/>
        </p:nvSpPr>
        <p:spPr>
          <a:xfrm>
            <a:off x="5219700" y="3098800"/>
            <a:ext cx="1104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ZoneTexte 63">
            <a:extLst>
              <a:ext uri="{FF2B5EF4-FFF2-40B4-BE49-F238E27FC236}">
                <a16:creationId xmlns:a16="http://schemas.microsoft.com/office/drawing/2014/main" id="{AAA5BDB4-C0A2-F881-B216-2B1748EDE4EB}"/>
              </a:ext>
            </a:extLst>
          </p:cNvPr>
          <p:cNvSpPr txBox="1"/>
          <p:nvPr/>
        </p:nvSpPr>
        <p:spPr>
          <a:xfrm>
            <a:off x="5283200" y="31496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4 / 4 · 1.00</a:t>
            </a:r>
          </a:p>
        </p:txBody>
      </p:sp>
      <p:sp>
        <p:nvSpPr>
          <p:cNvPr id="65" name="Rectangle 64">
            <a:extLst>
              <a:ext uri="{FF2B5EF4-FFF2-40B4-BE49-F238E27FC236}">
                <a16:creationId xmlns:a16="http://schemas.microsoft.com/office/drawing/2014/main" id="{6C642205-DA81-AA5F-0FF7-047766687F32}"/>
              </a:ext>
            </a:extLst>
          </p:cNvPr>
          <p:cNvSpPr/>
          <p:nvPr/>
        </p:nvSpPr>
        <p:spPr>
          <a:xfrm>
            <a:off x="6324600" y="3098800"/>
            <a:ext cx="22733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ZoneTexte 65">
            <a:extLst>
              <a:ext uri="{FF2B5EF4-FFF2-40B4-BE49-F238E27FC236}">
                <a16:creationId xmlns:a16="http://schemas.microsoft.com/office/drawing/2014/main" id="{098A3F4B-D3B1-9CE2-8E47-FA404C029CD5}"/>
              </a:ext>
            </a:extLst>
          </p:cNvPr>
          <p:cNvSpPr txBox="1"/>
          <p:nvPr/>
        </p:nvSpPr>
        <p:spPr>
          <a:xfrm>
            <a:off x="6388100" y="31496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koom-koom → koom-koome</a:t>
            </a:r>
          </a:p>
        </p:txBody>
      </p:sp>
      <p:sp>
        <p:nvSpPr>
          <p:cNvPr id="67" name="Rectangle 66">
            <a:extLst>
              <a:ext uri="{FF2B5EF4-FFF2-40B4-BE49-F238E27FC236}">
                <a16:creationId xmlns:a16="http://schemas.microsoft.com/office/drawing/2014/main" id="{49945849-0DC6-0F5B-0642-9697796A36A7}"/>
              </a:ext>
            </a:extLst>
          </p:cNvPr>
          <p:cNvSpPr/>
          <p:nvPr/>
        </p:nvSpPr>
        <p:spPr>
          <a:xfrm>
            <a:off x="546100" y="3441700"/>
            <a:ext cx="7112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ZoneTexte 67">
            <a:extLst>
              <a:ext uri="{FF2B5EF4-FFF2-40B4-BE49-F238E27FC236}">
                <a16:creationId xmlns:a16="http://schemas.microsoft.com/office/drawing/2014/main" id="{2009EAE8-113C-9C27-10FA-92EADFD4C87A}"/>
              </a:ext>
            </a:extLst>
          </p:cNvPr>
          <p:cNvSpPr txBox="1"/>
          <p:nvPr/>
        </p:nvSpPr>
        <p:spPr>
          <a:xfrm>
            <a:off x="609600" y="34925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VERB</a:t>
            </a:r>
          </a:p>
        </p:txBody>
      </p:sp>
      <p:sp>
        <p:nvSpPr>
          <p:cNvPr id="69" name="Rectangle 68">
            <a:extLst>
              <a:ext uri="{FF2B5EF4-FFF2-40B4-BE49-F238E27FC236}">
                <a16:creationId xmlns:a16="http://schemas.microsoft.com/office/drawing/2014/main" id="{36A999E2-2BB0-30FB-47BC-890541EDFEC8}"/>
              </a:ext>
            </a:extLst>
          </p:cNvPr>
          <p:cNvSpPr/>
          <p:nvPr/>
        </p:nvSpPr>
        <p:spPr>
          <a:xfrm>
            <a:off x="1257300" y="3441700"/>
            <a:ext cx="26035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ZoneTexte 69">
            <a:extLst>
              <a:ext uri="{FF2B5EF4-FFF2-40B4-BE49-F238E27FC236}">
                <a16:creationId xmlns:a16="http://schemas.microsoft.com/office/drawing/2014/main" id="{350AAF0F-6089-5498-E4CC-C87E2DA45FC2}"/>
              </a:ext>
            </a:extLst>
          </p:cNvPr>
          <p:cNvSpPr txBox="1"/>
          <p:nvPr/>
        </p:nvSpPr>
        <p:spPr>
          <a:xfrm>
            <a:off x="1320800" y="34925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word ends in l</a:t>
            </a:r>
          </a:p>
        </p:txBody>
      </p:sp>
      <p:sp>
        <p:nvSpPr>
          <p:cNvPr id="71" name="Rectangle 70">
            <a:extLst>
              <a:ext uri="{FF2B5EF4-FFF2-40B4-BE49-F238E27FC236}">
                <a16:creationId xmlns:a16="http://schemas.microsoft.com/office/drawing/2014/main" id="{43E1EB65-8FB3-2487-989F-FCDBBC6177E8}"/>
              </a:ext>
            </a:extLst>
          </p:cNvPr>
          <p:cNvSpPr/>
          <p:nvPr/>
        </p:nvSpPr>
        <p:spPr>
          <a:xfrm>
            <a:off x="3860800" y="3441700"/>
            <a:ext cx="1358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ZoneTexte 71">
            <a:extLst>
              <a:ext uri="{FF2B5EF4-FFF2-40B4-BE49-F238E27FC236}">
                <a16:creationId xmlns:a16="http://schemas.microsoft.com/office/drawing/2014/main" id="{6EC0F456-903C-F193-2C60-ACCC42F05ABE}"/>
              </a:ext>
            </a:extLst>
          </p:cNvPr>
          <p:cNvSpPr txBox="1"/>
          <p:nvPr/>
        </p:nvSpPr>
        <p:spPr>
          <a:xfrm>
            <a:off x="3924300" y="34925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append e</a:t>
            </a:r>
          </a:p>
        </p:txBody>
      </p:sp>
      <p:sp>
        <p:nvSpPr>
          <p:cNvPr id="73" name="Rectangle 72">
            <a:extLst>
              <a:ext uri="{FF2B5EF4-FFF2-40B4-BE49-F238E27FC236}">
                <a16:creationId xmlns:a16="http://schemas.microsoft.com/office/drawing/2014/main" id="{7AF75381-3995-44DA-72EC-9597972579C8}"/>
              </a:ext>
            </a:extLst>
          </p:cNvPr>
          <p:cNvSpPr/>
          <p:nvPr/>
        </p:nvSpPr>
        <p:spPr>
          <a:xfrm>
            <a:off x="5219700" y="3441700"/>
            <a:ext cx="11049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73">
            <a:extLst>
              <a:ext uri="{FF2B5EF4-FFF2-40B4-BE49-F238E27FC236}">
                <a16:creationId xmlns:a16="http://schemas.microsoft.com/office/drawing/2014/main" id="{CA6DF6DC-6E34-6F94-0C1F-FF15158FB75C}"/>
              </a:ext>
            </a:extLst>
          </p:cNvPr>
          <p:cNvSpPr txBox="1"/>
          <p:nvPr/>
        </p:nvSpPr>
        <p:spPr>
          <a:xfrm>
            <a:off x="5283200" y="34925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2 / 2 · 1.00</a:t>
            </a:r>
          </a:p>
        </p:txBody>
      </p:sp>
      <p:sp>
        <p:nvSpPr>
          <p:cNvPr id="75" name="Rectangle 74">
            <a:extLst>
              <a:ext uri="{FF2B5EF4-FFF2-40B4-BE49-F238E27FC236}">
                <a16:creationId xmlns:a16="http://schemas.microsoft.com/office/drawing/2014/main" id="{FBAF3729-7C56-B99F-0A4A-9B65BBF2A699}"/>
              </a:ext>
            </a:extLst>
          </p:cNvPr>
          <p:cNvSpPr/>
          <p:nvPr/>
        </p:nvSpPr>
        <p:spPr>
          <a:xfrm>
            <a:off x="6324600" y="3441700"/>
            <a:ext cx="2273300" cy="342900"/>
          </a:xfrm>
          <a:prstGeom prst="rect">
            <a:avLst/>
          </a:prstGeom>
          <a:solidFill>
            <a:srgbClr val="F6F7FA"/>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ZoneTexte 75">
            <a:extLst>
              <a:ext uri="{FF2B5EF4-FFF2-40B4-BE49-F238E27FC236}">
                <a16:creationId xmlns:a16="http://schemas.microsoft.com/office/drawing/2014/main" id="{66049D72-F9AF-D450-EF89-9BEBF045B24B}"/>
              </a:ext>
            </a:extLst>
          </p:cNvPr>
          <p:cNvSpPr txBox="1"/>
          <p:nvPr/>
        </p:nvSpPr>
        <p:spPr>
          <a:xfrm>
            <a:off x="6388100" y="34925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sonal → sonale</a:t>
            </a:r>
          </a:p>
        </p:txBody>
      </p:sp>
      <p:sp>
        <p:nvSpPr>
          <p:cNvPr id="77" name="Rectangle 76">
            <a:extLst>
              <a:ext uri="{FF2B5EF4-FFF2-40B4-BE49-F238E27FC236}">
                <a16:creationId xmlns:a16="http://schemas.microsoft.com/office/drawing/2014/main" id="{6FCB615F-A06E-974E-39B2-035313808F46}"/>
              </a:ext>
            </a:extLst>
          </p:cNvPr>
          <p:cNvSpPr/>
          <p:nvPr/>
        </p:nvSpPr>
        <p:spPr>
          <a:xfrm>
            <a:off x="546100" y="3784600"/>
            <a:ext cx="7112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ZoneTexte 77">
            <a:extLst>
              <a:ext uri="{FF2B5EF4-FFF2-40B4-BE49-F238E27FC236}">
                <a16:creationId xmlns:a16="http://schemas.microsoft.com/office/drawing/2014/main" id="{B0691A75-2F8D-9396-A93C-4497B8020D65}"/>
              </a:ext>
            </a:extLst>
          </p:cNvPr>
          <p:cNvSpPr txBox="1"/>
          <p:nvPr/>
        </p:nvSpPr>
        <p:spPr>
          <a:xfrm>
            <a:off x="609600" y="3835400"/>
            <a:ext cx="584200" cy="215444"/>
          </a:xfrm>
          <a:prstGeom prst="rect">
            <a:avLst/>
          </a:prstGeom>
          <a:noFill/>
        </p:spPr>
        <p:txBody>
          <a:bodyPr vert="horz" wrap="square" lIns="0" tIns="0" rIns="0" bIns="0" rtlCol="0" anchor="ctr">
            <a:noAutofit/>
          </a:bodyPr>
          <a:lstStyle/>
          <a:p>
            <a:pPr algn="ctr"/>
            <a:r>
              <a:rPr lang="fr-FR" sz="770" b="1">
                <a:solidFill>
                  <a:srgbClr val="57658D"/>
                </a:solidFill>
                <a:latin typeface="Arial" panose="020B0604020202020204" pitchFamily="34" charset="0"/>
              </a:rPr>
              <a:t>VERB</a:t>
            </a:r>
          </a:p>
        </p:txBody>
      </p:sp>
      <p:sp>
        <p:nvSpPr>
          <p:cNvPr id="79" name="Rectangle 78">
            <a:extLst>
              <a:ext uri="{FF2B5EF4-FFF2-40B4-BE49-F238E27FC236}">
                <a16:creationId xmlns:a16="http://schemas.microsoft.com/office/drawing/2014/main" id="{6833367D-AEBB-D826-163C-EC20B00BCF6A}"/>
              </a:ext>
            </a:extLst>
          </p:cNvPr>
          <p:cNvSpPr/>
          <p:nvPr/>
        </p:nvSpPr>
        <p:spPr>
          <a:xfrm>
            <a:off x="1257300" y="3784600"/>
            <a:ext cx="26035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ZoneTexte 79">
            <a:extLst>
              <a:ext uri="{FF2B5EF4-FFF2-40B4-BE49-F238E27FC236}">
                <a16:creationId xmlns:a16="http://schemas.microsoft.com/office/drawing/2014/main" id="{4C674704-1B2E-C03D-1D4F-16365252F4E3}"/>
              </a:ext>
            </a:extLst>
          </p:cNvPr>
          <p:cNvSpPr txBox="1"/>
          <p:nvPr/>
        </p:nvSpPr>
        <p:spPr>
          <a:xfrm>
            <a:off x="1320800" y="3835400"/>
            <a:ext cx="2476500" cy="215444"/>
          </a:xfrm>
          <a:prstGeom prst="rect">
            <a:avLst/>
          </a:prstGeom>
          <a:noFill/>
        </p:spPr>
        <p:txBody>
          <a:bodyPr vert="horz" wrap="square" lIns="0" tIns="0" rIns="0" bIns="0" rtlCol="0" anchor="ctr">
            <a:noAutofit/>
          </a:bodyPr>
          <a:lstStyle/>
          <a:p>
            <a:r>
              <a:rPr lang="fr-FR" sz="800">
                <a:solidFill>
                  <a:srgbClr val="1F242E"/>
                </a:solidFill>
                <a:latin typeface="Arial" panose="020B0604020202020204" pitchFamily="34" charset="0"/>
              </a:rPr>
              <a:t>word ends in kk</a:t>
            </a:r>
          </a:p>
        </p:txBody>
      </p:sp>
      <p:sp>
        <p:nvSpPr>
          <p:cNvPr id="81" name="Rectangle 80">
            <a:extLst>
              <a:ext uri="{FF2B5EF4-FFF2-40B4-BE49-F238E27FC236}">
                <a16:creationId xmlns:a16="http://schemas.microsoft.com/office/drawing/2014/main" id="{801D7A5B-7E84-BDCA-3380-98D80DF244F4}"/>
              </a:ext>
            </a:extLst>
          </p:cNvPr>
          <p:cNvSpPr/>
          <p:nvPr/>
        </p:nvSpPr>
        <p:spPr>
          <a:xfrm>
            <a:off x="3860800" y="3784600"/>
            <a:ext cx="1358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ZoneTexte 81">
            <a:extLst>
              <a:ext uri="{FF2B5EF4-FFF2-40B4-BE49-F238E27FC236}">
                <a16:creationId xmlns:a16="http://schemas.microsoft.com/office/drawing/2014/main" id="{ECD0CA46-71CC-76B7-09AE-3F9893CBA594}"/>
              </a:ext>
            </a:extLst>
          </p:cNvPr>
          <p:cNvSpPr txBox="1"/>
          <p:nvPr/>
        </p:nvSpPr>
        <p:spPr>
          <a:xfrm>
            <a:off x="3924300" y="3835400"/>
            <a:ext cx="1231900" cy="215444"/>
          </a:xfrm>
          <a:prstGeom prst="rect">
            <a:avLst/>
          </a:prstGeom>
          <a:noFill/>
        </p:spPr>
        <p:txBody>
          <a:bodyPr vert="horz" wrap="square" lIns="0" tIns="0" rIns="0" bIns="0" rtlCol="0" anchor="ctr">
            <a:noAutofit/>
          </a:bodyPr>
          <a:lstStyle/>
          <a:p>
            <a:pPr algn="ctr"/>
            <a:r>
              <a:rPr lang="fr-FR" sz="820" b="1">
                <a:solidFill>
                  <a:srgbClr val="976F1D"/>
                </a:solidFill>
                <a:latin typeface="Arial" panose="020B0604020202020204" pitchFamily="34" charset="0"/>
              </a:rPr>
              <a:t>delete final k</a:t>
            </a:r>
          </a:p>
        </p:txBody>
      </p:sp>
      <p:sp>
        <p:nvSpPr>
          <p:cNvPr id="83" name="Rectangle 82">
            <a:extLst>
              <a:ext uri="{FF2B5EF4-FFF2-40B4-BE49-F238E27FC236}">
                <a16:creationId xmlns:a16="http://schemas.microsoft.com/office/drawing/2014/main" id="{5CF755AA-7A38-7D0A-0B27-E48C663E9472}"/>
              </a:ext>
            </a:extLst>
          </p:cNvPr>
          <p:cNvSpPr/>
          <p:nvPr/>
        </p:nvSpPr>
        <p:spPr>
          <a:xfrm>
            <a:off x="5219700" y="3784600"/>
            <a:ext cx="11049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ZoneTexte 83">
            <a:extLst>
              <a:ext uri="{FF2B5EF4-FFF2-40B4-BE49-F238E27FC236}">
                <a16:creationId xmlns:a16="http://schemas.microsoft.com/office/drawing/2014/main" id="{A8684326-EA93-2975-7AE7-7911BF96573D}"/>
              </a:ext>
            </a:extLst>
          </p:cNvPr>
          <p:cNvSpPr txBox="1"/>
          <p:nvPr/>
        </p:nvSpPr>
        <p:spPr>
          <a:xfrm>
            <a:off x="5283200" y="3835400"/>
            <a:ext cx="977900" cy="215444"/>
          </a:xfrm>
          <a:prstGeom prst="rect">
            <a:avLst/>
          </a:prstGeom>
          <a:noFill/>
        </p:spPr>
        <p:txBody>
          <a:bodyPr vert="horz" wrap="square" lIns="0" tIns="0" rIns="0" bIns="0" rtlCol="0" anchor="ctr">
            <a:noAutofit/>
          </a:bodyPr>
          <a:lstStyle/>
          <a:p>
            <a:pPr algn="ctr"/>
            <a:r>
              <a:rPr lang="fr-FR" sz="770">
                <a:solidFill>
                  <a:srgbClr val="1F242E"/>
                </a:solidFill>
                <a:latin typeface="Arial" panose="020B0604020202020204" pitchFamily="34" charset="0"/>
              </a:rPr>
              <a:t>3 / 3 · 1.00</a:t>
            </a:r>
          </a:p>
        </p:txBody>
      </p:sp>
      <p:sp>
        <p:nvSpPr>
          <p:cNvPr id="85" name="Rectangle 84">
            <a:extLst>
              <a:ext uri="{FF2B5EF4-FFF2-40B4-BE49-F238E27FC236}">
                <a16:creationId xmlns:a16="http://schemas.microsoft.com/office/drawing/2014/main" id="{0EC121B0-FC61-149E-0E89-2E6590248618}"/>
              </a:ext>
            </a:extLst>
          </p:cNvPr>
          <p:cNvSpPr/>
          <p:nvPr/>
        </p:nvSpPr>
        <p:spPr>
          <a:xfrm>
            <a:off x="6324600" y="3784600"/>
            <a:ext cx="2273300" cy="342900"/>
          </a:xfrm>
          <a:prstGeom prst="rect">
            <a:avLst/>
          </a:prstGeom>
          <a:solidFill>
            <a:srgbClr val="FFFFFF"/>
          </a:solidFill>
          <a:ln w="5715">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ZoneTexte 85">
            <a:extLst>
              <a:ext uri="{FF2B5EF4-FFF2-40B4-BE49-F238E27FC236}">
                <a16:creationId xmlns:a16="http://schemas.microsoft.com/office/drawing/2014/main" id="{9BDD26B8-5AC9-10D3-C242-E0BA127820E7}"/>
              </a:ext>
            </a:extLst>
          </p:cNvPr>
          <p:cNvSpPr txBox="1"/>
          <p:nvPr/>
        </p:nvSpPr>
        <p:spPr>
          <a:xfrm>
            <a:off x="6388100" y="3835400"/>
            <a:ext cx="2146300" cy="215444"/>
          </a:xfrm>
          <a:prstGeom prst="rect">
            <a:avLst/>
          </a:prstGeom>
          <a:noFill/>
        </p:spPr>
        <p:txBody>
          <a:bodyPr vert="horz" wrap="square" lIns="0" tIns="0" rIns="0" bIns="0" rtlCol="0" anchor="ctr">
            <a:noAutofit/>
          </a:bodyPr>
          <a:lstStyle/>
          <a:p>
            <a:r>
              <a:rPr lang="fr-FR" sz="800" b="1">
                <a:solidFill>
                  <a:srgbClr val="0F3046"/>
                </a:solidFill>
                <a:latin typeface="Arial" panose="020B0604020202020204" pitchFamily="34" charset="0"/>
              </a:rPr>
              <a:t>nekk → nek</a:t>
            </a:r>
          </a:p>
        </p:txBody>
      </p:sp>
      <p:sp>
        <p:nvSpPr>
          <p:cNvPr id="87" name="ZoneTexte 86">
            <a:extLst>
              <a:ext uri="{FF2B5EF4-FFF2-40B4-BE49-F238E27FC236}">
                <a16:creationId xmlns:a16="http://schemas.microsoft.com/office/drawing/2014/main" id="{253DA45F-A46C-6A50-64CD-FD1B14FAB48B}"/>
              </a:ext>
            </a:extLst>
          </p:cNvPr>
          <p:cNvSpPr txBox="1"/>
          <p:nvPr/>
        </p:nvSpPr>
        <p:spPr>
          <a:xfrm>
            <a:off x="546100" y="4318000"/>
            <a:ext cx="8051800" cy="215444"/>
          </a:xfrm>
          <a:prstGeom prst="rect">
            <a:avLst/>
          </a:prstGeom>
          <a:noFill/>
        </p:spPr>
        <p:txBody>
          <a:bodyPr vert="horz" wrap="square" lIns="0" tIns="0" rIns="0" bIns="0" rtlCol="0">
            <a:noAutofit/>
          </a:bodyPr>
          <a:lstStyle/>
          <a:p>
            <a:pPr algn="ctr"/>
            <a:r>
              <a:rPr lang="en-US" sz="825" b="1">
                <a:solidFill>
                  <a:srgbClr val="57658D"/>
                </a:solidFill>
                <a:latin typeface="Arial" panose="020B0604020202020204" pitchFamily="34" charset="0"/>
              </a:rPr>
              <a:t>Candidate rule = POS + operation + edited segment + immediate left/right context. Overlaps and protected spans are rejected during generation.</a:t>
            </a:r>
            <a:endParaRPr lang="fr-FR" sz="825" b="1">
              <a:solidFill>
                <a:srgbClr val="57658D"/>
              </a:solidFill>
              <a:latin typeface="Arial" panose="020B0604020202020204" pitchFamily="34" charset="0"/>
            </a:endParaRPr>
          </a:p>
        </p:txBody>
      </p:sp>
      <p:sp>
        <p:nvSpPr>
          <p:cNvPr id="88" name="Rectangle 87">
            <a:extLst>
              <a:ext uri="{FF2B5EF4-FFF2-40B4-BE49-F238E27FC236}">
                <a16:creationId xmlns:a16="http://schemas.microsoft.com/office/drawing/2014/main" id="{649C1AF6-B72E-B087-EA11-00B4B5324CF8}"/>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 coins arrondis 88">
            <a:extLst>
              <a:ext uri="{FF2B5EF4-FFF2-40B4-BE49-F238E27FC236}">
                <a16:creationId xmlns:a16="http://schemas.microsoft.com/office/drawing/2014/main" id="{D7370844-F111-4C99-34B1-C18C954C0A65}"/>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ZoneTexte 89">
            <a:extLst>
              <a:ext uri="{FF2B5EF4-FFF2-40B4-BE49-F238E27FC236}">
                <a16:creationId xmlns:a16="http://schemas.microsoft.com/office/drawing/2014/main" id="{C62F488F-AC65-3A1C-528D-B9F0ABCFDC1A}"/>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91" name="ZoneTexte 90">
            <a:extLst>
              <a:ext uri="{FF2B5EF4-FFF2-40B4-BE49-F238E27FC236}">
                <a16:creationId xmlns:a16="http://schemas.microsoft.com/office/drawing/2014/main" id="{EB457170-2182-FCCA-10DF-87B245760AD7}"/>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92" name="ZoneTexte 91">
            <a:extLst>
              <a:ext uri="{FF2B5EF4-FFF2-40B4-BE49-F238E27FC236}">
                <a16:creationId xmlns:a16="http://schemas.microsoft.com/office/drawing/2014/main" id="{85FC1E0B-4B84-EDAD-6806-28CEAA0E1919}"/>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M6 contextual rules</a:t>
            </a:r>
          </a:p>
        </p:txBody>
      </p:sp>
      <p:sp>
        <p:nvSpPr>
          <p:cNvPr id="93" name="ZoneTexte 92">
            <a:extLst>
              <a:ext uri="{FF2B5EF4-FFF2-40B4-BE49-F238E27FC236}">
                <a16:creationId xmlns:a16="http://schemas.microsoft.com/office/drawing/2014/main" id="{680A681D-4DCA-27CC-A469-042095AC9823}"/>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35 / 36</a:t>
            </a:r>
          </a:p>
        </p:txBody>
      </p:sp>
      <p:pic>
        <p:nvPicPr>
          <p:cNvPr id="95" name="Image 94">
            <a:extLst>
              <a:ext uri="{FF2B5EF4-FFF2-40B4-BE49-F238E27FC236}">
                <a16:creationId xmlns:a16="http://schemas.microsoft.com/office/drawing/2014/main" id="{4E049915-A206-3567-38C0-174D10D743F1}"/>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521360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 coins arrondis 2">
            <a:extLst>
              <a:ext uri="{FF2B5EF4-FFF2-40B4-BE49-F238E27FC236}">
                <a16:creationId xmlns:a16="http://schemas.microsoft.com/office/drawing/2014/main" id="{9F159F64-E131-BDC7-44D1-87BB894B4BA7}"/>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B50EB616-D082-93F5-510C-6ACEE8328D8C}"/>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5" name="ZoneTexte 4">
            <a:extLst>
              <a:ext uri="{FF2B5EF4-FFF2-40B4-BE49-F238E27FC236}">
                <a16:creationId xmlns:a16="http://schemas.microsoft.com/office/drawing/2014/main" id="{0793E0BD-58C6-4C67-2B3A-C9DB6CBA3800}"/>
              </a:ext>
            </a:extLst>
          </p:cNvPr>
          <p:cNvSpPr txBox="1"/>
          <p:nvPr/>
        </p:nvSpPr>
        <p:spPr>
          <a:xfrm>
            <a:off x="546100" y="749300"/>
            <a:ext cx="8064500" cy="457200"/>
          </a:xfrm>
          <a:prstGeom prst="rect">
            <a:avLst/>
          </a:prstGeom>
          <a:noFill/>
        </p:spPr>
        <p:txBody>
          <a:bodyPr vert="horz" wrap="square" lIns="0" tIns="0" rIns="0" bIns="0" rtlCol="0">
            <a:noAutofit/>
          </a:bodyPr>
          <a:lstStyle/>
          <a:p>
            <a:r>
              <a:rPr lang="en-US" sz="2050" b="1">
                <a:solidFill>
                  <a:srgbClr val="57658D"/>
                </a:solidFill>
                <a:latin typeface="Arial" panose="020B0604020202020204" pitchFamily="34" charset="0"/>
              </a:rPr>
              <a:t>How M6 combines mappings and contextual rules</a:t>
            </a:r>
            <a:endParaRPr lang="fr-FR" sz="2050" b="1">
              <a:solidFill>
                <a:srgbClr val="57658D"/>
              </a:solidFill>
              <a:latin typeface="Arial" panose="020B0604020202020204" pitchFamily="34" charset="0"/>
            </a:endParaRPr>
          </a:p>
        </p:txBody>
      </p:sp>
      <p:sp>
        <p:nvSpPr>
          <p:cNvPr id="6" name="ZoneTexte 5">
            <a:extLst>
              <a:ext uri="{FF2B5EF4-FFF2-40B4-BE49-F238E27FC236}">
                <a16:creationId xmlns:a16="http://schemas.microsoft.com/office/drawing/2014/main" id="{179AB88B-88E3-D1B1-FD54-696DAF68C4DB}"/>
              </a:ext>
            </a:extLst>
          </p:cNvPr>
          <p:cNvSpPr txBox="1"/>
          <p:nvPr/>
        </p:nvSpPr>
        <p:spPr>
          <a:xfrm>
            <a:off x="546100" y="1104900"/>
            <a:ext cx="8064500" cy="215444"/>
          </a:xfrm>
          <a:prstGeom prst="rect">
            <a:avLst/>
          </a:prstGeom>
          <a:noFill/>
        </p:spPr>
        <p:txBody>
          <a:bodyPr vert="horz" wrap="square" lIns="0" tIns="0" rIns="0" bIns="0" rtlCol="0">
            <a:noAutofit/>
          </a:bodyPr>
          <a:lstStyle/>
          <a:p>
            <a:r>
              <a:rPr lang="en-US" sz="920" i="1">
                <a:solidFill>
                  <a:srgbClr val="57658D"/>
                </a:solidFill>
                <a:latin typeface="Arial" panose="020B0604020202020204" pitchFamily="34" charset="0"/>
              </a:rPr>
              <a:t>Two recorded rows from the full M6 export</a:t>
            </a:r>
            <a:endParaRPr lang="fr-FR" sz="920" i="1">
              <a:solidFill>
                <a:srgbClr val="57658D"/>
              </a:solidFill>
              <a:latin typeface="Arial" panose="020B0604020202020204" pitchFamily="34" charset="0"/>
            </a:endParaRPr>
          </a:p>
        </p:txBody>
      </p:sp>
      <p:sp>
        <p:nvSpPr>
          <p:cNvPr id="7" name="Rectangle 6">
            <a:extLst>
              <a:ext uri="{FF2B5EF4-FFF2-40B4-BE49-F238E27FC236}">
                <a16:creationId xmlns:a16="http://schemas.microsoft.com/office/drawing/2014/main" id="{D6EA6B70-9CC8-758C-A2E0-C42BFAE47C99}"/>
              </a:ext>
            </a:extLst>
          </p:cNvPr>
          <p:cNvSpPr/>
          <p:nvPr/>
        </p:nvSpPr>
        <p:spPr>
          <a:xfrm>
            <a:off x="546100" y="1371600"/>
            <a:ext cx="8051800" cy="1358900"/>
          </a:xfrm>
          <a:prstGeom prst="rect">
            <a:avLst/>
          </a:prstGeom>
          <a:solidFill>
            <a:srgbClr val="FFFFFF"/>
          </a:solidFill>
          <a:ln w="10160">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02C7E62-2B0B-4C3F-2E40-259BC76FD0A1}"/>
              </a:ext>
            </a:extLst>
          </p:cNvPr>
          <p:cNvSpPr/>
          <p:nvPr/>
        </p:nvSpPr>
        <p:spPr>
          <a:xfrm>
            <a:off x="546100" y="1371600"/>
            <a:ext cx="50800" cy="1358900"/>
          </a:xfrm>
          <a:prstGeom prst="rect">
            <a:avLst/>
          </a:prstGeom>
          <a:solidFill>
            <a:srgbClr val="0F3046"/>
          </a:solidFill>
          <a:ln w="0">
            <a:solidFill>
              <a:srgbClr val="0F3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66721F5-76A3-6695-2F21-83C888834E59}"/>
              </a:ext>
            </a:extLst>
          </p:cNvPr>
          <p:cNvSpPr txBox="1"/>
          <p:nvPr/>
        </p:nvSpPr>
        <p:spPr>
          <a:xfrm>
            <a:off x="723900" y="1498600"/>
            <a:ext cx="7556500" cy="215444"/>
          </a:xfrm>
          <a:prstGeom prst="rect">
            <a:avLst/>
          </a:prstGeom>
          <a:noFill/>
        </p:spPr>
        <p:txBody>
          <a:bodyPr vert="horz" wrap="square" lIns="0" tIns="0" rIns="0" bIns="0" rtlCol="0">
            <a:noAutofit/>
          </a:bodyPr>
          <a:lstStyle/>
          <a:p>
            <a:r>
              <a:rPr lang="en-US" sz="880" b="1">
                <a:solidFill>
                  <a:srgbClr val="0F3046"/>
                </a:solidFill>
                <a:latin typeface="Arial" panose="020B0604020202020204" pitchFamily="34" charset="0"/>
              </a:rPr>
              <a:t>EXAMPLE A · one lexical mapping + one contextual rule</a:t>
            </a:r>
            <a:endParaRPr lang="fr-FR" sz="880" b="1">
              <a:solidFill>
                <a:srgbClr val="0F3046"/>
              </a:solidFill>
              <a:latin typeface="Arial" panose="020B0604020202020204" pitchFamily="34" charset="0"/>
            </a:endParaRPr>
          </a:p>
        </p:txBody>
      </p:sp>
      <p:sp>
        <p:nvSpPr>
          <p:cNvPr id="10" name="ZoneTexte 9">
            <a:extLst>
              <a:ext uri="{FF2B5EF4-FFF2-40B4-BE49-F238E27FC236}">
                <a16:creationId xmlns:a16="http://schemas.microsoft.com/office/drawing/2014/main" id="{04985251-299D-B822-9DAA-4B056C271B94}"/>
              </a:ext>
            </a:extLst>
          </p:cNvPr>
          <p:cNvSpPr txBox="1"/>
          <p:nvPr/>
        </p:nvSpPr>
        <p:spPr>
          <a:xfrm>
            <a:off x="723900" y="17780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Formal</a:t>
            </a:r>
          </a:p>
        </p:txBody>
      </p:sp>
      <p:sp>
        <p:nvSpPr>
          <p:cNvPr id="11" name="ZoneTexte 10">
            <a:extLst>
              <a:ext uri="{FF2B5EF4-FFF2-40B4-BE49-F238E27FC236}">
                <a16:creationId xmlns:a16="http://schemas.microsoft.com/office/drawing/2014/main" id="{ABA09A5B-27D2-ED8C-AA1B-F6D5B215463E}"/>
              </a:ext>
            </a:extLst>
          </p:cNvPr>
          <p:cNvSpPr txBox="1"/>
          <p:nvPr/>
        </p:nvSpPr>
        <p:spPr>
          <a:xfrm>
            <a:off x="1473200" y="1752600"/>
            <a:ext cx="6807200" cy="215444"/>
          </a:xfrm>
          <a:prstGeom prst="rect">
            <a:avLst/>
          </a:prstGeom>
          <a:noFill/>
        </p:spPr>
        <p:txBody>
          <a:bodyPr vert="horz" wrap="square" lIns="0" tIns="0" rIns="0" bIns="0" rtlCol="0">
            <a:noAutofit/>
          </a:bodyPr>
          <a:lstStyle/>
          <a:p>
            <a:r>
              <a:rPr lang="it-IT" sz="900">
                <a:solidFill>
                  <a:srgbClr val="1F242E"/>
                </a:solidFill>
                <a:latin typeface="Arial" panose="020B0604020202020204" pitchFamily="34" charset="0"/>
              </a:rPr>
              <a:t>Areen bi amul mbër bu la mën a sonal.</a:t>
            </a:r>
            <a:endParaRPr lang="fr-FR" sz="900">
              <a:solidFill>
                <a:srgbClr val="1F242E"/>
              </a:solidFill>
              <a:latin typeface="Arial" panose="020B0604020202020204" pitchFamily="34" charset="0"/>
            </a:endParaRPr>
          </a:p>
        </p:txBody>
      </p:sp>
      <p:sp>
        <p:nvSpPr>
          <p:cNvPr id="12" name="ZoneTexte 11">
            <a:extLst>
              <a:ext uri="{FF2B5EF4-FFF2-40B4-BE49-F238E27FC236}">
                <a16:creationId xmlns:a16="http://schemas.microsoft.com/office/drawing/2014/main" id="{34270862-899F-05DD-FBB9-FF964F59990F}"/>
              </a:ext>
            </a:extLst>
          </p:cNvPr>
          <p:cNvSpPr txBox="1"/>
          <p:nvPr/>
        </p:nvSpPr>
        <p:spPr>
          <a:xfrm>
            <a:off x="723900" y="20320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Evidence</a:t>
            </a:r>
          </a:p>
        </p:txBody>
      </p:sp>
      <p:sp>
        <p:nvSpPr>
          <p:cNvPr id="13" name="ZoneTexte 12">
            <a:extLst>
              <a:ext uri="{FF2B5EF4-FFF2-40B4-BE49-F238E27FC236}">
                <a16:creationId xmlns:a16="http://schemas.microsoft.com/office/drawing/2014/main" id="{2B9D1571-9630-1EE5-7EA7-E005FDFF77CF}"/>
              </a:ext>
            </a:extLst>
          </p:cNvPr>
          <p:cNvSpPr txBox="1"/>
          <p:nvPr/>
        </p:nvSpPr>
        <p:spPr>
          <a:xfrm>
            <a:off x="1473200" y="2006600"/>
            <a:ext cx="6807200" cy="215444"/>
          </a:xfrm>
          <a:prstGeom prst="rect">
            <a:avLst/>
          </a:prstGeom>
          <a:noFill/>
        </p:spPr>
        <p:txBody>
          <a:bodyPr vert="horz" wrap="square" lIns="0" tIns="0" rIns="0" bIns="0" rtlCol="0">
            <a:noAutofit/>
          </a:bodyPr>
          <a:lstStyle/>
          <a:p>
            <a:r>
              <a:rPr lang="fr-FR" sz="820">
                <a:solidFill>
                  <a:srgbClr val="976F1D"/>
                </a:solidFill>
                <a:latin typeface="Arial" panose="020B0604020202020204" pitchFamily="34" charset="0"/>
              </a:rPr>
              <a:t>amul → amoul  [mapping 1/1]     +     sonal → sonale  [VERB: append final e after l, 2/2]</a:t>
            </a:r>
          </a:p>
        </p:txBody>
      </p:sp>
      <p:sp>
        <p:nvSpPr>
          <p:cNvPr id="14" name="ZoneTexte 13">
            <a:extLst>
              <a:ext uri="{FF2B5EF4-FFF2-40B4-BE49-F238E27FC236}">
                <a16:creationId xmlns:a16="http://schemas.microsoft.com/office/drawing/2014/main" id="{A13426F1-28F3-F27F-FE7C-020BC5CC2FE7}"/>
              </a:ext>
            </a:extLst>
          </p:cNvPr>
          <p:cNvSpPr txBox="1"/>
          <p:nvPr/>
        </p:nvSpPr>
        <p:spPr>
          <a:xfrm>
            <a:off x="723900" y="23495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Output</a:t>
            </a:r>
          </a:p>
        </p:txBody>
      </p:sp>
      <p:sp>
        <p:nvSpPr>
          <p:cNvPr id="15" name="ZoneTexte 14">
            <a:extLst>
              <a:ext uri="{FF2B5EF4-FFF2-40B4-BE49-F238E27FC236}">
                <a16:creationId xmlns:a16="http://schemas.microsoft.com/office/drawing/2014/main" id="{E0169EF8-17A0-27F3-C5F9-64E1D6B07C74}"/>
              </a:ext>
            </a:extLst>
          </p:cNvPr>
          <p:cNvSpPr txBox="1"/>
          <p:nvPr/>
        </p:nvSpPr>
        <p:spPr>
          <a:xfrm>
            <a:off x="1473200" y="2311400"/>
            <a:ext cx="6807200" cy="215444"/>
          </a:xfrm>
          <a:prstGeom prst="rect">
            <a:avLst/>
          </a:prstGeom>
          <a:noFill/>
        </p:spPr>
        <p:txBody>
          <a:bodyPr vert="horz" wrap="square" lIns="0" tIns="0" rIns="0" bIns="0" rtlCol="0">
            <a:noAutofit/>
          </a:bodyPr>
          <a:lstStyle/>
          <a:p>
            <a:r>
              <a:rPr lang="it-IT" sz="920" b="1">
                <a:solidFill>
                  <a:srgbClr val="0F3046"/>
                </a:solidFill>
                <a:latin typeface="Arial" panose="020B0604020202020204" pitchFamily="34" charset="0"/>
              </a:rPr>
              <a:t>Areen bi amoul mbër bu la mën a sonale.</a:t>
            </a:r>
            <a:endParaRPr lang="fr-FR" sz="920" b="1">
              <a:solidFill>
                <a:srgbClr val="0F3046"/>
              </a:solidFill>
              <a:latin typeface="Arial" panose="020B0604020202020204" pitchFamily="34" charset="0"/>
            </a:endParaRPr>
          </a:p>
        </p:txBody>
      </p:sp>
      <p:sp>
        <p:nvSpPr>
          <p:cNvPr id="16" name="Rectangle 15">
            <a:extLst>
              <a:ext uri="{FF2B5EF4-FFF2-40B4-BE49-F238E27FC236}">
                <a16:creationId xmlns:a16="http://schemas.microsoft.com/office/drawing/2014/main" id="{30EFB82F-A581-FA14-DD72-B306B9FDA3D5}"/>
              </a:ext>
            </a:extLst>
          </p:cNvPr>
          <p:cNvSpPr/>
          <p:nvPr/>
        </p:nvSpPr>
        <p:spPr>
          <a:xfrm>
            <a:off x="546100" y="2895600"/>
            <a:ext cx="8051800" cy="1422400"/>
          </a:xfrm>
          <a:prstGeom prst="rect">
            <a:avLst/>
          </a:prstGeom>
          <a:solidFill>
            <a:srgbClr val="FFFFFF"/>
          </a:solidFill>
          <a:ln w="10160">
            <a:solidFill>
              <a:srgbClr val="C4CA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CBCE2659-103E-A9D3-B19B-BDD7BF2356D2}"/>
              </a:ext>
            </a:extLst>
          </p:cNvPr>
          <p:cNvSpPr/>
          <p:nvPr/>
        </p:nvSpPr>
        <p:spPr>
          <a:xfrm>
            <a:off x="546100" y="2895600"/>
            <a:ext cx="50800" cy="1422400"/>
          </a:xfrm>
          <a:prstGeom prst="rect">
            <a:avLst/>
          </a:prstGeom>
          <a:solidFill>
            <a:srgbClr val="976F1D"/>
          </a:solidFill>
          <a:ln w="0">
            <a:solidFill>
              <a:srgbClr val="976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2997A531-7815-E141-2E09-9A19838552EB}"/>
              </a:ext>
            </a:extLst>
          </p:cNvPr>
          <p:cNvSpPr txBox="1"/>
          <p:nvPr/>
        </p:nvSpPr>
        <p:spPr>
          <a:xfrm>
            <a:off x="723900" y="3022600"/>
            <a:ext cx="7556500" cy="215444"/>
          </a:xfrm>
          <a:prstGeom prst="rect">
            <a:avLst/>
          </a:prstGeom>
          <a:noFill/>
        </p:spPr>
        <p:txBody>
          <a:bodyPr vert="horz" wrap="square" lIns="0" tIns="0" rIns="0" bIns="0" rtlCol="0">
            <a:noAutofit/>
          </a:bodyPr>
          <a:lstStyle/>
          <a:p>
            <a:r>
              <a:rPr lang="en-US" sz="880" b="1">
                <a:solidFill>
                  <a:srgbClr val="0F3046"/>
                </a:solidFill>
                <a:latin typeface="Arial" panose="020B0604020202020204" pitchFamily="34" charset="0"/>
              </a:rPr>
              <a:t>EXAMPLE B · mapping plus four non-overlapping contextual edits</a:t>
            </a:r>
            <a:endParaRPr lang="fr-FR" sz="880" b="1">
              <a:solidFill>
                <a:srgbClr val="0F3046"/>
              </a:solidFill>
              <a:latin typeface="Arial" panose="020B0604020202020204" pitchFamily="34" charset="0"/>
            </a:endParaRPr>
          </a:p>
        </p:txBody>
      </p:sp>
      <p:sp>
        <p:nvSpPr>
          <p:cNvPr id="19" name="ZoneTexte 18">
            <a:extLst>
              <a:ext uri="{FF2B5EF4-FFF2-40B4-BE49-F238E27FC236}">
                <a16:creationId xmlns:a16="http://schemas.microsoft.com/office/drawing/2014/main" id="{ADB0B375-CABC-3799-9296-316A6C7227BC}"/>
              </a:ext>
            </a:extLst>
          </p:cNvPr>
          <p:cNvSpPr txBox="1"/>
          <p:nvPr/>
        </p:nvSpPr>
        <p:spPr>
          <a:xfrm>
            <a:off x="723900" y="33020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Formal</a:t>
            </a:r>
          </a:p>
        </p:txBody>
      </p:sp>
      <p:sp>
        <p:nvSpPr>
          <p:cNvPr id="20" name="ZoneTexte 19">
            <a:extLst>
              <a:ext uri="{FF2B5EF4-FFF2-40B4-BE49-F238E27FC236}">
                <a16:creationId xmlns:a16="http://schemas.microsoft.com/office/drawing/2014/main" id="{A968C51C-0C9D-F407-3101-62BD4EF72664}"/>
              </a:ext>
            </a:extLst>
          </p:cNvPr>
          <p:cNvSpPr txBox="1"/>
          <p:nvPr/>
        </p:nvSpPr>
        <p:spPr>
          <a:xfrm>
            <a:off x="1473200" y="3263900"/>
            <a:ext cx="6807200" cy="215444"/>
          </a:xfrm>
          <a:prstGeom prst="rect">
            <a:avLst/>
          </a:prstGeom>
          <a:noFill/>
        </p:spPr>
        <p:txBody>
          <a:bodyPr vert="horz" wrap="square" lIns="0" tIns="0" rIns="0" bIns="0" rtlCol="0">
            <a:noAutofit/>
          </a:bodyPr>
          <a:lstStyle/>
          <a:p>
            <a:r>
              <a:rPr lang="fr-FR" sz="810">
                <a:solidFill>
                  <a:srgbClr val="1F242E"/>
                </a:solidFill>
                <a:latin typeface="Arial" panose="020B0604020202020204" pitchFamily="34" charset="0"/>
              </a:rPr>
              <a:t>Dina nu kontaan lool ci joxe dénkaane yu lalu ci xam-xam wax la ba ñaata nga mëna leb te dula sonal.</a:t>
            </a:r>
          </a:p>
        </p:txBody>
      </p:sp>
      <p:sp>
        <p:nvSpPr>
          <p:cNvPr id="21" name="ZoneTexte 20">
            <a:extLst>
              <a:ext uri="{FF2B5EF4-FFF2-40B4-BE49-F238E27FC236}">
                <a16:creationId xmlns:a16="http://schemas.microsoft.com/office/drawing/2014/main" id="{7FADE31B-781B-E443-8012-5E9D9D6B0364}"/>
              </a:ext>
            </a:extLst>
          </p:cNvPr>
          <p:cNvSpPr txBox="1"/>
          <p:nvPr/>
        </p:nvSpPr>
        <p:spPr>
          <a:xfrm>
            <a:off x="723900" y="36703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Edits</a:t>
            </a:r>
          </a:p>
        </p:txBody>
      </p:sp>
      <p:sp>
        <p:nvSpPr>
          <p:cNvPr id="22" name="ZoneTexte 21">
            <a:extLst>
              <a:ext uri="{FF2B5EF4-FFF2-40B4-BE49-F238E27FC236}">
                <a16:creationId xmlns:a16="http://schemas.microsoft.com/office/drawing/2014/main" id="{3B6F5742-A2E0-C5AF-E63F-0407AD4307DF}"/>
              </a:ext>
            </a:extLst>
          </p:cNvPr>
          <p:cNvSpPr txBox="1"/>
          <p:nvPr/>
        </p:nvSpPr>
        <p:spPr>
          <a:xfrm>
            <a:off x="1473200" y="3632200"/>
            <a:ext cx="6807200" cy="215444"/>
          </a:xfrm>
          <a:prstGeom prst="rect">
            <a:avLst/>
          </a:prstGeom>
          <a:noFill/>
        </p:spPr>
        <p:txBody>
          <a:bodyPr vert="horz" wrap="square" lIns="0" tIns="0" rIns="0" bIns="0" rtlCol="0">
            <a:noAutofit/>
          </a:bodyPr>
          <a:lstStyle/>
          <a:p>
            <a:r>
              <a:rPr lang="fr-FR" sz="780">
                <a:solidFill>
                  <a:srgbClr val="976F1D"/>
                </a:solidFill>
                <a:latin typeface="Arial" panose="020B0604020202020204" pitchFamily="34" charset="0"/>
              </a:rPr>
              <a:t>mëna→meuna [map] · dénkaane→dénkane · xam-xam→xam-xame · wax→wakh · nga→ngua [templates]</a:t>
            </a:r>
          </a:p>
        </p:txBody>
      </p:sp>
      <p:sp>
        <p:nvSpPr>
          <p:cNvPr id="23" name="ZoneTexte 22">
            <a:extLst>
              <a:ext uri="{FF2B5EF4-FFF2-40B4-BE49-F238E27FC236}">
                <a16:creationId xmlns:a16="http://schemas.microsoft.com/office/drawing/2014/main" id="{05CCACA6-E8E9-0E9D-E682-A7BEDD67928E}"/>
              </a:ext>
            </a:extLst>
          </p:cNvPr>
          <p:cNvSpPr txBox="1"/>
          <p:nvPr/>
        </p:nvSpPr>
        <p:spPr>
          <a:xfrm>
            <a:off x="723900" y="4000500"/>
            <a:ext cx="698500" cy="215444"/>
          </a:xfrm>
          <a:prstGeom prst="rect">
            <a:avLst/>
          </a:prstGeom>
          <a:noFill/>
        </p:spPr>
        <p:txBody>
          <a:bodyPr vert="horz" wrap="square" lIns="0" tIns="0" rIns="0" bIns="0" rtlCol="0">
            <a:noAutofit/>
          </a:bodyPr>
          <a:lstStyle/>
          <a:p>
            <a:r>
              <a:rPr lang="fr-FR" sz="740" b="1">
                <a:solidFill>
                  <a:srgbClr val="646C7B"/>
                </a:solidFill>
                <a:latin typeface="Arial" panose="020B0604020202020204" pitchFamily="34" charset="0"/>
              </a:rPr>
              <a:t>Output</a:t>
            </a:r>
          </a:p>
        </p:txBody>
      </p:sp>
      <p:sp>
        <p:nvSpPr>
          <p:cNvPr id="24" name="ZoneTexte 23">
            <a:extLst>
              <a:ext uri="{FF2B5EF4-FFF2-40B4-BE49-F238E27FC236}">
                <a16:creationId xmlns:a16="http://schemas.microsoft.com/office/drawing/2014/main" id="{BCBDB60C-DE8A-5B47-B294-8494B508B9AA}"/>
              </a:ext>
            </a:extLst>
          </p:cNvPr>
          <p:cNvSpPr txBox="1"/>
          <p:nvPr/>
        </p:nvSpPr>
        <p:spPr>
          <a:xfrm>
            <a:off x="1473200" y="3962400"/>
            <a:ext cx="6807200" cy="215444"/>
          </a:xfrm>
          <a:prstGeom prst="rect">
            <a:avLst/>
          </a:prstGeom>
          <a:noFill/>
        </p:spPr>
        <p:txBody>
          <a:bodyPr vert="horz" wrap="square" lIns="0" tIns="0" rIns="0" bIns="0" rtlCol="0">
            <a:noAutofit/>
          </a:bodyPr>
          <a:lstStyle/>
          <a:p>
            <a:r>
              <a:rPr lang="fr-FR" sz="810" b="1">
                <a:solidFill>
                  <a:srgbClr val="0F3046"/>
                </a:solidFill>
                <a:latin typeface="Arial" panose="020B0604020202020204" pitchFamily="34" charset="0"/>
              </a:rPr>
              <a:t>Dina nu kontaan lool ci joxe dénkane yu lalu ci xam-xame wakh la ba ñaata ngua meuna leb te dula sonal.</a:t>
            </a:r>
          </a:p>
        </p:txBody>
      </p:sp>
      <p:sp>
        <p:nvSpPr>
          <p:cNvPr id="25" name="Rectangle 24">
            <a:extLst>
              <a:ext uri="{FF2B5EF4-FFF2-40B4-BE49-F238E27FC236}">
                <a16:creationId xmlns:a16="http://schemas.microsoft.com/office/drawing/2014/main" id="{2A762554-3EA9-7E07-EE6C-75E346A81B3D}"/>
              </a:ext>
            </a:extLst>
          </p:cNvPr>
          <p:cNvSpPr/>
          <p:nvPr/>
        </p:nvSpPr>
        <p:spPr>
          <a:xfrm>
            <a:off x="0" y="0"/>
            <a:ext cx="2794000" cy="698500"/>
          </a:xfrm>
          <a:prstGeom prst="rect">
            <a:avLst/>
          </a:prstGeom>
          <a:solidFill>
            <a:srgbClr val="FFFFFF"/>
          </a:solidFill>
          <a:ln w="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00317E25-5D47-CC83-E468-C00D4B8A0AFF}"/>
              </a:ext>
            </a:extLst>
          </p:cNvPr>
          <p:cNvSpPr/>
          <p:nvPr/>
        </p:nvSpPr>
        <p:spPr>
          <a:xfrm>
            <a:off x="546100" y="317500"/>
            <a:ext cx="939800" cy="279400"/>
          </a:xfrm>
          <a:prstGeom prst="roundRect">
            <a:avLst/>
          </a:prstGeom>
          <a:solidFill>
            <a:srgbClr val="EF1D65"/>
          </a:solidFill>
          <a:ln w="0">
            <a:solidFill>
              <a:srgbClr val="EF1D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D9CF9732-573E-0109-14B4-445C4EB6EFF1}"/>
              </a:ext>
            </a:extLst>
          </p:cNvPr>
          <p:cNvSpPr txBox="1"/>
          <p:nvPr/>
        </p:nvSpPr>
        <p:spPr>
          <a:xfrm>
            <a:off x="546100" y="381000"/>
            <a:ext cx="939800" cy="215444"/>
          </a:xfrm>
          <a:prstGeom prst="rect">
            <a:avLst/>
          </a:prstGeom>
          <a:noFill/>
        </p:spPr>
        <p:txBody>
          <a:bodyPr vert="horz" wrap="square" lIns="0" tIns="0" rIns="0" bIns="0" rtlCol="0">
            <a:noAutofit/>
          </a:bodyPr>
          <a:lstStyle/>
          <a:p>
            <a:pPr algn="ctr"/>
            <a:r>
              <a:rPr lang="fr-FR" sz="750" b="1">
                <a:solidFill>
                  <a:srgbClr val="FFFFFF"/>
                </a:solidFill>
                <a:latin typeface="Arial" panose="020B0604020202020204" pitchFamily="34" charset="0"/>
              </a:rPr>
              <a:t>Backup</a:t>
            </a:r>
          </a:p>
        </p:txBody>
      </p:sp>
      <p:sp>
        <p:nvSpPr>
          <p:cNvPr id="28" name="ZoneTexte 27">
            <a:extLst>
              <a:ext uri="{FF2B5EF4-FFF2-40B4-BE49-F238E27FC236}">
                <a16:creationId xmlns:a16="http://schemas.microsoft.com/office/drawing/2014/main" id="{E0C507E2-BB11-8114-425F-013D6E25CB14}"/>
              </a:ext>
            </a:extLst>
          </p:cNvPr>
          <p:cNvSpPr txBox="1"/>
          <p:nvPr/>
        </p:nvSpPr>
        <p:spPr>
          <a:xfrm>
            <a:off x="546100" y="4851400"/>
            <a:ext cx="3302000" cy="215444"/>
          </a:xfrm>
          <a:prstGeom prst="rect">
            <a:avLst/>
          </a:prstGeom>
          <a:noFill/>
        </p:spPr>
        <p:txBody>
          <a:bodyPr vert="horz" wrap="square" lIns="0" tIns="0" rIns="0" bIns="0" rtlCol="0">
            <a:noAutofit/>
          </a:bodyPr>
          <a:lstStyle/>
          <a:p>
            <a:r>
              <a:rPr lang="fr-FR" sz="690" b="1">
                <a:solidFill>
                  <a:srgbClr val="976F1D"/>
                </a:solidFill>
                <a:latin typeface="Arial" panose="020B0604020202020204" pitchFamily="34" charset="0"/>
              </a:rPr>
              <a:t>Ibrahima THIOYE  —  PFE PGE5  —  2026</a:t>
            </a:r>
          </a:p>
        </p:txBody>
      </p:sp>
      <p:sp>
        <p:nvSpPr>
          <p:cNvPr id="29" name="ZoneTexte 28">
            <a:extLst>
              <a:ext uri="{FF2B5EF4-FFF2-40B4-BE49-F238E27FC236}">
                <a16:creationId xmlns:a16="http://schemas.microsoft.com/office/drawing/2014/main" id="{2D0A36FB-A75B-52CF-0FA4-0B8568AFB159}"/>
              </a:ext>
            </a:extLst>
          </p:cNvPr>
          <p:cNvSpPr txBox="1"/>
          <p:nvPr/>
        </p:nvSpPr>
        <p:spPr>
          <a:xfrm>
            <a:off x="4102100" y="4851400"/>
            <a:ext cx="2603500" cy="215444"/>
          </a:xfrm>
          <a:prstGeom prst="rect">
            <a:avLst/>
          </a:prstGeom>
          <a:noFill/>
        </p:spPr>
        <p:txBody>
          <a:bodyPr vert="horz" wrap="square" lIns="0" tIns="0" rIns="0" bIns="0" rtlCol="0">
            <a:noAutofit/>
          </a:bodyPr>
          <a:lstStyle/>
          <a:p>
            <a:pPr algn="ctr"/>
            <a:r>
              <a:rPr lang="fr-FR" sz="690">
                <a:solidFill>
                  <a:srgbClr val="646C7B"/>
                </a:solidFill>
                <a:latin typeface="Arial" panose="020B0604020202020204" pitchFamily="34" charset="0"/>
              </a:rPr>
              <a:t>M6 sentence traces</a:t>
            </a:r>
          </a:p>
        </p:txBody>
      </p:sp>
      <p:sp>
        <p:nvSpPr>
          <p:cNvPr id="30" name="ZoneTexte 29">
            <a:extLst>
              <a:ext uri="{FF2B5EF4-FFF2-40B4-BE49-F238E27FC236}">
                <a16:creationId xmlns:a16="http://schemas.microsoft.com/office/drawing/2014/main" id="{08E1C855-2076-2282-B0E7-0A2EE75574B6}"/>
              </a:ext>
            </a:extLst>
          </p:cNvPr>
          <p:cNvSpPr txBox="1"/>
          <p:nvPr/>
        </p:nvSpPr>
        <p:spPr>
          <a:xfrm>
            <a:off x="6794500" y="4838700"/>
            <a:ext cx="609600" cy="215444"/>
          </a:xfrm>
          <a:prstGeom prst="rect">
            <a:avLst/>
          </a:prstGeom>
          <a:noFill/>
        </p:spPr>
        <p:txBody>
          <a:bodyPr vert="horz" wrap="square" lIns="0" tIns="0" rIns="0" bIns="0" rtlCol="0">
            <a:noAutofit/>
          </a:bodyPr>
          <a:lstStyle/>
          <a:p>
            <a:pPr algn="ctr"/>
            <a:r>
              <a:rPr lang="fr-FR" sz="730">
                <a:solidFill>
                  <a:srgbClr val="57658D"/>
                </a:solidFill>
                <a:latin typeface="Arial" panose="020B0604020202020204" pitchFamily="34" charset="0"/>
              </a:rPr>
              <a:t>36 / 36</a:t>
            </a:r>
          </a:p>
        </p:txBody>
      </p:sp>
      <p:pic>
        <p:nvPicPr>
          <p:cNvPr id="32" name="Image 31">
            <a:extLst>
              <a:ext uri="{FF2B5EF4-FFF2-40B4-BE49-F238E27FC236}">
                <a16:creationId xmlns:a16="http://schemas.microsoft.com/office/drawing/2014/main" id="{2965CEF0-1872-0990-B41D-79715FB184D3}"/>
              </a:ext>
            </a:extLst>
          </p:cNvPr>
          <p:cNvPicPr>
            <a:picLocks/>
          </p:cNvPicPr>
          <p:nvPr/>
        </p:nvPicPr>
        <p:blipFill>
          <a:blip r:embed="rId3"/>
          <a:stretch>
            <a:fillRect/>
          </a:stretch>
        </p:blipFill>
        <p:spPr>
          <a:xfrm>
            <a:off x="7645400" y="4584700"/>
            <a:ext cx="1333500" cy="533400"/>
          </a:xfrm>
          <a:prstGeom prst="rect">
            <a:avLst/>
          </a:prstGeom>
        </p:spPr>
      </p:pic>
    </p:spTree>
    <p:extLst>
      <p:ext uri="{BB962C8B-B14F-4D97-AF65-F5344CB8AC3E}">
        <p14:creationId xmlns:p14="http://schemas.microsoft.com/office/powerpoint/2010/main" val="165189975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2F53A56B5CE34D8FE722A057F39282" ma:contentTypeVersion="10" ma:contentTypeDescription="Crée un document." ma:contentTypeScope="" ma:versionID="b6d5cd0133f2f4ca8cf6dc007f91046c">
  <xsd:schema xmlns:xsd="http://www.w3.org/2001/XMLSchema" xmlns:xs="http://www.w3.org/2001/XMLSchema" xmlns:p="http://schemas.microsoft.com/office/2006/metadata/properties" xmlns:ns2="8331f2a9-3d78-4ed7-90dc-ef191c2dd8da" targetNamespace="http://schemas.microsoft.com/office/2006/metadata/properties" ma:root="true" ma:fieldsID="7ac0b43c4914e9480c755e58291651b3" ns2:_="">
    <xsd:import namespace="8331f2a9-3d78-4ed7-90dc-ef191c2dd8d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31f2a9-3d78-4ed7-90dc-ef191c2dd8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813754-8597-48F1-85B5-8B2D3A8B5E1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DEE4604-7B5E-4633-B808-5BE2512D4B9B}">
  <ds:schemaRefs>
    <ds:schemaRef ds:uri="http://schemas.microsoft.com/sharepoint/v3/contenttype/forms"/>
  </ds:schemaRefs>
</ds:datastoreItem>
</file>

<file path=customXml/itemProps3.xml><?xml version="1.0" encoding="utf-8"?>
<ds:datastoreItem xmlns:ds="http://schemas.openxmlformats.org/officeDocument/2006/customXml" ds:itemID="{EA00DA6D-A6C5-411C-B31B-4CC4AD4494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31f2a9-3d78-4ed7-90dc-ef191c2dd8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2667</TotalTime>
  <Words>9032</Words>
  <Application>Microsoft Office PowerPoint</Application>
  <PresentationFormat>Affichage à l'écran (16:9)</PresentationFormat>
  <Paragraphs>811</Paragraphs>
  <Slides>36</Slides>
  <Notes>36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36</vt:i4>
      </vt:variant>
    </vt:vector>
  </HeadingPairs>
  <TitlesOfParts>
    <vt:vector size="40" baseType="lpstr">
      <vt:lpstr>Arial</vt:lpstr>
      <vt:lpstr>Georgia</vt:lpstr>
      <vt:lpstr>Verdana</vt:lpstr>
      <vt:lpstr>Simple Light</vt:lpstr>
      <vt:lpstr>Synthetic Data Generation for Robust
Informal Wolof Normalization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présentation</dc:title>
  <dc:creator>Alex Kane</dc:creator>
  <cp:lastModifiedBy>Ibrahima THIOYE</cp:lastModifiedBy>
  <cp:revision>40</cp:revision>
  <dcterms:modified xsi:type="dcterms:W3CDTF">2026-09-24T13:07:18Z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0x010100DA2F53A56B5CE34D8FE722A057F39282</vt:lpwstr>
  </property>
</Properties>
</file>